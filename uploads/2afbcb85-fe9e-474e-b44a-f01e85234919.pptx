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49" r:id="rId1"/>
  </p:sldMasterIdLst>
  <p:notesMasterIdLst>
    <p:notesMasterId r:id="rId23"/>
  </p:notesMasterIdLst>
  <p:sldIdLst>
    <p:sldId id="256" r:id="rId2"/>
    <p:sldId id="308" r:id="rId3"/>
    <p:sldId id="283" r:id="rId4"/>
    <p:sldId id="309" r:id="rId5"/>
    <p:sldId id="325" r:id="rId6"/>
    <p:sldId id="310" r:id="rId7"/>
    <p:sldId id="323" r:id="rId8"/>
    <p:sldId id="311" r:id="rId9"/>
    <p:sldId id="312" r:id="rId10"/>
    <p:sldId id="326" r:id="rId11"/>
    <p:sldId id="327" r:id="rId12"/>
    <p:sldId id="313" r:id="rId13"/>
    <p:sldId id="328" r:id="rId14"/>
    <p:sldId id="329" r:id="rId15"/>
    <p:sldId id="292" r:id="rId16"/>
    <p:sldId id="322" r:id="rId17"/>
    <p:sldId id="287" r:id="rId18"/>
    <p:sldId id="288" r:id="rId19"/>
    <p:sldId id="300" r:id="rId20"/>
    <p:sldId id="307" r:id="rId21"/>
    <p:sldId id="305" r:id="rId22"/>
  </p:sldIdLst>
  <p:sldSz cx="6858000" cy="5143500"/>
  <p:notesSz cx="6858000" cy="9144000"/>
  <p:embeddedFontLst>
    <p:embeddedFont>
      <p:font typeface="Vladimir Script" panose="03050402040407070305" pitchFamily="66" charset="0"/>
      <p:regular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2186874-3C37-4613-8E6E-F0D6AFD9D779}" v="165" dt="2025-12-15T14:26:43.804"/>
  </p1510:revLst>
</p1510:revInfo>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5" autoAdjust="0"/>
    <p:restoredTop sz="94660"/>
  </p:normalViewPr>
  <p:slideViewPr>
    <p:cSldViewPr snapToGrid="0">
      <p:cViewPr varScale="1">
        <p:scale>
          <a:sx n="134" d="100"/>
          <a:sy n="134" d="100"/>
        </p:scale>
        <p:origin x="1836" y="126"/>
      </p:cViewPr>
      <p:guideLst>
        <p:guide orient="horz" pos="162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51"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3"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48"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00AA9E-45AA-4AC2-8AA2-7DA856E9A7A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86550A3-8119-6875-5A21-C5D3DA1F866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C1F8D45D-F0E2-4C9E-7AD4-3CC086F6FFE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1828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89BB20D-1518-9F15-1CCE-CE578D87076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B2C4164-46C2-3D2D-CC97-C7EB21B410E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45A4AC1-BC45-B230-13DC-073DE8430FC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8590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AE3C6B5E-FCDB-9EF8-CC17-386914C32A7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9253D92-9448-ACDA-7653-E48E9D40B73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0C9986F-9DA2-F02D-1CFE-06C0DD4719A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79874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74386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73708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841772"/>
            <a:ext cx="58293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2701528"/>
            <a:ext cx="51435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54068718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98428362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1282305"/>
            <a:ext cx="5915025"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3442099"/>
            <a:ext cx="5915025" cy="1125140"/>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7316172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1369219"/>
            <a:ext cx="291465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1369219"/>
            <a:ext cx="291465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A7B67A6-AB89-4176-B42A-5A339055BC27}"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40995391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273845"/>
            <a:ext cx="5915025"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1260872"/>
            <a:ext cx="2901255"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1878806"/>
            <a:ext cx="2901255"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1260872"/>
            <a:ext cx="2915543"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1878806"/>
            <a:ext cx="2915543"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A7B67A6-AB89-4176-B42A-5A339055BC27}" type="datetimeFigureOut">
              <a:rPr lang="en-US" smtClean="0"/>
              <a:t>2/14/2026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366698563"/>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A7B67A6-AB89-4176-B42A-5A339055BC27}" type="datetimeFigureOut">
              <a:rPr lang="en-US" smtClean="0"/>
              <a:t>2/14/2026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664160986"/>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7B67A6-AB89-4176-B42A-5A339055BC27}" type="datetimeFigureOut">
              <a:rPr lang="en-US" smtClean="0"/>
              <a:t>2/14/2026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1132964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740570"/>
            <a:ext cx="3471863"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A7B67A6-AB89-4176-B42A-5A339055BC27}"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196006571"/>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342900"/>
            <a:ext cx="2211884"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740570"/>
            <a:ext cx="3471863"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1543050"/>
            <a:ext cx="2211884"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FA7B67A6-AB89-4176-B42A-5A339055BC27}" type="datetimeFigureOut">
              <a:rPr lang="en-US" smtClean="0"/>
              <a:t>2/14/2026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1634885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202997103"/>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273844"/>
            <a:ext cx="1478756"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273844"/>
            <a:ext cx="4350544"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7B67A6-AB89-4176-B42A-5A339055BC27}" type="datetimeFigureOut">
              <a:rPr lang="en-US" smtClean="0"/>
              <a:t>2/14/2026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79501186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23180" y="22034"/>
            <a:ext cx="489233" cy="1048954"/>
          </a:xfrm>
          <a:prstGeom prst="rect">
            <a:avLst/>
          </a:prstGeom>
        </p:spPr>
      </p:pic>
      <p:sp>
        <p:nvSpPr>
          <p:cNvPr id="4" name="Text Placeholder 3">
            <a:extLst>
              <a:ext uri="{FF2B5EF4-FFF2-40B4-BE49-F238E27FC236}">
                <a16:creationId xmlns:a16="http://schemas.microsoft.com/office/drawing/2014/main" id="{0E950913-C93A-1C70-E5AF-C3A406E963F0}"/>
              </a:ext>
            </a:extLst>
          </p:cNvPr>
          <p:cNvSpPr>
            <a:spLocks noGrp="1"/>
          </p:cNvSpPr>
          <p:nvPr>
            <p:ph type="body" sz="quarter" idx="10"/>
          </p:nvPr>
        </p:nvSpPr>
        <p:spPr>
          <a:xfrm>
            <a:off x="677466" y="335521"/>
            <a:ext cx="5429250" cy="685800"/>
          </a:xfrm>
        </p:spPr>
        <p:txBody>
          <a:bodyPr/>
          <a:lstStyle>
            <a:lvl1pPr>
              <a:buNone/>
              <a:defRPr sz="2400">
                <a:solidFill>
                  <a:schemeClr val="tx1"/>
                </a:solidFill>
              </a:defRPr>
            </a:lvl1pPr>
          </a:lstStyle>
          <a:p>
            <a:pPr lvl="0"/>
            <a:r>
              <a:rPr lang="en-US" dirty="0"/>
              <a:t>Click to edit Master text styles</a:t>
            </a:r>
          </a:p>
        </p:txBody>
      </p:sp>
      <p:sp>
        <p:nvSpPr>
          <p:cNvPr id="6" name="Text Placeholder 5">
            <a:extLst>
              <a:ext uri="{FF2B5EF4-FFF2-40B4-BE49-F238E27FC236}">
                <a16:creationId xmlns:a16="http://schemas.microsoft.com/office/drawing/2014/main" id="{E602F07A-366A-9ED8-5F53-3E63225FEECF}"/>
              </a:ext>
            </a:extLst>
          </p:cNvPr>
          <p:cNvSpPr>
            <a:spLocks noGrp="1"/>
          </p:cNvSpPr>
          <p:nvPr>
            <p:ph type="body" sz="quarter" idx="11"/>
          </p:nvPr>
        </p:nvSpPr>
        <p:spPr>
          <a:xfrm>
            <a:off x="677467" y="1557338"/>
            <a:ext cx="2882162" cy="2286000"/>
          </a:xfrm>
        </p:spPr>
        <p:txBody>
          <a:bodyPr/>
          <a:lstStyle>
            <a:lvl1pPr>
              <a:defRPr sz="1050">
                <a:solidFill>
                  <a:schemeClr val="tx1"/>
                </a:solidFill>
              </a:defRPr>
            </a:lvl1pPr>
          </a:lstStyle>
          <a:p>
            <a:pPr lvl="0"/>
            <a:r>
              <a:rPr lang="en-US" dirty="0"/>
              <a:t>Click to edit Master text styles</a:t>
            </a:r>
          </a:p>
        </p:txBody>
      </p:sp>
      <p:sp>
        <p:nvSpPr>
          <p:cNvPr id="8" name="Picture Placeholder 7">
            <a:extLst>
              <a:ext uri="{FF2B5EF4-FFF2-40B4-BE49-F238E27FC236}">
                <a16:creationId xmlns:a16="http://schemas.microsoft.com/office/drawing/2014/main" id="{C9F03728-5998-E64B-10FD-60D85009370D}"/>
              </a:ext>
            </a:extLst>
          </p:cNvPr>
          <p:cNvSpPr>
            <a:spLocks noGrp="1"/>
          </p:cNvSpPr>
          <p:nvPr>
            <p:ph type="pic" sz="quarter" idx="12"/>
          </p:nvPr>
        </p:nvSpPr>
        <p:spPr>
          <a:xfrm>
            <a:off x="4261247" y="1557338"/>
            <a:ext cx="2433638" cy="2590800"/>
          </a:xfrm>
        </p:spPr>
        <p:txBody>
          <a:bodyPr/>
          <a:lstStyle/>
          <a:p>
            <a:endParaRPr lang="en-US"/>
          </a:p>
        </p:txBody>
      </p:sp>
      <p:sp>
        <p:nvSpPr>
          <p:cNvPr id="10" name="Text Placeholder 9">
            <a:extLst>
              <a:ext uri="{FF2B5EF4-FFF2-40B4-BE49-F238E27FC236}">
                <a16:creationId xmlns:a16="http://schemas.microsoft.com/office/drawing/2014/main" id="{7336B1AD-2445-9EF4-3525-AF309F3302FE}"/>
              </a:ext>
            </a:extLst>
          </p:cNvPr>
          <p:cNvSpPr>
            <a:spLocks noGrp="1"/>
          </p:cNvSpPr>
          <p:nvPr>
            <p:ph type="body" sz="quarter" idx="13"/>
          </p:nvPr>
        </p:nvSpPr>
        <p:spPr>
          <a:xfrm>
            <a:off x="4326731" y="4343400"/>
            <a:ext cx="2368154" cy="469900"/>
          </a:xfrm>
        </p:spPr>
        <p:txBody>
          <a:bodyPr/>
          <a:lstStyle/>
          <a:p>
            <a:pPr lvl="0"/>
            <a:r>
              <a:rPr lang="en-US" dirty="0"/>
              <a:t>Click to edit Master text styles</a:t>
            </a:r>
          </a:p>
          <a:p>
            <a:pPr lvl="4"/>
            <a:r>
              <a:rPr lang="en-US" dirty="0"/>
              <a:t>Second level</a:t>
            </a:r>
          </a:p>
          <a:p>
            <a:pPr lvl="5"/>
            <a:r>
              <a:rPr lang="en-US" dirty="0"/>
              <a:t>Third level</a:t>
            </a:r>
          </a:p>
          <a:p>
            <a:pPr lvl="6"/>
            <a:r>
              <a:rPr lang="en-US" dirty="0"/>
              <a:t>Fourth level</a:t>
            </a:r>
          </a:p>
          <a:p>
            <a:pPr lvl="7"/>
            <a:r>
              <a:rPr lang="en-US" dirty="0"/>
              <a:t>Fifth level</a:t>
            </a:r>
          </a:p>
        </p:txBody>
      </p:sp>
    </p:spTree>
    <p:extLst>
      <p:ext uri="{BB962C8B-B14F-4D97-AF65-F5344CB8AC3E}">
        <p14:creationId xmlns:p14="http://schemas.microsoft.com/office/powerpoint/2010/main" val="341368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9"/>
        <p:cNvGrpSpPr/>
        <p:nvPr/>
      </p:nvGrpSpPr>
      <p:grpSpPr>
        <a:xfrm>
          <a:off x="0" y="0"/>
          <a:ext cx="0" cy="0"/>
          <a:chOff x="0" y="0"/>
          <a:chExt cx="0" cy="0"/>
        </a:xfrm>
      </p:grpSpPr>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23180" y="22034"/>
            <a:ext cx="489233" cy="1048954"/>
          </a:xfrm>
          <a:prstGeom prst="rect">
            <a:avLst/>
          </a:prstGeom>
        </p:spPr>
      </p:pic>
      <p:sp>
        <p:nvSpPr>
          <p:cNvPr id="4" name="Text Placeholder 3">
            <a:extLst>
              <a:ext uri="{FF2B5EF4-FFF2-40B4-BE49-F238E27FC236}">
                <a16:creationId xmlns:a16="http://schemas.microsoft.com/office/drawing/2014/main" id="{4BA13BD4-9A3C-4AF3-1874-CCFFFAA1ECCC}"/>
              </a:ext>
            </a:extLst>
          </p:cNvPr>
          <p:cNvSpPr>
            <a:spLocks noGrp="1"/>
          </p:cNvSpPr>
          <p:nvPr>
            <p:ph type="body" sz="quarter" idx="10"/>
          </p:nvPr>
        </p:nvSpPr>
        <p:spPr>
          <a:xfrm>
            <a:off x="663178" y="1428750"/>
            <a:ext cx="5870972" cy="2640013"/>
          </a:xfrm>
        </p:spPr>
        <p:txBody>
          <a:bodyPr/>
          <a:lstStyle>
            <a:lvl1pPr>
              <a:defRPr sz="15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5">
            <a:extLst>
              <a:ext uri="{FF2B5EF4-FFF2-40B4-BE49-F238E27FC236}">
                <a16:creationId xmlns:a16="http://schemas.microsoft.com/office/drawing/2014/main" id="{59209FEA-0916-1EDA-EB31-F2DE83AA9096}"/>
              </a:ext>
            </a:extLst>
          </p:cNvPr>
          <p:cNvSpPr>
            <a:spLocks noGrp="1"/>
          </p:cNvSpPr>
          <p:nvPr>
            <p:ph type="body" sz="quarter" idx="11"/>
          </p:nvPr>
        </p:nvSpPr>
        <p:spPr>
          <a:xfrm>
            <a:off x="663178" y="287339"/>
            <a:ext cx="5870972" cy="904875"/>
          </a:xfrm>
        </p:spPr>
        <p:txBody>
          <a:bodyPr/>
          <a:lstStyle>
            <a:lvl1pPr algn="ctr">
              <a:buNone/>
              <a:defRPr sz="2400" b="1"/>
            </a:lvl1pPr>
            <a:lvl2pPr>
              <a:buNone/>
              <a:defRPr/>
            </a:lvl2pPr>
          </a:lstStyle>
          <a:p>
            <a:pPr lvl="0"/>
            <a:r>
              <a:rPr lang="en-US" dirty="0"/>
              <a:t>Click to edit Master text styles</a:t>
            </a:r>
          </a:p>
        </p:txBody>
      </p:sp>
    </p:spTree>
    <p:extLst>
      <p:ext uri="{BB962C8B-B14F-4D97-AF65-F5344CB8AC3E}">
        <p14:creationId xmlns:p14="http://schemas.microsoft.com/office/powerpoint/2010/main" val="15228531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233775" y="445025"/>
            <a:ext cx="6390450" cy="572700"/>
          </a:xfrm>
          <a:prstGeom prst="rect">
            <a:avLst/>
          </a:prstGeom>
        </p:spPr>
        <p:txBody>
          <a:bodyPr/>
          <a:lstStyle/>
          <a:p>
            <a:r>
              <a:rPr lang="en-US"/>
              <a:t>Click to edit Master title style</a:t>
            </a:r>
            <a:endParaRPr lang="en-IN"/>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233775" y="445025"/>
            <a:ext cx="639045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498750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61DD4-6C8D-C0C6-BB50-842B2E62F1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5163B81-62E5-6275-6BE9-CF5DC63853B7}"/>
              </a:ext>
            </a:extLst>
          </p:cNvPr>
          <p:cNvSpPr>
            <a:spLocks noGrp="1"/>
          </p:cNvSpPr>
          <p:nvPr>
            <p:ph type="dt" sz="half" idx="10"/>
          </p:nvPr>
        </p:nvSpPr>
        <p:spPr/>
        <p:txBody>
          <a:bodyPr/>
          <a:lstStyle/>
          <a:p>
            <a:fld id="{FA7B67A6-AB89-4176-B42A-5A339055BC27}" type="datetimeFigureOut">
              <a:rPr lang="en-US" smtClean="0"/>
              <a:t>2/14/2026</a:t>
            </a:fld>
            <a:endParaRPr lang="en-US"/>
          </a:p>
        </p:txBody>
      </p:sp>
      <p:sp>
        <p:nvSpPr>
          <p:cNvPr id="4" name="Footer Placeholder 3">
            <a:extLst>
              <a:ext uri="{FF2B5EF4-FFF2-40B4-BE49-F238E27FC236}">
                <a16:creationId xmlns:a16="http://schemas.microsoft.com/office/drawing/2014/main" id="{349147D2-CFFF-1F50-8F41-BF143B0C71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26CD1F-01E2-6C5B-6C18-864DEF5CDE1B}"/>
              </a:ext>
            </a:extLst>
          </p:cNvPr>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3891461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FA7B67A6-AB89-4176-B42A-5A339055BC27}" type="datetimeFigureOut">
              <a:rPr lang="en-US" smtClean="0"/>
              <a:t>2/14/2026</a:t>
            </a:fld>
            <a:endParaRPr lang="en-US"/>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00000000-1234-1234-1234-123412341234}" type="slidenum">
              <a:rPr lang="en-US" smtClean="0"/>
              <a:pPr/>
              <a:t>‹#›</a:t>
            </a:fld>
            <a:endParaRPr lang="en-US"/>
          </a:p>
        </p:txBody>
      </p:sp>
    </p:spTree>
    <p:extLst>
      <p:ext uri="{BB962C8B-B14F-4D97-AF65-F5344CB8AC3E}">
        <p14:creationId xmlns:p14="http://schemas.microsoft.com/office/powerpoint/2010/main" val="731202063"/>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662" r:id="rId14"/>
    <p:sldLayoutId id="2147483663" r:id="rId15"/>
    <p:sldLayoutId id="2147483678" r:id="rId16"/>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hyperlink" Target="https://onlinecourses.nptel.ac.in/noc21_cs14/preview" TargetMode="Externa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hyperlink" Target="https://onlinecourses.nptel.ac.in/noc24_cs131/preview" TargetMode="External"/><Relationship Id="rId5" Type="http://schemas.openxmlformats.org/officeDocument/2006/relationships/hyperlink" Target="https://onlinecourses.nptel.ac.in/noc20_cs55/preview" TargetMode="External"/><Relationship Id="rId4" Type="http://schemas.openxmlformats.org/officeDocument/2006/relationships/hyperlink" Target="https://onlinecourses.nptel.ac.in/noc26_cs55/preview"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hyperlink" Target="https://aws.amazon.com/serverless/" TargetMode="External"/><Relationship Id="rId7" Type="http://schemas.openxmlformats.org/officeDocument/2006/relationships/hyperlink" Target="https://www.redhat.com/en/topics/cloud-native-apps/what-is-serverless"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hyperlink" Target="https://www.ibm.com/topics/serverless" TargetMode="External"/><Relationship Id="rId5" Type="http://schemas.openxmlformats.org/officeDocument/2006/relationships/hyperlink" Target="https://cloud.google.com/serverless" TargetMode="External"/><Relationship Id="rId4" Type="http://schemas.openxmlformats.org/officeDocument/2006/relationships/hyperlink" Target="https://learn.microsoft.com/en-us/azure/azure-functions/functions-overview"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49903" y="1556076"/>
            <a:ext cx="2087237" cy="2087237"/>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4929188" y="4304110"/>
            <a:ext cx="1543050" cy="205425"/>
          </a:xfrm>
          <a:prstGeom prst="rect">
            <a:avLst/>
          </a:prstGeom>
          <a:no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94" name="Google Shape;94;p1"/>
          <p:cNvSpPr/>
          <p:nvPr/>
        </p:nvSpPr>
        <p:spPr>
          <a:xfrm rot="10800000" flipH="1">
            <a:off x="5847479" y="3858610"/>
            <a:ext cx="726300" cy="650925"/>
          </a:xfrm>
          <a:prstGeom prst="rtTriangle">
            <a:avLst/>
          </a:prstGeom>
          <a:solidFill>
            <a:srgbClr val="F2F2F2">
              <a:alpha val="16078"/>
            </a:srgbClr>
          </a:solid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96" name="Google Shape;96;p1"/>
          <p:cNvSpPr/>
          <p:nvPr/>
        </p:nvSpPr>
        <p:spPr>
          <a:xfrm flipH="1">
            <a:off x="3963599" y="606326"/>
            <a:ext cx="2894400" cy="3292425"/>
          </a:xfrm>
          <a:prstGeom prst="rtTriangle">
            <a:avLst/>
          </a:prstGeom>
          <a:solidFill>
            <a:srgbClr val="F2F2F2">
              <a:alpha val="16078"/>
            </a:srgbClr>
          </a:solid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97" name="Google Shape;97;p1"/>
          <p:cNvSpPr/>
          <p:nvPr/>
        </p:nvSpPr>
        <p:spPr>
          <a:xfrm>
            <a:off x="1194792" y="1782296"/>
            <a:ext cx="3841650" cy="8892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68569" tIns="34275" rIns="68569" bIns="34275" anchor="ctr" anchorCtr="0">
            <a:noAutofit/>
          </a:bodyPr>
          <a:lstStyle/>
          <a:p>
            <a:pPr algn="ctr">
              <a:buClr>
                <a:schemeClr val="lt1"/>
              </a:buClr>
              <a:buSzPts val="1800"/>
            </a:pPr>
            <a:endParaRPr sz="1350">
              <a:solidFill>
                <a:schemeClr val="lt1"/>
              </a:solidFill>
              <a:latin typeface="Calibri"/>
              <a:ea typeface="Calibri"/>
              <a:cs typeface="Calibri"/>
              <a:sym typeface="Calibri"/>
            </a:endParaRPr>
          </a:p>
        </p:txBody>
      </p:sp>
      <p:sp>
        <p:nvSpPr>
          <p:cNvPr id="98" name="Google Shape;98;p1"/>
          <p:cNvSpPr/>
          <p:nvPr/>
        </p:nvSpPr>
        <p:spPr>
          <a:xfrm flipH="1">
            <a:off x="5520375" y="3589875"/>
            <a:ext cx="1331100" cy="900225"/>
          </a:xfrm>
          <a:prstGeom prst="rtTriangle">
            <a:avLst/>
          </a:prstGeom>
          <a:solidFill>
            <a:srgbClr val="C00000"/>
          </a:solidFill>
          <a:ln>
            <a:noFill/>
          </a:ln>
        </p:spPr>
        <p:txBody>
          <a:bodyPr spcFirstLastPara="1" wrap="square" lIns="68569" tIns="34275" rIns="68569" bIns="34275" anchor="ctr" anchorCtr="0">
            <a:noAutofit/>
          </a:bodyPr>
          <a:lstStyle/>
          <a:p>
            <a:pPr>
              <a:buClr>
                <a:srgbClr val="000000"/>
              </a:buClr>
              <a:buSzPts val="1800"/>
            </a:pPr>
            <a:endParaRPr sz="1350">
              <a:solidFill>
                <a:schemeClr val="dk1"/>
              </a:solidFill>
              <a:latin typeface="Arial"/>
              <a:ea typeface="Arial"/>
              <a:cs typeface="Arial"/>
              <a:sym typeface="Arial"/>
            </a:endParaRPr>
          </a:p>
        </p:txBody>
      </p:sp>
      <p:sp>
        <p:nvSpPr>
          <p:cNvPr id="102" name="Google Shape;102;p1"/>
          <p:cNvSpPr txBox="1"/>
          <p:nvPr/>
        </p:nvSpPr>
        <p:spPr>
          <a:xfrm>
            <a:off x="348975" y="559811"/>
            <a:ext cx="6160050" cy="3709190"/>
          </a:xfrm>
          <a:prstGeom prst="rect">
            <a:avLst/>
          </a:prstGeom>
          <a:noFill/>
          <a:ln>
            <a:noFill/>
          </a:ln>
        </p:spPr>
        <p:txBody>
          <a:bodyPr spcFirstLastPara="1" wrap="square" lIns="68569" tIns="34275" rIns="68569" bIns="34275" anchor="t" anchorCtr="0">
            <a:spAutoFit/>
          </a:bodyPr>
          <a:lstStyle/>
          <a:p>
            <a:pPr lvl="0" algn="ctr">
              <a:lnSpc>
                <a:spcPct val="90000"/>
              </a:lnSpc>
              <a:buClr>
                <a:schemeClr val="dk1"/>
              </a:buClr>
              <a:buSzPts val="3200"/>
            </a:pPr>
            <a:r>
              <a:rPr lang="en-US" sz="2400" b="1" dirty="0">
                <a:latin typeface="Calibri" panose="020F0502020204030204" pitchFamily="34" charset="0"/>
                <a:ea typeface="Calibri" panose="020F0502020204030204" pitchFamily="34" charset="0"/>
                <a:cs typeface="Calibri" panose="020F0502020204030204" pitchFamily="34" charset="0"/>
                <a:sym typeface="Arial Black"/>
              </a:rPr>
              <a:t>UNIVERSITY INSTITUTE OF ENGINEERING</a:t>
            </a:r>
            <a:endParaRPr lang="en-US" sz="788"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840"/>
              </a:spcBef>
              <a:buClr>
                <a:schemeClr val="dk1"/>
              </a:buClr>
              <a:buSzPts val="3200"/>
            </a:pPr>
            <a:r>
              <a:rPr lang="en-US" sz="2400" b="1" dirty="0">
                <a:latin typeface="Calibri" panose="020F0502020204030204" pitchFamily="34" charset="0"/>
                <a:ea typeface="Calibri" panose="020F0502020204030204" pitchFamily="34" charset="0"/>
                <a:cs typeface="Calibri" panose="020F0502020204030204" pitchFamily="34" charset="0"/>
                <a:sym typeface="Arial Black"/>
              </a:rPr>
              <a:t>DEPARTMENT OF COMPUTER SCIENCE AND ENGINEERING</a:t>
            </a:r>
            <a:endParaRPr lang="en-US" sz="788"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840"/>
              </a:spcBef>
              <a:buClr>
                <a:schemeClr val="dk1"/>
              </a:buClr>
              <a:buSzPts val="2800"/>
            </a:pPr>
            <a:r>
              <a:rPr lang="en-US" sz="1500" dirty="0">
                <a:latin typeface="Calibri" panose="020F0502020204030204" pitchFamily="34" charset="0"/>
                <a:ea typeface="Calibri" panose="020F0502020204030204" pitchFamily="34" charset="0"/>
                <a:cs typeface="Calibri" panose="020F0502020204030204" pitchFamily="34" charset="0"/>
                <a:sym typeface="Times New Roman"/>
              </a:rPr>
              <a:t>BTECH CSE – CS 201</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840"/>
              </a:spcBef>
              <a:buClr>
                <a:schemeClr val="dk1"/>
              </a:buClr>
              <a:buSzPts val="2800"/>
            </a:pPr>
            <a:r>
              <a:rPr lang="en-US" sz="1500" dirty="0">
                <a:latin typeface="Calibri" panose="020F0502020204030204" pitchFamily="34" charset="0"/>
                <a:ea typeface="Calibri" panose="020F0502020204030204" pitchFamily="34" charset="0"/>
                <a:cs typeface="Calibri" panose="020F0502020204030204" pitchFamily="34" charset="0"/>
                <a:sym typeface="Times New Roman"/>
              </a:rPr>
              <a:t>SEMESTER: 6TH</a:t>
            </a:r>
            <a:endParaRPr lang="en-US" sz="1500"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735"/>
              </a:spcBef>
              <a:buClr>
                <a:schemeClr val="dk1"/>
              </a:buClr>
              <a:buSzPts val="2800"/>
            </a:pPr>
            <a:r>
              <a:rPr lang="en-US" b="1" dirty="0">
                <a:latin typeface="Calibri" panose="020F0502020204030204" pitchFamily="34" charset="0"/>
                <a:ea typeface="Calibri" panose="020F0502020204030204" pitchFamily="34" charset="0"/>
                <a:cs typeface="Calibri" panose="020F0502020204030204" pitchFamily="34" charset="0"/>
              </a:rPr>
              <a:t>CLOUD COMPUTING</a:t>
            </a:r>
            <a:endParaRPr lang="en-US" sz="1200" dirty="0">
              <a:latin typeface="Calibri" panose="020F0502020204030204" pitchFamily="34" charset="0"/>
              <a:ea typeface="Calibri" panose="020F0502020204030204" pitchFamily="34" charset="0"/>
              <a:cs typeface="Calibri" panose="020F0502020204030204" pitchFamily="34" charset="0"/>
            </a:endParaRPr>
          </a:p>
          <a:p>
            <a:pPr algn="ctr">
              <a:lnSpc>
                <a:spcPct val="90000"/>
              </a:lnSpc>
              <a:spcBef>
                <a:spcPts val="735"/>
              </a:spcBef>
              <a:buClr>
                <a:schemeClr val="dk1"/>
              </a:buClr>
              <a:buSzPts val="2800"/>
            </a:pPr>
            <a:r>
              <a:rPr lang="en-US" dirty="0">
                <a:latin typeface="Calibri" panose="020F0502020204030204" pitchFamily="34" charset="0"/>
                <a:ea typeface="Calibri" panose="020F0502020204030204" pitchFamily="34" charset="0"/>
                <a:cs typeface="Calibri" panose="020F0502020204030204" pitchFamily="34" charset="0"/>
              </a:rPr>
              <a:t>(23CSH-307)</a:t>
            </a:r>
            <a:endParaRPr lang="en-US" sz="1200" dirty="0">
              <a:latin typeface="Calibri" panose="020F0502020204030204" pitchFamily="34" charset="0"/>
              <a:ea typeface="Calibri" panose="020F0502020204030204" pitchFamily="34" charset="0"/>
              <a:cs typeface="Calibri" panose="020F0502020204030204" pitchFamily="34" charset="0"/>
            </a:endParaRPr>
          </a:p>
          <a:p>
            <a:pPr algn="ctr">
              <a:spcBef>
                <a:spcPts val="840"/>
              </a:spcBef>
              <a:buSzPts val="3200"/>
            </a:pPr>
            <a:r>
              <a:rPr lang="en-US" sz="1350" b="1" dirty="0">
                <a:latin typeface="Calibri" panose="020F0502020204030204" pitchFamily="34" charset="0"/>
                <a:ea typeface="Calibri" panose="020F0502020204030204" pitchFamily="34" charset="0"/>
                <a:cs typeface="Calibri" panose="020F0502020204030204" pitchFamily="34" charset="0"/>
              </a:rPr>
              <a:t>Unit No. 2                     Chapter No. 3                    Lecture No. </a:t>
            </a:r>
            <a:r>
              <a:rPr lang="en-US" sz="1350" b="1">
                <a:latin typeface="Calibri" panose="020F0502020204030204" pitchFamily="34" charset="0"/>
                <a:ea typeface="Calibri" panose="020F0502020204030204" pitchFamily="34" charset="0"/>
                <a:cs typeface="Calibri" panose="020F0502020204030204" pitchFamily="34" charset="0"/>
              </a:rPr>
              <a:t>18</a:t>
            </a:r>
            <a:endParaRPr lang="en-US" sz="1350" b="1" dirty="0">
              <a:latin typeface="Calibri" panose="020F0502020204030204" pitchFamily="34" charset="0"/>
              <a:ea typeface="Calibri" panose="020F0502020204030204" pitchFamily="34" charset="0"/>
              <a:cs typeface="Calibri" panose="020F0502020204030204" pitchFamily="34" charset="0"/>
            </a:endParaRPr>
          </a:p>
          <a:p>
            <a:pPr>
              <a:spcBef>
                <a:spcPts val="840"/>
              </a:spcBef>
              <a:buSzPts val="3200"/>
            </a:pPr>
            <a:r>
              <a:rPr lang="en-US" sz="1350" b="1" dirty="0">
                <a:latin typeface="Calibri" panose="020F0502020204030204" pitchFamily="34" charset="0"/>
                <a:ea typeface="Calibri" panose="020F0502020204030204" pitchFamily="34" charset="0"/>
                <a:cs typeface="Calibri" panose="020F0502020204030204" pitchFamily="34" charset="0"/>
              </a:rPr>
              <a:t>Topic : </a:t>
            </a:r>
            <a:r>
              <a:rPr lang="en-US" sz="1350" b="1" u="sng" dirty="0"/>
              <a:t>Introduction to serverless (</a:t>
            </a:r>
            <a:r>
              <a:rPr lang="en-US" sz="1350" b="1" u="sng" dirty="0" err="1"/>
              <a:t>FaaS</a:t>
            </a:r>
            <a:r>
              <a:rPr lang="en-US" sz="1350" b="1" u="sng" dirty="0"/>
              <a:t>), benefits (no ops, cost efficiency),</a:t>
            </a:r>
          </a:p>
          <a:p>
            <a:pPr>
              <a:spcBef>
                <a:spcPts val="840"/>
              </a:spcBef>
              <a:buSzPts val="3200"/>
            </a:pPr>
            <a:r>
              <a:rPr lang="en-US" sz="1350" b="1" u="sng" dirty="0"/>
              <a:t>limitations (cold starts, execution limits), use cases.</a:t>
            </a:r>
            <a:r>
              <a:rPr lang="en-US" sz="1350" b="1" dirty="0"/>
              <a:t> </a:t>
            </a:r>
          </a:p>
          <a:p>
            <a:pPr>
              <a:spcBef>
                <a:spcPts val="840"/>
              </a:spcBef>
              <a:buSzPts val="3200"/>
            </a:pPr>
            <a:r>
              <a:rPr lang="en-US" sz="1350" b="1" dirty="0">
                <a:latin typeface="Calibri" panose="020F0502020204030204" pitchFamily="34" charset="0"/>
                <a:ea typeface="Calibri" panose="020F0502020204030204" pitchFamily="34" charset="0"/>
                <a:cs typeface="Calibri" panose="020F0502020204030204" pitchFamily="34" charset="0"/>
              </a:rPr>
              <a:t>Sanjay Tiwari, E18823                                                        Senior Technical Trainer</a:t>
            </a:r>
            <a:endParaRPr lang="en-US" sz="24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3957076" y="172293"/>
            <a:ext cx="2894399" cy="484748"/>
          </a:xfrm>
          <a:prstGeom prst="rect">
            <a:avLst/>
          </a:prstGeom>
          <a:noFill/>
        </p:spPr>
        <p:txBody>
          <a:bodyPr wrap="square" rtlCol="0">
            <a:spAutoFit/>
          </a:bodyPr>
          <a:lstStyle/>
          <a:p>
            <a:pPr algn="r"/>
            <a:r>
              <a:rPr lang="en-IN" sz="135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2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C2E4CF-BD79-E556-F622-89532F64D5D8}"/>
              </a:ext>
            </a:extLst>
          </p:cNvPr>
          <p:cNvSpPr>
            <a:spLocks noGrp="1"/>
          </p:cNvSpPr>
          <p:nvPr>
            <p:ph type="body" sz="quarter" idx="10"/>
          </p:nvPr>
        </p:nvSpPr>
        <p:spPr>
          <a:xfrm>
            <a:off x="577453" y="1251743"/>
            <a:ext cx="5870972" cy="2640013"/>
          </a:xfrm>
        </p:spPr>
        <p:txBody>
          <a:bodyPr vert="horz" lIns="91440" tIns="45720" rIns="91440" bIns="45720" rtlCol="0" anchor="t">
            <a:normAutofit lnSpcReduction="10000"/>
          </a:bodyPr>
          <a:lstStyle/>
          <a:p>
            <a:r>
              <a:rPr lang="en-US" b="1" dirty="0">
                <a:ea typeface="Calibri"/>
                <a:cs typeface="Calibri"/>
              </a:rPr>
              <a:t>Dynamic Resolution: </a:t>
            </a:r>
            <a:r>
              <a:rPr lang="en-US" dirty="0">
                <a:ea typeface="Calibri"/>
                <a:cs typeface="Calibri"/>
              </a:rPr>
              <a:t>Service registry enables dynamic discovery of microservices, while registry patterns fundamentally support scalability in distributed systems.</a:t>
            </a:r>
          </a:p>
          <a:p>
            <a:r>
              <a:rPr lang="en-US" b="1" dirty="0">
                <a:ea typeface="Calibri"/>
                <a:cs typeface="Calibri"/>
              </a:rPr>
              <a:t>Decoupling Systems: </a:t>
            </a:r>
            <a:r>
              <a:rPr lang="en-US" dirty="0">
                <a:ea typeface="Calibri"/>
                <a:cs typeface="Calibri"/>
              </a:rPr>
              <a:t>Service discovery eliminates hard-coded service dependencies.</a:t>
            </a:r>
          </a:p>
          <a:p>
            <a:r>
              <a:rPr lang="en-US" b="1" dirty="0">
                <a:ea typeface="Calibri"/>
                <a:cs typeface="Calibri"/>
              </a:rPr>
              <a:t>Centralized Routing: </a:t>
            </a:r>
            <a:r>
              <a:rPr lang="en-US" dirty="0">
                <a:ea typeface="Calibri"/>
                <a:cs typeface="Calibri"/>
              </a:rPr>
              <a:t>An API Gateway provides a centralized entry point for services; routing through the gateway simplifies client interactions.</a:t>
            </a:r>
          </a:p>
          <a:p>
            <a:r>
              <a:rPr lang="en-US" b="1" dirty="0">
                <a:ea typeface="Calibri"/>
                <a:cs typeface="Calibri"/>
              </a:rPr>
              <a:t>Traffic Management: </a:t>
            </a:r>
            <a:r>
              <a:rPr lang="en-US" dirty="0">
                <a:ea typeface="Calibri"/>
                <a:cs typeface="Calibri"/>
              </a:rPr>
              <a:t>Security policies protect services from unauthorized access, and throttling controls traffic to prevent service overload. These components are essential for building scalable architectures.</a:t>
            </a:r>
          </a:p>
        </p:txBody>
      </p:sp>
      <p:sp>
        <p:nvSpPr>
          <p:cNvPr id="3" name="Text Placeholder 2">
            <a:extLst>
              <a:ext uri="{FF2B5EF4-FFF2-40B4-BE49-F238E27FC236}">
                <a16:creationId xmlns:a16="http://schemas.microsoft.com/office/drawing/2014/main" id="{EC41C8D8-6991-A87F-752E-C1CB0773C634}"/>
              </a:ext>
            </a:extLst>
          </p:cNvPr>
          <p:cNvSpPr>
            <a:spLocks noGrp="1"/>
          </p:cNvSpPr>
          <p:nvPr>
            <p:ph type="body" sz="quarter" idx="11"/>
          </p:nvPr>
        </p:nvSpPr>
        <p:spPr/>
        <p:txBody>
          <a:bodyPr vert="horz" lIns="91440" tIns="45720" rIns="91440" bIns="45720" rtlCol="0" anchor="t">
            <a:normAutofit/>
          </a:bodyPr>
          <a:lstStyle/>
          <a:p>
            <a:r>
              <a:rPr lang="en-US" dirty="0"/>
              <a:t>Recap</a:t>
            </a:r>
          </a:p>
        </p:txBody>
      </p:sp>
    </p:spTree>
    <p:extLst>
      <p:ext uri="{BB962C8B-B14F-4D97-AF65-F5344CB8AC3E}">
        <p14:creationId xmlns:p14="http://schemas.microsoft.com/office/powerpoint/2010/main" val="388946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EF27945-C1E1-DDBF-6B5A-32A668D1B0E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82306DF-DC71-A9BC-8B35-D6290EE31CD4}"/>
              </a:ext>
            </a:extLst>
          </p:cNvPr>
          <p:cNvGrpSpPr/>
          <p:nvPr/>
        </p:nvGrpSpPr>
        <p:grpSpPr>
          <a:xfrm>
            <a:off x="543296" y="806567"/>
            <a:ext cx="6225637" cy="333450"/>
            <a:chOff x="0" y="6299"/>
            <a:chExt cx="5580934" cy="444600"/>
          </a:xfrm>
          <a:noFill/>
        </p:grpSpPr>
        <p:sp>
          <p:nvSpPr>
            <p:cNvPr id="109" name="Google Shape;109;p2">
              <a:extLst>
                <a:ext uri="{FF2B5EF4-FFF2-40B4-BE49-F238E27FC236}">
                  <a16:creationId xmlns:a16="http://schemas.microsoft.com/office/drawing/2014/main" id="{CFDB14A8-16BA-BF7C-C8D7-1E6DAD65FFC9}"/>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B1FC2D67-AE60-4AB2-F4BD-027A2C4342A0}"/>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Learning Objectives</a:t>
              </a:r>
            </a:p>
          </p:txBody>
        </p:sp>
      </p:grpSp>
      <p:sp>
        <p:nvSpPr>
          <p:cNvPr id="111" name="Google Shape;111;p2">
            <a:extLst>
              <a:ext uri="{FF2B5EF4-FFF2-40B4-BE49-F238E27FC236}">
                <a16:creationId xmlns:a16="http://schemas.microsoft.com/office/drawing/2014/main" id="{C2BF4C75-B6D5-0F71-7046-B3B05669B5D8}"/>
              </a:ext>
            </a:extLst>
          </p:cNvPr>
          <p:cNvSpPr txBox="1">
            <a:spLocks noGrp="1"/>
          </p:cNvSpPr>
          <p:nvPr>
            <p:ph type="body" sz="quarter" idx="10"/>
          </p:nvPr>
        </p:nvSpPr>
        <p:spPr>
          <a:xfrm>
            <a:off x="263725" y="1372906"/>
            <a:ext cx="6000750" cy="2186100"/>
          </a:xfrm>
          <a:prstGeom prst="rect">
            <a:avLst/>
          </a:prstGeom>
          <a:noFill/>
          <a:ln>
            <a:noFill/>
          </a:ln>
        </p:spPr>
        <p:txBody>
          <a:bodyPr spcFirstLastPara="1" vert="horz" wrap="square" lIns="68569" tIns="34275" rIns="68569" bIns="34275" rtlCol="0" anchor="t" anchorCtr="0">
            <a:normAutofit/>
          </a:bodyPr>
          <a:lstStyle/>
          <a:p>
            <a:r>
              <a:rPr lang="en-US" dirty="0">
                <a:ea typeface="+mn-lt"/>
                <a:cs typeface="+mn-lt"/>
                <a:sym typeface="Times New Roman"/>
              </a:rPr>
              <a:t>Serverless</a:t>
            </a:r>
            <a:r>
              <a:rPr lang="en-US" dirty="0">
                <a:ea typeface="+mn-lt"/>
                <a:cs typeface="+mn-lt"/>
              </a:rPr>
              <a:t> and </a:t>
            </a:r>
            <a:r>
              <a:rPr lang="en-US" dirty="0" err="1">
                <a:ea typeface="+mn-lt"/>
                <a:cs typeface="+mn-lt"/>
              </a:rPr>
              <a:t>FaaS</a:t>
            </a:r>
            <a:r>
              <a:rPr lang="en-US" dirty="0">
                <a:ea typeface="+mn-lt"/>
                <a:cs typeface="+mn-lt"/>
              </a:rPr>
              <a:t> Concepts</a:t>
            </a:r>
            <a:endParaRPr lang="en-US" dirty="0"/>
          </a:p>
          <a:p>
            <a:r>
              <a:rPr lang="en-US" dirty="0">
                <a:ea typeface="+mn-lt"/>
                <a:cs typeface="+mn-lt"/>
              </a:rPr>
              <a:t>Benefits of Serverless Computing</a:t>
            </a:r>
            <a:endParaRPr lang="en-US" dirty="0"/>
          </a:p>
          <a:p>
            <a:r>
              <a:rPr lang="en-US" dirty="0">
                <a:ea typeface="+mn-lt"/>
                <a:cs typeface="+mn-lt"/>
              </a:rPr>
              <a:t>Limitations and Constraints</a:t>
            </a:r>
            <a:endParaRPr lang="en-US" dirty="0"/>
          </a:p>
          <a:p>
            <a:r>
              <a:rPr lang="en-US" dirty="0">
                <a:ea typeface="+mn-lt"/>
                <a:cs typeface="+mn-lt"/>
              </a:rPr>
              <a:t>Serverless Use Cases</a:t>
            </a:r>
            <a:endParaRPr dirty="0"/>
          </a:p>
        </p:txBody>
      </p:sp>
      <p:sp>
        <p:nvSpPr>
          <p:cNvPr id="7" name="TextBox 6"/>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a:t>
            </a:r>
          </a:p>
        </p:txBody>
      </p:sp>
    </p:spTree>
    <p:extLst>
      <p:ext uri="{BB962C8B-B14F-4D97-AF65-F5344CB8AC3E}">
        <p14:creationId xmlns:p14="http://schemas.microsoft.com/office/powerpoint/2010/main" val="1639758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7F2BD7D-9967-0745-4BD8-62491521A397}"/>
              </a:ext>
            </a:extLst>
          </p:cNvPr>
          <p:cNvSpPr>
            <a:spLocks noGrp="1"/>
          </p:cNvSpPr>
          <p:nvPr>
            <p:ph type="body" sz="quarter" idx="10"/>
          </p:nvPr>
        </p:nvSpPr>
        <p:spPr>
          <a:xfrm>
            <a:off x="493514" y="1108075"/>
            <a:ext cx="5870972" cy="2640013"/>
          </a:xfrm>
        </p:spPr>
        <p:txBody>
          <a:bodyPr vert="horz" lIns="91440" tIns="45720" rIns="91440" bIns="45720" rtlCol="0" anchor="t">
            <a:normAutofit/>
          </a:bodyPr>
          <a:lstStyle/>
          <a:p>
            <a:r>
              <a:rPr lang="en-US" b="1" dirty="0">
                <a:ea typeface="Calibri"/>
                <a:cs typeface="Calibri"/>
              </a:rPr>
              <a:t>Infrastructure Abstraction: </a:t>
            </a:r>
            <a:r>
              <a:rPr lang="en-US" dirty="0">
                <a:ea typeface="Calibri"/>
                <a:cs typeface="Calibri"/>
              </a:rPr>
              <a:t>Serverless computing eliminates server management tasks; the infrastructure lifecycle is entirely handled by the cloud provider.</a:t>
            </a:r>
          </a:p>
          <a:p>
            <a:r>
              <a:rPr lang="en-US" b="1" dirty="0">
                <a:ea typeface="Calibri"/>
                <a:cs typeface="Calibri"/>
              </a:rPr>
              <a:t>Execution Paradigm: </a:t>
            </a:r>
            <a:r>
              <a:rPr lang="en-US" dirty="0">
                <a:ea typeface="Calibri"/>
                <a:cs typeface="Calibri"/>
              </a:rPr>
              <a:t>Developers deploy code purely as functions, and execution is triggered dynamically by events or requests.</a:t>
            </a:r>
          </a:p>
          <a:p>
            <a:r>
              <a:rPr lang="en-US" b="1" dirty="0">
                <a:ea typeface="Calibri"/>
                <a:cs typeface="Calibri"/>
              </a:rPr>
              <a:t>Workload Characteristics: </a:t>
            </a:r>
            <a:r>
              <a:rPr lang="en-US" dirty="0">
                <a:ea typeface="Calibri"/>
                <a:cs typeface="Calibri"/>
              </a:rPr>
              <a:t>It enforces stateless execution by default and is strictly designed for short-lived workloads.</a:t>
            </a:r>
          </a:p>
          <a:p>
            <a:r>
              <a:rPr lang="en-US" b="1" dirty="0">
                <a:ea typeface="Calibri"/>
                <a:cs typeface="Calibri"/>
              </a:rPr>
              <a:t>Economic Model: </a:t>
            </a:r>
            <a:r>
              <a:rPr lang="en-US" dirty="0">
                <a:ea typeface="Calibri"/>
                <a:cs typeface="Calibri"/>
              </a:rPr>
              <a:t>Scaling is transparent to developers, and billing is tightly tied to exact execution usage.</a:t>
            </a:r>
          </a:p>
        </p:txBody>
      </p:sp>
      <p:sp>
        <p:nvSpPr>
          <p:cNvPr id="3" name="Text Placeholder 2">
            <a:extLst>
              <a:ext uri="{FF2B5EF4-FFF2-40B4-BE49-F238E27FC236}">
                <a16:creationId xmlns:a16="http://schemas.microsoft.com/office/drawing/2014/main" id="{10145C99-F706-B712-26E1-50E840D06DD6}"/>
              </a:ext>
            </a:extLst>
          </p:cNvPr>
          <p:cNvSpPr>
            <a:spLocks noGrp="1"/>
          </p:cNvSpPr>
          <p:nvPr>
            <p:ph type="body" sz="quarter" idx="11"/>
          </p:nvPr>
        </p:nvSpPr>
        <p:spPr/>
        <p:txBody>
          <a:bodyPr vert="horz" lIns="91440" tIns="45720" rIns="91440" bIns="45720" rtlCol="0" anchor="t">
            <a:normAutofit/>
          </a:bodyPr>
          <a:lstStyle/>
          <a:p>
            <a:r>
              <a:rPr lang="en-US" dirty="0">
                <a:ea typeface="+mn-lt"/>
                <a:cs typeface="+mn-lt"/>
              </a:rPr>
              <a:t>Introduction to Serverless Computing</a:t>
            </a:r>
            <a:endParaRPr lang="en-US" dirty="0"/>
          </a:p>
        </p:txBody>
      </p:sp>
    </p:spTree>
    <p:extLst>
      <p:ext uri="{BB962C8B-B14F-4D97-AF65-F5344CB8AC3E}">
        <p14:creationId xmlns:p14="http://schemas.microsoft.com/office/powerpoint/2010/main" val="2036444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7071E-5E93-4B66-0A23-D5FBA01C923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1E7ADA2-1098-454A-C076-4120FF84D317}"/>
              </a:ext>
            </a:extLst>
          </p:cNvPr>
          <p:cNvSpPr>
            <a:spLocks noGrp="1"/>
          </p:cNvSpPr>
          <p:nvPr>
            <p:ph type="body" sz="quarter" idx="10"/>
          </p:nvPr>
        </p:nvSpPr>
        <p:spPr>
          <a:xfrm>
            <a:off x="1470335" y="4383221"/>
            <a:ext cx="4038375" cy="370413"/>
          </a:xfrm>
        </p:spPr>
        <p:txBody>
          <a:bodyPr vert="horz" lIns="68580" tIns="34290" rIns="68580" bIns="34290" rtlCol="0" anchor="t">
            <a:normAutofit/>
          </a:bodyPr>
          <a:lstStyle/>
          <a:p>
            <a:pPr marL="0" indent="0">
              <a:buNone/>
            </a:pPr>
            <a:r>
              <a:rPr lang="en-US" dirty="0">
                <a:ea typeface="Calibri" panose="020F0502020204030204"/>
                <a:cs typeface="Calibri" panose="020F0502020204030204"/>
              </a:rPr>
              <a:t>Source: </a:t>
            </a:r>
            <a:r>
              <a:rPr lang="en-US" dirty="0" err="1">
                <a:ea typeface="+mn-lt"/>
                <a:cs typeface="+mn-lt"/>
              </a:rPr>
              <a:t>Innomize</a:t>
            </a:r>
            <a:endParaRPr lang="en-US" dirty="0">
              <a:ea typeface="+mn-lt"/>
              <a:cs typeface="+mn-lt"/>
            </a:endParaRPr>
          </a:p>
        </p:txBody>
      </p:sp>
      <p:sp>
        <p:nvSpPr>
          <p:cNvPr id="3" name="Text Placeholder 2">
            <a:extLst>
              <a:ext uri="{FF2B5EF4-FFF2-40B4-BE49-F238E27FC236}">
                <a16:creationId xmlns:a16="http://schemas.microsoft.com/office/drawing/2014/main" id="{2905EEF6-65FA-3A29-28EC-355D06B09D8B}"/>
              </a:ext>
            </a:extLst>
          </p:cNvPr>
          <p:cNvSpPr>
            <a:spLocks noGrp="1"/>
          </p:cNvSpPr>
          <p:nvPr>
            <p:ph type="body" sz="quarter" idx="11"/>
          </p:nvPr>
        </p:nvSpPr>
        <p:spPr>
          <a:xfrm>
            <a:off x="554037" y="155973"/>
            <a:ext cx="5870972" cy="678656"/>
          </a:xfrm>
        </p:spPr>
        <p:txBody>
          <a:bodyPr vert="horz" lIns="68580" tIns="34290" rIns="68580" bIns="34290" rtlCol="0" anchor="t">
            <a:normAutofit/>
          </a:bodyPr>
          <a:lstStyle/>
          <a:p>
            <a:r>
              <a:rPr lang="en-US" sz="1800" dirty="0"/>
              <a:t>Traditional vs Serverless</a:t>
            </a:r>
          </a:p>
        </p:txBody>
      </p:sp>
      <p:pic>
        <p:nvPicPr>
          <p:cNvPr id="2050" name="Picture 2" descr="Demystifying Serverless Architecture: The Future of Cloud Computing">
            <a:extLst>
              <a:ext uri="{FF2B5EF4-FFF2-40B4-BE49-F238E27FC236}">
                <a16:creationId xmlns:a16="http://schemas.microsoft.com/office/drawing/2014/main" id="{A6BA37E8-E0C2-4154-7A51-9C7676DDC8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817" y="614363"/>
            <a:ext cx="4646615" cy="3484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59621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C11D8A-56DE-0C20-662E-AFB7D2DA182F}"/>
              </a:ext>
            </a:extLst>
          </p:cNvPr>
          <p:cNvSpPr>
            <a:spLocks noGrp="1"/>
          </p:cNvSpPr>
          <p:nvPr>
            <p:ph type="body" sz="quarter" idx="10"/>
          </p:nvPr>
        </p:nvSpPr>
        <p:spPr>
          <a:xfrm>
            <a:off x="663178" y="1525589"/>
            <a:ext cx="5870972" cy="2640013"/>
          </a:xfrm>
        </p:spPr>
        <p:txBody>
          <a:bodyPr vert="horz" lIns="91440" tIns="45720" rIns="91440" bIns="45720" rtlCol="0" anchor="t">
            <a:normAutofit/>
          </a:bodyPr>
          <a:lstStyle/>
          <a:p>
            <a:r>
              <a:rPr lang="en-US" b="1" dirty="0">
                <a:ea typeface="Calibri"/>
                <a:cs typeface="Calibri"/>
              </a:rPr>
              <a:t>The Serverless Implementation: </a:t>
            </a:r>
            <a:r>
              <a:rPr lang="en-US" dirty="0" err="1">
                <a:ea typeface="Calibri"/>
                <a:cs typeface="Calibri"/>
              </a:rPr>
              <a:t>FaaS</a:t>
            </a:r>
            <a:r>
              <a:rPr lang="en-US" dirty="0">
                <a:ea typeface="Calibri"/>
                <a:cs typeface="Calibri"/>
              </a:rPr>
              <a:t> is the core implementation of the serverless model.</a:t>
            </a:r>
          </a:p>
          <a:p>
            <a:r>
              <a:rPr lang="en-US" b="1" dirty="0">
                <a:ea typeface="Calibri"/>
                <a:cs typeface="Calibri"/>
              </a:rPr>
              <a:t>Granular Logic: </a:t>
            </a:r>
            <a:r>
              <a:rPr lang="en-US" dirty="0">
                <a:ea typeface="Calibri"/>
                <a:cs typeface="Calibri"/>
              </a:rPr>
              <a:t>Functions encapsulate single responsibilities and enable highly fine-grained application logic.</a:t>
            </a:r>
          </a:p>
          <a:p>
            <a:r>
              <a:rPr lang="en-US" b="1" dirty="0">
                <a:ea typeface="Calibri"/>
                <a:cs typeface="Calibri"/>
              </a:rPr>
              <a:t>Transient Execution: </a:t>
            </a:r>
            <a:r>
              <a:rPr lang="en-US" dirty="0">
                <a:ea typeface="Calibri"/>
                <a:cs typeface="Calibri"/>
              </a:rPr>
              <a:t>Functions are executed in isolated runtime environments where they are automatically instantiated and destroyed; there is no persistent execution environment.</a:t>
            </a:r>
          </a:p>
          <a:p>
            <a:r>
              <a:rPr lang="en-US" b="1" dirty="0">
                <a:ea typeface="Calibri"/>
                <a:cs typeface="Calibri"/>
              </a:rPr>
              <a:t>Runtime Support: </a:t>
            </a:r>
            <a:r>
              <a:rPr lang="en-US" dirty="0">
                <a:ea typeface="Calibri"/>
                <a:cs typeface="Calibri"/>
              </a:rPr>
              <a:t>The platform provides managed runtime versions and natively supports multiple programming languages.</a:t>
            </a:r>
          </a:p>
        </p:txBody>
      </p:sp>
      <p:sp>
        <p:nvSpPr>
          <p:cNvPr id="3" name="Text Placeholder 2">
            <a:extLst>
              <a:ext uri="{FF2B5EF4-FFF2-40B4-BE49-F238E27FC236}">
                <a16:creationId xmlns:a16="http://schemas.microsoft.com/office/drawing/2014/main" id="{A58E29EB-0EBA-48B1-FE9B-FD22D5219DE3}"/>
              </a:ext>
            </a:extLst>
          </p:cNvPr>
          <p:cNvSpPr>
            <a:spLocks noGrp="1"/>
          </p:cNvSpPr>
          <p:nvPr>
            <p:ph type="body" sz="quarter" idx="11"/>
          </p:nvPr>
        </p:nvSpPr>
        <p:spPr/>
        <p:txBody>
          <a:bodyPr vert="horz" lIns="91440" tIns="45720" rIns="91440" bIns="45720" rtlCol="0" anchor="t">
            <a:normAutofit/>
          </a:bodyPr>
          <a:lstStyle/>
          <a:p>
            <a:r>
              <a:rPr lang="en-US" dirty="0"/>
              <a:t>Function as a Service (</a:t>
            </a:r>
            <a:r>
              <a:rPr lang="en-US" dirty="0" err="1"/>
              <a:t>FaaS</a:t>
            </a:r>
            <a:r>
              <a:rPr lang="en-US" dirty="0"/>
              <a:t>) Architecture</a:t>
            </a:r>
          </a:p>
        </p:txBody>
      </p:sp>
    </p:spTree>
    <p:extLst>
      <p:ext uri="{BB962C8B-B14F-4D97-AF65-F5344CB8AC3E}">
        <p14:creationId xmlns:p14="http://schemas.microsoft.com/office/powerpoint/2010/main" val="55365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E8D3-7C3B-A317-50A8-7763CD088FF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6034FA14-3AF6-54C6-3A59-60CBC448C67C}"/>
              </a:ext>
            </a:extLst>
          </p:cNvPr>
          <p:cNvSpPr>
            <a:spLocks noGrp="1"/>
          </p:cNvSpPr>
          <p:nvPr>
            <p:ph type="body" sz="quarter" idx="10"/>
          </p:nvPr>
        </p:nvSpPr>
        <p:spPr>
          <a:xfrm>
            <a:off x="1470335" y="4383221"/>
            <a:ext cx="4038375" cy="370413"/>
          </a:xfrm>
        </p:spPr>
        <p:txBody>
          <a:bodyPr vert="horz" lIns="68580" tIns="34290" rIns="68580" bIns="34290" rtlCol="0" anchor="t">
            <a:normAutofit/>
          </a:bodyPr>
          <a:lstStyle/>
          <a:p>
            <a:pPr marL="0" indent="0">
              <a:buNone/>
            </a:pPr>
            <a:r>
              <a:rPr lang="en-US" dirty="0">
                <a:ea typeface="Calibri" panose="020F0502020204030204"/>
                <a:cs typeface="Calibri" panose="020F0502020204030204"/>
              </a:rPr>
              <a:t>Source: </a:t>
            </a:r>
            <a:r>
              <a:rPr lang="en-US" dirty="0" err="1">
                <a:ea typeface="+mn-lt"/>
                <a:cs typeface="+mn-lt"/>
              </a:rPr>
              <a:t>Appinventiv</a:t>
            </a:r>
            <a:endParaRPr lang="en-US" dirty="0">
              <a:ea typeface="+mn-lt"/>
              <a:cs typeface="+mn-lt"/>
            </a:endParaRPr>
          </a:p>
        </p:txBody>
      </p:sp>
      <p:sp>
        <p:nvSpPr>
          <p:cNvPr id="3" name="Text Placeholder 2">
            <a:extLst>
              <a:ext uri="{FF2B5EF4-FFF2-40B4-BE49-F238E27FC236}">
                <a16:creationId xmlns:a16="http://schemas.microsoft.com/office/drawing/2014/main" id="{61C82966-D2BD-76B1-E2D6-305C09976766}"/>
              </a:ext>
            </a:extLst>
          </p:cNvPr>
          <p:cNvSpPr>
            <a:spLocks noGrp="1"/>
          </p:cNvSpPr>
          <p:nvPr>
            <p:ph type="body" sz="quarter" idx="11"/>
          </p:nvPr>
        </p:nvSpPr>
        <p:spPr>
          <a:xfrm>
            <a:off x="554037" y="155973"/>
            <a:ext cx="5870972" cy="678656"/>
          </a:xfrm>
        </p:spPr>
        <p:txBody>
          <a:bodyPr vert="horz" lIns="68580" tIns="34290" rIns="68580" bIns="34290" rtlCol="0" anchor="t">
            <a:normAutofit/>
          </a:bodyPr>
          <a:lstStyle/>
          <a:p>
            <a:r>
              <a:rPr lang="en-US" sz="1800" dirty="0" err="1"/>
              <a:t>FaaS</a:t>
            </a:r>
            <a:endParaRPr lang="en-US" sz="1800" dirty="0"/>
          </a:p>
        </p:txBody>
      </p:sp>
      <p:pic>
        <p:nvPicPr>
          <p:cNvPr id="1028" name="Picture 4" descr="cloudinary-tools-uploads/opf6dgdnymynmvlqqyrk">
            <a:extLst>
              <a:ext uri="{FF2B5EF4-FFF2-40B4-BE49-F238E27FC236}">
                <a16:creationId xmlns:a16="http://schemas.microsoft.com/office/drawing/2014/main" id="{D9CDCFF7-3376-067F-814A-DB30FA8661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341" y="495301"/>
            <a:ext cx="4928846" cy="3733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798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4D3696-5232-1CD1-1488-87CEBA898908}"/>
              </a:ext>
            </a:extLst>
          </p:cNvPr>
          <p:cNvSpPr>
            <a:spLocks noGrp="1"/>
          </p:cNvSpPr>
          <p:nvPr>
            <p:ph type="body" sz="quarter" idx="10"/>
          </p:nvPr>
        </p:nvSpPr>
        <p:spPr>
          <a:xfrm>
            <a:off x="577453" y="912812"/>
            <a:ext cx="5870972" cy="2640013"/>
          </a:xfrm>
        </p:spPr>
        <p:txBody>
          <a:bodyPr vert="horz" lIns="91440" tIns="45720" rIns="91440" bIns="45720" rtlCol="0" anchor="t">
            <a:normAutofit/>
          </a:bodyPr>
          <a:lstStyle/>
          <a:p>
            <a:r>
              <a:rPr lang="en-US" b="1" dirty="0">
                <a:ea typeface="Calibri"/>
                <a:cs typeface="Calibri"/>
              </a:rPr>
              <a:t>Invocation and State: </a:t>
            </a:r>
            <a:r>
              <a:rPr lang="en-US" dirty="0">
                <a:ea typeface="Calibri"/>
                <a:cs typeface="Calibri"/>
              </a:rPr>
              <a:t>Relies on an event-driven invocation model coupled with a strict stateless execution pattern.</a:t>
            </a:r>
          </a:p>
          <a:p>
            <a:r>
              <a:rPr lang="en-US" b="1" dirty="0">
                <a:ea typeface="Calibri"/>
                <a:cs typeface="Calibri"/>
              </a:rPr>
              <a:t>Elasticity: </a:t>
            </a:r>
            <a:r>
              <a:rPr lang="en-US" dirty="0">
                <a:ea typeface="Calibri"/>
                <a:cs typeface="Calibri"/>
              </a:rPr>
              <a:t>Offers horizontal scaling per request and relies on a fully managed runtime and OS.</a:t>
            </a:r>
          </a:p>
          <a:p>
            <a:r>
              <a:rPr lang="en-US" b="1" dirty="0">
                <a:ea typeface="Calibri"/>
                <a:cs typeface="Calibri"/>
              </a:rPr>
              <a:t>Resilience: </a:t>
            </a:r>
            <a:r>
              <a:rPr lang="en-US" dirty="0">
                <a:ea typeface="Calibri"/>
                <a:cs typeface="Calibri"/>
              </a:rPr>
              <a:t>Features built-in fault tolerance and high availability by design, enabling rapid deployment and continuous updates.</a:t>
            </a:r>
          </a:p>
          <a:p>
            <a:r>
              <a:rPr lang="en-US" b="1" dirty="0">
                <a:ea typeface="Calibri"/>
                <a:cs typeface="Calibri"/>
              </a:rPr>
              <a:t>Financial Granularity: </a:t>
            </a:r>
            <a:r>
              <a:rPr lang="en-US" dirty="0">
                <a:ea typeface="Calibri"/>
                <a:cs typeface="Calibri"/>
              </a:rPr>
              <a:t>Ensures granular billing directly at the function level.</a:t>
            </a:r>
          </a:p>
        </p:txBody>
      </p:sp>
      <p:sp>
        <p:nvSpPr>
          <p:cNvPr id="3" name="Text Placeholder 2">
            <a:extLst>
              <a:ext uri="{FF2B5EF4-FFF2-40B4-BE49-F238E27FC236}">
                <a16:creationId xmlns:a16="http://schemas.microsoft.com/office/drawing/2014/main" id="{B00D7329-8A17-5E80-C17D-62CFFBBEFA34}"/>
              </a:ext>
            </a:extLst>
          </p:cNvPr>
          <p:cNvSpPr>
            <a:spLocks noGrp="1"/>
          </p:cNvSpPr>
          <p:nvPr>
            <p:ph type="body" sz="quarter" idx="11"/>
          </p:nvPr>
        </p:nvSpPr>
        <p:spPr/>
        <p:txBody>
          <a:bodyPr vert="horz" lIns="91440" tIns="45720" rIns="91440" bIns="45720" rtlCol="0" anchor="t">
            <a:normAutofit/>
          </a:bodyPr>
          <a:lstStyle/>
          <a:p>
            <a:r>
              <a:rPr lang="en-US" dirty="0"/>
              <a:t>Architectural Characteristics of </a:t>
            </a:r>
            <a:r>
              <a:rPr lang="en-US" dirty="0" err="1"/>
              <a:t>FaaS</a:t>
            </a:r>
            <a:endParaRPr lang="en-US" dirty="0">
              <a:ea typeface="+mn-lt"/>
              <a:cs typeface="+mn-lt"/>
            </a:endParaRPr>
          </a:p>
        </p:txBody>
      </p:sp>
    </p:spTree>
    <p:extLst>
      <p:ext uri="{BB962C8B-B14F-4D97-AF65-F5344CB8AC3E}">
        <p14:creationId xmlns:p14="http://schemas.microsoft.com/office/powerpoint/2010/main" val="2888406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F98383-E433-6B6D-0112-249B3B78E5FF}"/>
              </a:ext>
            </a:extLst>
          </p:cNvPr>
          <p:cNvSpPr>
            <a:spLocks noGrp="1"/>
          </p:cNvSpPr>
          <p:nvPr>
            <p:ph type="body" sz="quarter" idx="10"/>
          </p:nvPr>
        </p:nvSpPr>
        <p:spPr>
          <a:xfrm>
            <a:off x="584597" y="1096963"/>
            <a:ext cx="5870972" cy="2640013"/>
          </a:xfrm>
        </p:spPr>
        <p:txBody>
          <a:bodyPr vert="horz" lIns="91440" tIns="45720" rIns="91440" bIns="45720" rtlCol="0" anchor="t">
            <a:normAutofit/>
          </a:bodyPr>
          <a:lstStyle/>
          <a:p>
            <a:r>
              <a:rPr lang="en-US" b="1" dirty="0">
                <a:ea typeface="Calibri"/>
                <a:cs typeface="Calibri"/>
              </a:rPr>
              <a:t>Elimination of Maintenance: </a:t>
            </a:r>
            <a:r>
              <a:rPr lang="en-US" dirty="0">
                <a:ea typeface="Calibri"/>
                <a:cs typeface="Calibri"/>
              </a:rPr>
              <a:t>No server provisioning, operating system management, or capacity planning is required.</a:t>
            </a:r>
          </a:p>
          <a:p>
            <a:r>
              <a:rPr lang="en-US" b="1" dirty="0">
                <a:ea typeface="Calibri"/>
                <a:cs typeface="Calibri"/>
              </a:rPr>
              <a:t>Security and Recovery: </a:t>
            </a:r>
            <a:r>
              <a:rPr lang="en-US" dirty="0">
                <a:ea typeface="Calibri"/>
                <a:cs typeface="Calibri"/>
              </a:rPr>
              <a:t>There is no need for manual patching or security updates, as the platform automatically handles fault recovery.</a:t>
            </a:r>
          </a:p>
          <a:p>
            <a:r>
              <a:rPr lang="en-US" b="1" dirty="0">
                <a:ea typeface="Calibri"/>
                <a:cs typeface="Calibri"/>
              </a:rPr>
              <a:t>Organizational Agility: </a:t>
            </a:r>
            <a:r>
              <a:rPr lang="en-US" dirty="0">
                <a:ea typeface="Calibri"/>
                <a:cs typeface="Calibri"/>
              </a:rPr>
              <a:t>This model reduces DevOps overhead significantly and simplifies operational responsibility, making it ideal for lean development teams.</a:t>
            </a:r>
          </a:p>
        </p:txBody>
      </p:sp>
      <p:sp>
        <p:nvSpPr>
          <p:cNvPr id="3" name="Text Placeholder 2">
            <a:extLst>
              <a:ext uri="{FF2B5EF4-FFF2-40B4-BE49-F238E27FC236}">
                <a16:creationId xmlns:a16="http://schemas.microsoft.com/office/drawing/2014/main" id="{D310BC9F-E270-20EC-2B10-957F9C358062}"/>
              </a:ext>
            </a:extLst>
          </p:cNvPr>
          <p:cNvSpPr>
            <a:spLocks noGrp="1"/>
          </p:cNvSpPr>
          <p:nvPr>
            <p:ph type="body" sz="quarter" idx="11"/>
          </p:nvPr>
        </p:nvSpPr>
        <p:spPr>
          <a:xfrm>
            <a:off x="584597" y="108746"/>
            <a:ext cx="5870972" cy="904875"/>
          </a:xfrm>
        </p:spPr>
        <p:txBody>
          <a:bodyPr vert="horz" lIns="91440" tIns="45720" rIns="91440" bIns="45720" rtlCol="0" anchor="t">
            <a:normAutofit/>
          </a:bodyPr>
          <a:lstStyle/>
          <a:p>
            <a:r>
              <a:rPr lang="en-US" dirty="0"/>
              <a:t>The "No-Ops" Benefit (Operational Abstraction)</a:t>
            </a:r>
          </a:p>
        </p:txBody>
      </p:sp>
    </p:spTree>
    <p:extLst>
      <p:ext uri="{BB962C8B-B14F-4D97-AF65-F5344CB8AC3E}">
        <p14:creationId xmlns:p14="http://schemas.microsoft.com/office/powerpoint/2010/main" val="39924235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9E425-B47D-A1F5-57EE-9F7B727202B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F059206-21D7-6356-6936-D4696530D697}"/>
              </a:ext>
            </a:extLst>
          </p:cNvPr>
          <p:cNvSpPr>
            <a:spLocks noGrp="1"/>
          </p:cNvSpPr>
          <p:nvPr>
            <p:ph type="body" sz="quarter" idx="10"/>
          </p:nvPr>
        </p:nvSpPr>
        <p:spPr>
          <a:xfrm>
            <a:off x="584597" y="1096963"/>
            <a:ext cx="5870972" cy="2640013"/>
          </a:xfrm>
        </p:spPr>
        <p:txBody>
          <a:bodyPr vert="horz" lIns="91440" tIns="45720" rIns="91440" bIns="45720" rtlCol="0" anchor="t">
            <a:normAutofit lnSpcReduction="10000"/>
          </a:bodyPr>
          <a:lstStyle/>
          <a:p>
            <a:r>
              <a:rPr lang="en-US" b="1" dirty="0">
                <a:ea typeface="Calibri"/>
                <a:cs typeface="Calibri"/>
              </a:rPr>
              <a:t>Usage-Based Billing: </a:t>
            </a:r>
            <a:r>
              <a:rPr lang="en-US" dirty="0">
                <a:ea typeface="Calibri"/>
                <a:cs typeface="Calibri"/>
              </a:rPr>
              <a:t>Organizations pay only for function execution; billing is calculated based on time and memory consumed during the run.</a:t>
            </a:r>
          </a:p>
          <a:p>
            <a:r>
              <a:rPr lang="en-US" b="1" dirty="0">
                <a:ea typeface="Calibri"/>
                <a:cs typeface="Calibri"/>
              </a:rPr>
              <a:t>Zero Idle Cost: </a:t>
            </a:r>
            <a:r>
              <a:rPr lang="en-US" dirty="0">
                <a:ea typeface="Calibri"/>
                <a:cs typeface="Calibri"/>
              </a:rPr>
              <a:t>There is no cost during idle periods, which fundamentally eliminates over-provisioning waste.</a:t>
            </a:r>
          </a:p>
          <a:p>
            <a:r>
              <a:rPr lang="en-US" b="1" dirty="0">
                <a:ea typeface="Calibri"/>
                <a:cs typeface="Calibri"/>
              </a:rPr>
              <a:t>Financial Control: </a:t>
            </a:r>
            <a:r>
              <a:rPr lang="en-US" dirty="0">
                <a:ea typeface="Calibri"/>
                <a:cs typeface="Calibri"/>
              </a:rPr>
              <a:t>This offers fine-grained cost control and scales cost linearly with demand.</a:t>
            </a:r>
          </a:p>
          <a:p>
            <a:r>
              <a:rPr lang="en-US" b="1" dirty="0">
                <a:ea typeface="Calibri"/>
                <a:cs typeface="Calibri"/>
              </a:rPr>
              <a:t>Practical Scenario: </a:t>
            </a:r>
            <a:r>
              <a:rPr lang="en-US" dirty="0">
                <a:ea typeface="Calibri"/>
                <a:cs typeface="Calibri"/>
              </a:rPr>
              <a:t>An application generating monthly financial reports runs for exactly 10 minutes on the last day of the month. With traditional servers, the company pays for 30 days of idle uptime. With serverless, they incur zero idle cost and only pay for those 10 minutes of execution.</a:t>
            </a:r>
          </a:p>
        </p:txBody>
      </p:sp>
      <p:sp>
        <p:nvSpPr>
          <p:cNvPr id="3" name="Text Placeholder 2">
            <a:extLst>
              <a:ext uri="{FF2B5EF4-FFF2-40B4-BE49-F238E27FC236}">
                <a16:creationId xmlns:a16="http://schemas.microsoft.com/office/drawing/2014/main" id="{818697F1-9B64-625D-8A8F-F93E05FD97EE}"/>
              </a:ext>
            </a:extLst>
          </p:cNvPr>
          <p:cNvSpPr>
            <a:spLocks noGrp="1"/>
          </p:cNvSpPr>
          <p:nvPr>
            <p:ph type="body" sz="quarter" idx="11"/>
          </p:nvPr>
        </p:nvSpPr>
        <p:spPr>
          <a:xfrm>
            <a:off x="584597" y="108746"/>
            <a:ext cx="5870972" cy="904875"/>
          </a:xfrm>
        </p:spPr>
        <p:txBody>
          <a:bodyPr vert="horz" lIns="91440" tIns="45720" rIns="91440" bIns="45720" rtlCol="0" anchor="t">
            <a:normAutofit/>
          </a:bodyPr>
          <a:lstStyle/>
          <a:p>
            <a:r>
              <a:rPr lang="en-US" dirty="0"/>
              <a:t>Economic Benefit: Cost Efficiency</a:t>
            </a:r>
          </a:p>
        </p:txBody>
      </p:sp>
    </p:spTree>
    <p:extLst>
      <p:ext uri="{BB962C8B-B14F-4D97-AF65-F5344CB8AC3E}">
        <p14:creationId xmlns:p14="http://schemas.microsoft.com/office/powerpoint/2010/main" val="4040767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2ED10-85E5-371C-A082-F9C8C0553F40}"/>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B694CE4-66B3-0EDB-9775-8DEE171FE451}"/>
              </a:ext>
            </a:extLst>
          </p:cNvPr>
          <p:cNvSpPr>
            <a:spLocks noGrp="1"/>
          </p:cNvSpPr>
          <p:nvPr>
            <p:ph type="body" sz="quarter" idx="10"/>
          </p:nvPr>
        </p:nvSpPr>
        <p:spPr>
          <a:xfrm>
            <a:off x="584597" y="1096963"/>
            <a:ext cx="5870972" cy="2640013"/>
          </a:xfrm>
        </p:spPr>
        <p:txBody>
          <a:bodyPr vert="horz" lIns="91440" tIns="45720" rIns="91440" bIns="45720" rtlCol="0" anchor="t">
            <a:noAutofit/>
          </a:bodyPr>
          <a:lstStyle/>
          <a:p>
            <a:r>
              <a:rPr lang="en-US" b="1" dirty="0">
                <a:ea typeface="Calibri"/>
                <a:cs typeface="Calibri"/>
              </a:rPr>
              <a:t>Initialization Latency: </a:t>
            </a:r>
            <a:r>
              <a:rPr lang="en-US" dirty="0">
                <a:ea typeface="Calibri"/>
                <a:cs typeface="Calibri"/>
              </a:rPr>
              <a:t>A cold start occurs when a function is invoked after inactivity. Because the runtime container must initialize, it adds noticeable latency to the first request.</a:t>
            </a:r>
          </a:p>
          <a:p>
            <a:r>
              <a:rPr lang="en-US" b="1" dirty="0">
                <a:ea typeface="Calibri"/>
                <a:cs typeface="Calibri"/>
              </a:rPr>
              <a:t>Performance Impact: </a:t>
            </a:r>
            <a:r>
              <a:rPr lang="en-US" dirty="0">
                <a:ea typeface="Calibri"/>
                <a:cs typeface="Calibri"/>
              </a:rPr>
              <a:t>This drastically affects performance-sensitive applications, though it is more visible in low-traffic systems.</a:t>
            </a:r>
          </a:p>
          <a:p>
            <a:r>
              <a:rPr lang="en-US" b="1" dirty="0">
                <a:ea typeface="Calibri"/>
                <a:cs typeface="Calibri"/>
              </a:rPr>
              <a:t>The Trade-off: </a:t>
            </a:r>
            <a:r>
              <a:rPr lang="en-US" dirty="0">
                <a:ea typeface="Calibri"/>
                <a:cs typeface="Calibri"/>
              </a:rPr>
              <a:t>The severity depends on the language and platform. It can be reduced by keeping functions warm, but it remains the fundamental trade-off for achieving zero idle cost.</a:t>
            </a:r>
          </a:p>
          <a:p>
            <a:r>
              <a:rPr lang="en-US" b="1" dirty="0">
                <a:ea typeface="Calibri"/>
                <a:cs typeface="Calibri"/>
              </a:rPr>
              <a:t>Practical Scenario: </a:t>
            </a:r>
            <a:r>
              <a:rPr lang="en-US" dirty="0">
                <a:ea typeface="Calibri"/>
                <a:cs typeface="Calibri"/>
              </a:rPr>
              <a:t>If an e-commerce API is built on </a:t>
            </a:r>
            <a:r>
              <a:rPr lang="en-US" dirty="0" err="1">
                <a:ea typeface="Calibri"/>
                <a:cs typeface="Calibri"/>
              </a:rPr>
              <a:t>FaaS</a:t>
            </a:r>
            <a:r>
              <a:rPr lang="en-US" dirty="0">
                <a:ea typeface="Calibri"/>
                <a:cs typeface="Calibri"/>
              </a:rPr>
              <a:t> and receives no traffic overnight, the very first user who visits the site in the morning experiences a "cold start." Their request takes 3 seconds while the platform provisions the container, whereas subsequent users experience millisecond responses.</a:t>
            </a:r>
          </a:p>
        </p:txBody>
      </p:sp>
      <p:sp>
        <p:nvSpPr>
          <p:cNvPr id="3" name="Text Placeholder 2">
            <a:extLst>
              <a:ext uri="{FF2B5EF4-FFF2-40B4-BE49-F238E27FC236}">
                <a16:creationId xmlns:a16="http://schemas.microsoft.com/office/drawing/2014/main" id="{89363A73-30E8-DE98-9F57-C49D389DB861}"/>
              </a:ext>
            </a:extLst>
          </p:cNvPr>
          <p:cNvSpPr>
            <a:spLocks noGrp="1"/>
          </p:cNvSpPr>
          <p:nvPr>
            <p:ph type="body" sz="quarter" idx="11"/>
          </p:nvPr>
        </p:nvSpPr>
        <p:spPr>
          <a:xfrm>
            <a:off x="584597" y="108746"/>
            <a:ext cx="5870972" cy="904875"/>
          </a:xfrm>
        </p:spPr>
        <p:txBody>
          <a:bodyPr vert="horz" lIns="91440" tIns="45720" rIns="91440" bIns="45720" rtlCol="0" anchor="t">
            <a:normAutofit/>
          </a:bodyPr>
          <a:lstStyle/>
          <a:p>
            <a:r>
              <a:rPr lang="en-US" dirty="0"/>
              <a:t>Architectural Limitation: The "Cold Start" Problem</a:t>
            </a:r>
          </a:p>
        </p:txBody>
      </p:sp>
    </p:spTree>
    <p:extLst>
      <p:ext uri="{BB962C8B-B14F-4D97-AF65-F5344CB8AC3E}">
        <p14:creationId xmlns:p14="http://schemas.microsoft.com/office/powerpoint/2010/main" val="1529584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42D401E-D78D-16BB-9DC3-1E509210A218}"/>
              </a:ext>
            </a:extLst>
          </p:cNvPr>
          <p:cNvSpPr>
            <a:spLocks noGrp="1"/>
          </p:cNvSpPr>
          <p:nvPr>
            <p:ph type="body" sz="quarter" idx="10"/>
          </p:nvPr>
        </p:nvSpPr>
        <p:spPr>
          <a:xfrm>
            <a:off x="663178" y="1495425"/>
            <a:ext cx="5870972" cy="2640013"/>
          </a:xfrm>
        </p:spPr>
        <p:txBody>
          <a:bodyPr vert="horz" lIns="91440" tIns="45720" rIns="91440" bIns="45720" rtlCol="0" anchor="t">
            <a:normAutofit/>
          </a:bodyPr>
          <a:lstStyle/>
          <a:p>
            <a:r>
              <a:rPr lang="en-US" b="1" dirty="0">
                <a:ea typeface="Calibri"/>
                <a:cs typeface="Calibri"/>
              </a:rPr>
              <a:t>Time and Resource Quotas: </a:t>
            </a:r>
            <a:r>
              <a:rPr lang="en-US" dirty="0">
                <a:ea typeface="Calibri"/>
                <a:cs typeface="Calibri"/>
              </a:rPr>
              <a:t>The platform enforces a maximum execution time and strictly predefines memory and CPU quotas.</a:t>
            </a:r>
          </a:p>
          <a:p>
            <a:r>
              <a:rPr lang="en-US" b="1" dirty="0">
                <a:ea typeface="Calibri"/>
                <a:cs typeface="Calibri"/>
              </a:rPr>
              <a:t>Processing Constraints: </a:t>
            </a:r>
            <a:r>
              <a:rPr lang="en-US" dirty="0">
                <a:ea typeface="Calibri"/>
                <a:cs typeface="Calibri"/>
              </a:rPr>
              <a:t>No background processing is allowed; therefore, long tasks require architectural redesign and task decomposition.</a:t>
            </a:r>
          </a:p>
          <a:p>
            <a:r>
              <a:rPr lang="en-US" b="1" dirty="0">
                <a:ea typeface="Calibri"/>
                <a:cs typeface="Calibri"/>
              </a:rPr>
              <a:t>Operational Complexity: </a:t>
            </a:r>
            <a:r>
              <a:rPr lang="en-US" dirty="0">
                <a:ea typeface="Calibri"/>
                <a:cs typeface="Calibri"/>
              </a:rPr>
              <a:t>Developers face stateless execution complexity and increased debugging complexity, compounded by vendor-specific implementations and limited runtime customization.</a:t>
            </a:r>
          </a:p>
          <a:p>
            <a:r>
              <a:rPr lang="en-US" b="1" dirty="0">
                <a:ea typeface="Calibri"/>
                <a:cs typeface="Calibri"/>
              </a:rPr>
              <a:t>Workload Boundary: </a:t>
            </a:r>
            <a:r>
              <a:rPr lang="en-US" dirty="0">
                <a:ea typeface="Calibri"/>
                <a:cs typeface="Calibri"/>
              </a:rPr>
              <a:t>These platform-dependent restrictions apply broadly, meaning </a:t>
            </a:r>
            <a:r>
              <a:rPr lang="en-US" dirty="0" err="1">
                <a:ea typeface="Calibri"/>
                <a:cs typeface="Calibri"/>
              </a:rPr>
              <a:t>FaaS</a:t>
            </a:r>
            <a:r>
              <a:rPr lang="en-US" dirty="0">
                <a:ea typeface="Calibri"/>
                <a:cs typeface="Calibri"/>
              </a:rPr>
              <a:t> is not ideal for compute-heavy workloads.</a:t>
            </a:r>
          </a:p>
        </p:txBody>
      </p:sp>
      <p:sp>
        <p:nvSpPr>
          <p:cNvPr id="3" name="Text Placeholder 2">
            <a:extLst>
              <a:ext uri="{FF2B5EF4-FFF2-40B4-BE49-F238E27FC236}">
                <a16:creationId xmlns:a16="http://schemas.microsoft.com/office/drawing/2014/main" id="{9B246E32-BEDE-7C94-B7A7-0647B59B0BE5}"/>
              </a:ext>
            </a:extLst>
          </p:cNvPr>
          <p:cNvSpPr>
            <a:spLocks noGrp="1"/>
          </p:cNvSpPr>
          <p:nvPr>
            <p:ph type="body" sz="quarter" idx="11"/>
          </p:nvPr>
        </p:nvSpPr>
        <p:spPr/>
        <p:txBody>
          <a:bodyPr vert="horz" lIns="91440" tIns="45720" rIns="91440" bIns="45720" rtlCol="0" anchor="t">
            <a:normAutofit/>
          </a:bodyPr>
          <a:lstStyle/>
          <a:p>
            <a:r>
              <a:rPr lang="en-US" dirty="0"/>
              <a:t>Structural Limitations: Execution Limits and Complexity</a:t>
            </a:r>
          </a:p>
        </p:txBody>
      </p:sp>
    </p:spTree>
    <p:extLst>
      <p:ext uri="{BB962C8B-B14F-4D97-AF65-F5344CB8AC3E}">
        <p14:creationId xmlns:p14="http://schemas.microsoft.com/office/powerpoint/2010/main" val="23800576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3D55E-A0EA-ADFA-DFCA-7187E81302B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D8E02EE-94C5-EEDE-3048-B5C670B474A8}"/>
              </a:ext>
            </a:extLst>
          </p:cNvPr>
          <p:cNvSpPr>
            <a:spLocks noGrp="1"/>
          </p:cNvSpPr>
          <p:nvPr>
            <p:ph type="body" sz="quarter" idx="10"/>
          </p:nvPr>
        </p:nvSpPr>
        <p:spPr>
          <a:xfrm>
            <a:off x="663178" y="995362"/>
            <a:ext cx="5870972" cy="2640013"/>
          </a:xfrm>
        </p:spPr>
        <p:txBody>
          <a:bodyPr vert="horz" lIns="91440" tIns="45720" rIns="91440" bIns="45720" rtlCol="0" anchor="t">
            <a:normAutofit/>
          </a:bodyPr>
          <a:lstStyle/>
          <a:p>
            <a:r>
              <a:rPr lang="en-US" b="1" dirty="0">
                <a:ea typeface="Calibri"/>
                <a:cs typeface="Calibri"/>
              </a:rPr>
              <a:t>System Workloads: </a:t>
            </a:r>
            <a:r>
              <a:rPr lang="en-US" dirty="0">
                <a:ea typeface="Calibri"/>
                <a:cs typeface="Calibri"/>
              </a:rPr>
              <a:t>Highly suited for event-driven data processing, backend APIs, IoT event handling, and scheduled automation tasks.</a:t>
            </a:r>
          </a:p>
          <a:p>
            <a:r>
              <a:rPr lang="en-US" b="1" dirty="0">
                <a:ea typeface="Calibri"/>
                <a:cs typeface="Calibri"/>
              </a:rPr>
              <a:t>Traffic Patterns: </a:t>
            </a:r>
            <a:r>
              <a:rPr lang="en-US" dirty="0">
                <a:ea typeface="Calibri"/>
                <a:cs typeface="Calibri"/>
              </a:rPr>
              <a:t>Ideal for systems experiencing unpredictable or bursty traffic and workloads that require short execution times.</a:t>
            </a:r>
          </a:p>
          <a:p>
            <a:r>
              <a:rPr lang="en-US" b="1" dirty="0">
                <a:ea typeface="Calibri"/>
                <a:cs typeface="Calibri"/>
              </a:rPr>
              <a:t>Business Initiatives: </a:t>
            </a:r>
            <a:r>
              <a:rPr lang="en-US" dirty="0">
                <a:ea typeface="Calibri"/>
                <a:cs typeface="Calibri"/>
              </a:rPr>
              <a:t>Optimal for cost-sensitive applications, lightweight business logic, rapid proof-of-concept systems, and innovation projects where minimal operational management is desired.</a:t>
            </a:r>
          </a:p>
        </p:txBody>
      </p:sp>
      <p:sp>
        <p:nvSpPr>
          <p:cNvPr id="3" name="Text Placeholder 2">
            <a:extLst>
              <a:ext uri="{FF2B5EF4-FFF2-40B4-BE49-F238E27FC236}">
                <a16:creationId xmlns:a16="http://schemas.microsoft.com/office/drawing/2014/main" id="{E2D88C70-BB5D-92D1-6442-4474384BD3C7}"/>
              </a:ext>
            </a:extLst>
          </p:cNvPr>
          <p:cNvSpPr>
            <a:spLocks noGrp="1"/>
          </p:cNvSpPr>
          <p:nvPr>
            <p:ph type="body" sz="quarter" idx="11"/>
          </p:nvPr>
        </p:nvSpPr>
        <p:spPr/>
        <p:txBody>
          <a:bodyPr vert="horz" lIns="91440" tIns="45720" rIns="91440" bIns="45720" rtlCol="0" anchor="t">
            <a:normAutofit/>
          </a:bodyPr>
          <a:lstStyle/>
          <a:p>
            <a:r>
              <a:rPr lang="en-US" dirty="0"/>
              <a:t>Strategic Applicability: Ideal Use Cases</a:t>
            </a:r>
          </a:p>
        </p:txBody>
      </p:sp>
    </p:spTree>
    <p:extLst>
      <p:ext uri="{BB962C8B-B14F-4D97-AF65-F5344CB8AC3E}">
        <p14:creationId xmlns:p14="http://schemas.microsoft.com/office/powerpoint/2010/main" val="23161445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E0229-4E06-A970-EB29-45EE9DE3DC05}"/>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C5E7DAB-F9F9-3BCA-0582-2FA7F24992DF}"/>
              </a:ext>
            </a:extLst>
          </p:cNvPr>
          <p:cNvSpPr>
            <a:spLocks noGrp="1"/>
          </p:cNvSpPr>
          <p:nvPr>
            <p:ph type="body" sz="quarter" idx="10"/>
          </p:nvPr>
        </p:nvSpPr>
        <p:spPr>
          <a:xfrm>
            <a:off x="548878" y="1109662"/>
            <a:ext cx="5870972" cy="2640013"/>
          </a:xfrm>
        </p:spPr>
        <p:txBody>
          <a:bodyPr vert="horz" lIns="91440" tIns="45720" rIns="91440" bIns="45720" rtlCol="0" anchor="t">
            <a:normAutofit/>
          </a:bodyPr>
          <a:lstStyle/>
          <a:p>
            <a:r>
              <a:rPr lang="en-US" b="1" dirty="0">
                <a:ea typeface="Calibri"/>
                <a:cs typeface="Calibri"/>
              </a:rPr>
              <a:t>Duration and State: </a:t>
            </a:r>
            <a:r>
              <a:rPr lang="en-US" dirty="0">
                <a:ea typeface="Calibri"/>
                <a:cs typeface="Calibri"/>
              </a:rPr>
              <a:t>Not suitable for long-running batch jobs, continuous background services, or complex stateful applications.</a:t>
            </a:r>
          </a:p>
          <a:p>
            <a:r>
              <a:rPr lang="en-US" b="1" dirty="0">
                <a:ea typeface="Calibri"/>
                <a:cs typeface="Calibri"/>
              </a:rPr>
              <a:t>Compute Constraints: </a:t>
            </a:r>
            <a:r>
              <a:rPr lang="en-US" dirty="0">
                <a:ea typeface="Calibri"/>
                <a:cs typeface="Calibri"/>
              </a:rPr>
              <a:t>Inefficient for high-performance computing workloads and heavy CPU/GPU workloads.</a:t>
            </a:r>
          </a:p>
          <a:p>
            <a:r>
              <a:rPr lang="en-US" b="1" dirty="0">
                <a:ea typeface="Calibri"/>
                <a:cs typeface="Calibri"/>
              </a:rPr>
              <a:t>System Requirements: </a:t>
            </a:r>
            <a:r>
              <a:rPr lang="en-US" dirty="0">
                <a:ea typeface="Calibri"/>
                <a:cs typeface="Calibri"/>
              </a:rPr>
              <a:t>Highly problematic for ultra-low latency systems, complex legacy migrations, or any scenario where tight OS-level control is strictly needed.</a:t>
            </a:r>
          </a:p>
        </p:txBody>
      </p:sp>
      <p:sp>
        <p:nvSpPr>
          <p:cNvPr id="3" name="Text Placeholder 2">
            <a:extLst>
              <a:ext uri="{FF2B5EF4-FFF2-40B4-BE49-F238E27FC236}">
                <a16:creationId xmlns:a16="http://schemas.microsoft.com/office/drawing/2014/main" id="{B46AC0D5-41BB-C497-E3FC-90FE75693BE3}"/>
              </a:ext>
            </a:extLst>
          </p:cNvPr>
          <p:cNvSpPr>
            <a:spLocks noGrp="1"/>
          </p:cNvSpPr>
          <p:nvPr>
            <p:ph type="body" sz="quarter" idx="11"/>
          </p:nvPr>
        </p:nvSpPr>
        <p:spPr/>
        <p:txBody>
          <a:bodyPr vert="horz" lIns="91440" tIns="45720" rIns="91440" bIns="45720" rtlCol="0" anchor="t">
            <a:normAutofit/>
          </a:bodyPr>
          <a:lstStyle/>
          <a:p>
            <a:r>
              <a:rPr lang="en-US" dirty="0"/>
              <a:t>Strategic Applicability: Non-Ideal Scenarios</a:t>
            </a:r>
          </a:p>
        </p:txBody>
      </p:sp>
    </p:spTree>
    <p:extLst>
      <p:ext uri="{BB962C8B-B14F-4D97-AF65-F5344CB8AC3E}">
        <p14:creationId xmlns:p14="http://schemas.microsoft.com/office/powerpoint/2010/main" val="132848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0069C43-A6C1-2A5A-FF86-50FF7E8322D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28E7EC62-47A6-0446-A91D-ECD79632D1B7}"/>
              </a:ext>
            </a:extLst>
          </p:cNvPr>
          <p:cNvGrpSpPr/>
          <p:nvPr/>
        </p:nvGrpSpPr>
        <p:grpSpPr>
          <a:xfrm>
            <a:off x="552203" y="286886"/>
            <a:ext cx="6216732" cy="333450"/>
            <a:chOff x="0" y="6299"/>
            <a:chExt cx="5580934" cy="444600"/>
          </a:xfrm>
          <a:noFill/>
        </p:grpSpPr>
        <p:sp>
          <p:nvSpPr>
            <p:cNvPr id="109" name="Google Shape;109;p2">
              <a:extLst>
                <a:ext uri="{FF2B5EF4-FFF2-40B4-BE49-F238E27FC236}">
                  <a16:creationId xmlns:a16="http://schemas.microsoft.com/office/drawing/2014/main" id="{C4C941DB-8239-E100-09AC-A9EFDD199765}"/>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76925805-914E-BA70-5D3C-8341ECCFCA4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Summary of the Lecture</a:t>
              </a:r>
            </a:p>
          </p:txBody>
        </p:sp>
      </p:grpSp>
      <p:sp>
        <p:nvSpPr>
          <p:cNvPr id="111" name="Google Shape;111;p2">
            <a:extLst>
              <a:ext uri="{FF2B5EF4-FFF2-40B4-BE49-F238E27FC236}">
                <a16:creationId xmlns:a16="http://schemas.microsoft.com/office/drawing/2014/main" id="{DA8A9E1A-C5D3-C012-9EAF-104944754B4B}"/>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buNone/>
            </a:pPr>
            <a:r>
              <a:rPr lang="en-US" sz="1800">
                <a:solidFill>
                  <a:schemeClr val="bg2"/>
                </a:solidFill>
                <a:latin typeface="Times New Roman"/>
                <a:ea typeface="Times New Roman"/>
                <a:cs typeface="Times New Roman"/>
                <a:sym typeface="Times New Roman"/>
              </a:rPr>
              <a:t> </a:t>
            </a:r>
            <a:endParaRPr sz="1800" b="1">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buNone/>
            </a:pPr>
            <a:r>
              <a:rPr lang="en-US" sz="1800">
                <a:solidFill>
                  <a:schemeClr val="bg2"/>
                </a:solidFill>
                <a:latin typeface="Times New Roman"/>
                <a:ea typeface="Times New Roman"/>
                <a:cs typeface="Times New Roman"/>
                <a:sym typeface="Times New Roman"/>
              </a:rPr>
              <a:t> </a:t>
            </a:r>
            <a:endParaRPr sz="180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8F2DF282-8D00-4EFA-4D08-6B9ABBAA7A52}"/>
              </a:ext>
            </a:extLst>
          </p:cNvPr>
          <p:cNvSpPr txBox="1"/>
          <p:nvPr/>
        </p:nvSpPr>
        <p:spPr>
          <a:xfrm>
            <a:off x="75705" y="1320161"/>
            <a:ext cx="6706589" cy="2354460"/>
          </a:xfrm>
          <a:prstGeom prst="rect">
            <a:avLst/>
          </a:prstGeom>
          <a:noFill/>
          <a:ln>
            <a:noFill/>
          </a:ln>
        </p:spPr>
        <p:txBody>
          <a:bodyPr spcFirstLastPara="1" wrap="square" lIns="68569" tIns="34275" rIns="68569" bIns="34275" anchor="t" anchorCtr="0">
            <a:spAutoFit/>
          </a:bodyPr>
          <a:lstStyle/>
          <a:p>
            <a:pPr algn="just">
              <a:lnSpc>
                <a:spcPct val="90000"/>
              </a:lnSpc>
            </a:pPr>
            <a:r>
              <a:rPr lang="en-US" sz="1500" b="1" dirty="0">
                <a:latin typeface="Calibri" panose="020F0502020204030204" pitchFamily="34" charset="0"/>
                <a:ea typeface="Calibri" panose="020F0502020204030204" pitchFamily="34" charset="0"/>
                <a:cs typeface="Calibri" panose="020F0502020204030204" pitchFamily="34" charset="0"/>
              </a:rPr>
              <a:t>Infrastructure Paradigm: </a:t>
            </a:r>
            <a:r>
              <a:rPr lang="en-US" sz="1500" dirty="0">
                <a:latin typeface="Calibri" panose="020F0502020204030204" pitchFamily="34" charset="0"/>
                <a:ea typeface="Calibri" panose="020F0502020204030204" pitchFamily="34" charset="0"/>
                <a:cs typeface="Calibri" panose="020F0502020204030204" pitchFamily="34" charset="0"/>
              </a:rPr>
              <a:t>Serverless fundamentally abstracts infrastructure completely, and </a:t>
            </a:r>
            <a:r>
              <a:rPr lang="en-US" sz="1500" dirty="0" err="1">
                <a:latin typeface="Calibri" panose="020F0502020204030204" pitchFamily="34" charset="0"/>
                <a:ea typeface="Calibri" panose="020F0502020204030204" pitchFamily="34" charset="0"/>
                <a:cs typeface="Calibri" panose="020F0502020204030204" pitchFamily="34" charset="0"/>
              </a:rPr>
              <a:t>FaaS</a:t>
            </a:r>
            <a:r>
              <a:rPr lang="en-US" sz="1500" dirty="0">
                <a:latin typeface="Calibri" panose="020F0502020204030204" pitchFamily="34" charset="0"/>
                <a:ea typeface="Calibri" panose="020F0502020204030204" pitchFamily="34" charset="0"/>
                <a:cs typeface="Calibri" panose="020F0502020204030204" pitchFamily="34" charset="0"/>
              </a:rPr>
              <a:t> enables an event-driven execution model.</a:t>
            </a:r>
          </a:p>
          <a:p>
            <a:pPr algn="just">
              <a:lnSpc>
                <a:spcPct val="90000"/>
              </a:lnSpc>
            </a:pP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lnSpc>
                <a:spcPct val="90000"/>
              </a:lnSpc>
            </a:pPr>
            <a:r>
              <a:rPr lang="en-US" sz="1500" b="1" dirty="0">
                <a:latin typeface="Calibri" panose="020F0502020204030204" pitchFamily="34" charset="0"/>
                <a:ea typeface="Calibri" panose="020F0502020204030204" pitchFamily="34" charset="0"/>
                <a:cs typeface="Calibri" panose="020F0502020204030204" pitchFamily="34" charset="0"/>
              </a:rPr>
              <a:t>Primary Advantages: </a:t>
            </a:r>
            <a:r>
              <a:rPr lang="en-US" sz="1500" dirty="0">
                <a:latin typeface="Calibri" panose="020F0502020204030204" pitchFamily="34" charset="0"/>
                <a:ea typeface="Calibri" panose="020F0502020204030204" pitchFamily="34" charset="0"/>
                <a:cs typeface="Calibri" panose="020F0502020204030204" pitchFamily="34" charset="0"/>
              </a:rPr>
              <a:t>A No-Ops approach reduces operational burden, and aggressive cost efficiency serves as a key advantage.</a:t>
            </a:r>
          </a:p>
          <a:p>
            <a:pPr algn="just">
              <a:lnSpc>
                <a:spcPct val="90000"/>
              </a:lnSpc>
            </a:pP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lnSpc>
                <a:spcPct val="90000"/>
              </a:lnSpc>
            </a:pPr>
            <a:r>
              <a:rPr lang="en-US" sz="1500" b="1" dirty="0">
                <a:latin typeface="Calibri" panose="020F0502020204030204" pitchFamily="34" charset="0"/>
                <a:ea typeface="Calibri" panose="020F0502020204030204" pitchFamily="34" charset="0"/>
                <a:cs typeface="Calibri" panose="020F0502020204030204" pitchFamily="34" charset="0"/>
              </a:rPr>
              <a:t>Primary Constraints: </a:t>
            </a:r>
            <a:r>
              <a:rPr lang="en-US" sz="1500" dirty="0">
                <a:latin typeface="Calibri" panose="020F0502020204030204" pitchFamily="34" charset="0"/>
                <a:ea typeface="Calibri" panose="020F0502020204030204" pitchFamily="34" charset="0"/>
                <a:cs typeface="Calibri" panose="020F0502020204030204" pitchFamily="34" charset="0"/>
              </a:rPr>
              <a:t>Cold starts severely affect initial latency, and strict execution limits constrain specific workloads.</a:t>
            </a:r>
          </a:p>
          <a:p>
            <a:pPr algn="just">
              <a:lnSpc>
                <a:spcPct val="90000"/>
              </a:lnSpc>
            </a:pPr>
            <a:endParaRPr lang="en-US" sz="1500" dirty="0">
              <a:latin typeface="Calibri" panose="020F0502020204030204" pitchFamily="34" charset="0"/>
              <a:ea typeface="Calibri" panose="020F0502020204030204" pitchFamily="34" charset="0"/>
              <a:cs typeface="Calibri" panose="020F0502020204030204" pitchFamily="34" charset="0"/>
            </a:endParaRPr>
          </a:p>
          <a:p>
            <a:pPr algn="just">
              <a:lnSpc>
                <a:spcPct val="90000"/>
              </a:lnSpc>
            </a:pPr>
            <a:r>
              <a:rPr lang="en-US" sz="1500" b="1" dirty="0">
                <a:latin typeface="Calibri" panose="020F0502020204030204" pitchFamily="34" charset="0"/>
                <a:ea typeface="Calibri" panose="020F0502020204030204" pitchFamily="34" charset="0"/>
                <a:cs typeface="Calibri" panose="020F0502020204030204" pitchFamily="34" charset="0"/>
              </a:rPr>
              <a:t>Conclusion: </a:t>
            </a:r>
            <a:r>
              <a:rPr lang="en-US" sz="1500" dirty="0">
                <a:latin typeface="Calibri" panose="020F0502020204030204" pitchFamily="34" charset="0"/>
                <a:ea typeface="Calibri" panose="020F0502020204030204" pitchFamily="34" charset="0"/>
                <a:cs typeface="Calibri" panose="020F0502020204030204" pitchFamily="34" charset="0"/>
              </a:rPr>
              <a:t>Serverless is best suited for short-lived, independent functional tasks and represents a core paradigm of the modern cloud.</a:t>
            </a:r>
          </a:p>
        </p:txBody>
      </p:sp>
    </p:spTree>
    <p:extLst>
      <p:ext uri="{BB962C8B-B14F-4D97-AF65-F5344CB8AC3E}">
        <p14:creationId xmlns:p14="http://schemas.microsoft.com/office/powerpoint/2010/main" val="18335662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536896" y="610785"/>
            <a:ext cx="6207826" cy="514321"/>
            <a:chOff x="0" y="6299"/>
            <a:chExt cx="5580934" cy="685761"/>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290868"/>
              <a:ext cx="5537526" cy="401192"/>
            </a:xfrm>
            <a:prstGeom prst="rect">
              <a:avLst/>
            </a:prstGeom>
            <a:grpFill/>
            <a:ln>
              <a:noFill/>
            </a:ln>
          </p:spPr>
          <p:txBody>
            <a:bodyPr spcFirstLastPara="1" wrap="square" lIns="54281" tIns="54281" rIns="54281" bIns="54281" anchor="ctr" anchorCtr="0">
              <a:noAutofit/>
            </a:bodyPr>
            <a:lstStyle/>
            <a:p>
              <a:pPr lvl="0" algn="just">
                <a:lnSpc>
                  <a:spcPct val="90000"/>
                </a:lnSpc>
                <a:buSzPts val="1900"/>
              </a:pPr>
              <a:r>
                <a:rPr lang="en-US" b="1" dirty="0">
                  <a:latin typeface="Calibri"/>
                  <a:ea typeface="Calibri"/>
                  <a:cs typeface="Calibri"/>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sz="quarter" idx="10"/>
          </p:nvPr>
        </p:nvSpPr>
        <p:spPr>
          <a:xfrm>
            <a:off x="281242" y="1606871"/>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59C2B9C-619B-7F1D-73C8-04AA5F67C4ED}"/>
              </a:ext>
            </a:extLst>
          </p:cNvPr>
          <p:cNvSpPr txBox="1"/>
          <p:nvPr/>
        </p:nvSpPr>
        <p:spPr>
          <a:xfrm>
            <a:off x="20756" y="1600897"/>
            <a:ext cx="6723966" cy="1345723"/>
          </a:xfrm>
          <a:prstGeom prst="rect">
            <a:avLst/>
          </a:prstGeom>
          <a:noFill/>
          <a:ln>
            <a:noFill/>
          </a:ln>
        </p:spPr>
        <p:txBody>
          <a:bodyPr spcFirstLastPara="1" wrap="square" lIns="68569" tIns="34275" rIns="68569" bIns="34275" anchor="t" anchorCtr="0">
            <a:spAutoFit/>
          </a:bodyPr>
          <a:lstStyle/>
          <a:p>
            <a:pPr marL="342900" indent="-342900" algn="just">
              <a:buFont typeface="Arial"/>
              <a:buChar char="•"/>
            </a:pPr>
            <a:r>
              <a:rPr lang="en-US" sz="1050" dirty="0">
                <a:ea typeface="+mn-lt"/>
                <a:cs typeface="+mn-lt"/>
                <a:sym typeface="Arial"/>
              </a:rPr>
              <a:t>Cloud Computing: </a:t>
            </a:r>
            <a:r>
              <a:rPr lang="en-US" sz="1050" dirty="0">
                <a:ea typeface="+mn-lt"/>
                <a:cs typeface="+mn-lt"/>
                <a:sym typeface="Arial"/>
                <a:hlinkClick r:id="rId3">
                  <a:extLst>
                    <a:ext uri="{A12FA001-AC4F-418D-AE19-62706E023703}">
                      <ahyp:hlinkClr xmlns:ahyp="http://schemas.microsoft.com/office/drawing/2018/hyperlinkcolor" val="tx"/>
                    </a:ext>
                  </a:extLst>
                </a:hlinkClick>
              </a:rPr>
              <a:t>https://onlinecourses.nptel.ac.in/noc21_cs14/preview</a:t>
            </a:r>
            <a:endParaRPr lang="en-US" sz="1050" dirty="0">
              <a:ea typeface="Calibri"/>
              <a:cs typeface="Calibri"/>
              <a:hlinkClick r:id="" action="ppaction://noaction">
                <a:extLst>
                  <a:ext uri="{A12FA001-AC4F-418D-AE19-62706E023703}">
                    <ahyp:hlinkClr xmlns:ahyp="http://schemas.microsoft.com/office/drawing/2018/hyperlinkcolor" val="tx"/>
                  </a:ext>
                </a:extLst>
              </a:hlinkClick>
            </a:endParaRPr>
          </a:p>
          <a:p>
            <a:pPr marL="214313" indent="-214313" algn="just">
              <a:buFont typeface="Arial"/>
              <a:buChar char="•"/>
            </a:pPr>
            <a:endParaRPr lang="en-US" sz="1050" dirty="0">
              <a:ea typeface="Calibri"/>
              <a:cs typeface="Calibri"/>
            </a:endParaRPr>
          </a:p>
          <a:p>
            <a:pPr marL="342900" indent="-342900" algn="just">
              <a:buFont typeface="Arial"/>
              <a:buChar char="•"/>
            </a:pPr>
            <a:r>
              <a:rPr lang="en-US" sz="1050" dirty="0">
                <a:ea typeface="+mn-lt"/>
                <a:cs typeface="+mn-lt"/>
                <a:sym typeface="Arial"/>
              </a:rPr>
              <a:t>Cloud Computing: </a:t>
            </a:r>
            <a:r>
              <a:rPr lang="en-US" sz="1050" dirty="0">
                <a:ea typeface="+mn-lt"/>
                <a:cs typeface="+mn-lt"/>
                <a:sym typeface="Arial"/>
                <a:hlinkClick r:id="rId4">
                  <a:extLst>
                    <a:ext uri="{A12FA001-AC4F-418D-AE19-62706E023703}">
                      <ahyp:hlinkClr xmlns:ahyp="http://schemas.microsoft.com/office/drawing/2018/hyperlinkcolor" val="tx"/>
                    </a:ext>
                  </a:extLst>
                </a:hlinkClick>
              </a:rPr>
              <a:t>https://onlinecourses.nptel.ac.in/noc26_cs55/preview</a:t>
            </a:r>
            <a:endParaRPr lang="en-US" sz="1050" dirty="0">
              <a:ea typeface="Calibri" panose="020F0502020204030204"/>
              <a:cs typeface="Calibri" panose="020F0502020204030204"/>
              <a:hlinkClick r:id="" action="ppaction://noaction">
                <a:extLst>
                  <a:ext uri="{A12FA001-AC4F-418D-AE19-62706E023703}">
                    <ahyp:hlinkClr xmlns:ahyp="http://schemas.microsoft.com/office/drawing/2018/hyperlinkcolor" val="tx"/>
                  </a:ext>
                </a:extLst>
              </a:hlinkClick>
            </a:endParaRPr>
          </a:p>
          <a:p>
            <a:pPr marL="214313" indent="-214313" algn="just">
              <a:buFont typeface="Arial"/>
              <a:buChar char="•"/>
            </a:pPr>
            <a:endParaRPr lang="en-US" sz="1050" dirty="0">
              <a:ea typeface="Calibri"/>
              <a:cs typeface="Calibri"/>
            </a:endParaRPr>
          </a:p>
          <a:p>
            <a:pPr marL="342900" indent="-342900" algn="just">
              <a:buFont typeface="Arial"/>
              <a:buChar char="•"/>
            </a:pPr>
            <a:r>
              <a:rPr lang="en-US" sz="1050" dirty="0">
                <a:ea typeface="+mn-lt"/>
                <a:cs typeface="+mn-lt"/>
                <a:sym typeface="Arial"/>
              </a:rPr>
              <a:t>Google Cloud Computing Foundations: </a:t>
            </a:r>
            <a:r>
              <a:rPr lang="en-US" sz="1050" dirty="0">
                <a:ea typeface="+mn-lt"/>
                <a:cs typeface="+mn-lt"/>
                <a:sym typeface="Arial"/>
                <a:hlinkClick r:id="rId5">
                  <a:extLst>
                    <a:ext uri="{A12FA001-AC4F-418D-AE19-62706E023703}">
                      <ahyp:hlinkClr xmlns:ahyp="http://schemas.microsoft.com/office/drawing/2018/hyperlinkcolor" val="tx"/>
                    </a:ext>
                  </a:extLst>
                </a:hlinkClick>
              </a:rPr>
              <a:t>https://onlinecourses.nptel.ac.in/noc20_cs55/preview</a:t>
            </a:r>
            <a:endParaRPr lang="en-US" sz="1050" dirty="0">
              <a:ea typeface="Calibri" panose="020F0502020204030204"/>
              <a:cs typeface="Calibri" panose="020F0502020204030204"/>
              <a:hlinkClick r:id="" action="ppaction://noaction">
                <a:extLst>
                  <a:ext uri="{A12FA001-AC4F-418D-AE19-62706E023703}">
                    <ahyp:hlinkClr xmlns:ahyp="http://schemas.microsoft.com/office/drawing/2018/hyperlinkcolor" val="tx"/>
                  </a:ext>
                </a:extLst>
              </a:hlinkClick>
            </a:endParaRPr>
          </a:p>
          <a:p>
            <a:pPr marL="214313" indent="-214313" algn="just">
              <a:buFont typeface="Arial"/>
              <a:buChar char="•"/>
            </a:pPr>
            <a:endParaRPr lang="en-US" sz="1050" dirty="0">
              <a:ea typeface="Calibri"/>
              <a:cs typeface="Calibri"/>
            </a:endParaRPr>
          </a:p>
          <a:p>
            <a:pPr marL="342900" indent="-342900" algn="just">
              <a:buFont typeface="Arial"/>
              <a:buChar char="•"/>
            </a:pPr>
            <a:r>
              <a:rPr lang="en-US" sz="1050" dirty="0">
                <a:ea typeface="+mn-lt"/>
                <a:cs typeface="+mn-lt"/>
              </a:rPr>
              <a:t>Google Cloud Computing Foundations: </a:t>
            </a:r>
            <a:r>
              <a:rPr lang="en-US" sz="1050" dirty="0">
                <a:ea typeface="+mn-lt"/>
                <a:cs typeface="+mn-lt"/>
                <a:hlinkClick r:id="rId6">
                  <a:extLst>
                    <a:ext uri="{A12FA001-AC4F-418D-AE19-62706E023703}">
                      <ahyp:hlinkClr xmlns:ahyp="http://schemas.microsoft.com/office/drawing/2018/hyperlinkcolor" val="tx"/>
                    </a:ext>
                  </a:extLst>
                </a:hlinkClick>
              </a:rPr>
              <a:t>https://onlinecourses.nptel.ac.in/noc24_cs131/preview</a:t>
            </a:r>
            <a:endParaRPr lang="en-US" sz="1050" dirty="0">
              <a:ea typeface="Calibri"/>
              <a:cs typeface="Calibri"/>
            </a:endParaRPr>
          </a:p>
          <a:p>
            <a:pPr marL="342900" indent="-342900" algn="just">
              <a:lnSpc>
                <a:spcPct val="90000"/>
              </a:lnSpc>
              <a:buFont typeface="Arial"/>
              <a:buChar char="•"/>
            </a:pPr>
            <a:endParaRPr lang="en-US" sz="1050" dirty="0">
              <a:latin typeface="Calibri" panose="020F0502020204030204" pitchFamily="34" charset="0"/>
              <a:ea typeface="Calibri" panose="020F0502020204030204" pitchFamily="34" charset="0"/>
              <a:cs typeface="Calibri" panose="020F0502020204030204" pitchFamily="34" charset="0"/>
            </a:endParaRPr>
          </a:p>
        </p:txBody>
      </p:sp>
      <p:sp>
        <p:nvSpPr>
          <p:cNvPr id="7" name="TextBox 6"/>
          <p:cNvSpPr txBox="1"/>
          <p:nvPr/>
        </p:nvSpPr>
        <p:spPr>
          <a:xfrm>
            <a:off x="6457143" y="707428"/>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10</a:t>
            </a:r>
          </a:p>
        </p:txBody>
      </p:sp>
    </p:spTree>
    <p:extLst>
      <p:ext uri="{BB962C8B-B14F-4D97-AF65-F5344CB8AC3E}">
        <p14:creationId xmlns:p14="http://schemas.microsoft.com/office/powerpoint/2010/main" val="3645693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F1A71372-B014-307D-6154-2C9E638CD11B}"/>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5D0218A6-9BF1-9083-EB88-7F511EEA18C0}"/>
              </a:ext>
            </a:extLst>
          </p:cNvPr>
          <p:cNvGrpSpPr/>
          <p:nvPr/>
        </p:nvGrpSpPr>
        <p:grpSpPr>
          <a:xfrm>
            <a:off x="552203" y="373978"/>
            <a:ext cx="6216732" cy="333450"/>
            <a:chOff x="0" y="6299"/>
            <a:chExt cx="5580934" cy="444600"/>
          </a:xfrm>
          <a:noFill/>
        </p:grpSpPr>
        <p:sp>
          <p:nvSpPr>
            <p:cNvPr id="109" name="Google Shape;109;p2">
              <a:extLst>
                <a:ext uri="{FF2B5EF4-FFF2-40B4-BE49-F238E27FC236}">
                  <a16:creationId xmlns:a16="http://schemas.microsoft.com/office/drawing/2014/main" id="{27463C9E-EE99-A9D7-FCED-1185005F48F1}"/>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37989E15-3DCD-C8F4-3603-7387C0C582C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Next Lecture</a:t>
              </a:r>
            </a:p>
          </p:txBody>
        </p:sp>
      </p:grpSp>
      <p:sp>
        <p:nvSpPr>
          <p:cNvPr id="111" name="Google Shape;111;p2">
            <a:extLst>
              <a:ext uri="{FF2B5EF4-FFF2-40B4-BE49-F238E27FC236}">
                <a16:creationId xmlns:a16="http://schemas.microsoft.com/office/drawing/2014/main" id="{021A92BF-2EAE-86ED-1A52-97FD472F5620}"/>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buNone/>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buNone/>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7EC51C08-00CA-303F-88CF-6761C177812F}"/>
              </a:ext>
            </a:extLst>
          </p:cNvPr>
          <p:cNvSpPr txBox="1"/>
          <p:nvPr/>
        </p:nvSpPr>
        <p:spPr>
          <a:xfrm>
            <a:off x="75705" y="1222295"/>
            <a:ext cx="6706589" cy="941766"/>
          </a:xfrm>
          <a:prstGeom prst="rect">
            <a:avLst/>
          </a:prstGeom>
          <a:noFill/>
          <a:ln>
            <a:noFill/>
          </a:ln>
        </p:spPr>
        <p:txBody>
          <a:bodyPr spcFirstLastPara="1" wrap="square" lIns="68569" tIns="34275" rIns="68569" bIns="34275" anchor="t" anchorCtr="0">
            <a:spAutoFit/>
          </a:bodyPr>
          <a:lstStyle/>
          <a:p>
            <a:pPr algn="just">
              <a:lnSpc>
                <a:spcPct val="90000"/>
              </a:lnSpc>
            </a:pPr>
            <a:r>
              <a:rPr lang="en-US" sz="2100" dirty="0">
                <a:ea typeface="+mn-lt"/>
                <a:cs typeface="+mn-lt"/>
              </a:rPr>
              <a:t>DevOps culture, Continuous Integration (CI), Continuous Delivery/Deployment (CD), pipeline stages </a:t>
            </a:r>
            <a:r>
              <a:rPr lang="en-US" sz="2100" dirty="0">
                <a:ea typeface="+mn-lt"/>
                <a:cs typeface="+mn-lt"/>
                <a:sym typeface="Arial"/>
              </a:rPr>
              <a:t>(source, build, test, deploy). </a:t>
            </a:r>
            <a:endParaRPr lang="en-US" dirty="0"/>
          </a:p>
        </p:txBody>
      </p:sp>
      <p:sp>
        <p:nvSpPr>
          <p:cNvPr id="7" name="TextBox 6"/>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7</a:t>
            </a:r>
          </a:p>
        </p:txBody>
      </p:sp>
    </p:spTree>
    <p:extLst>
      <p:ext uri="{BB962C8B-B14F-4D97-AF65-F5344CB8AC3E}">
        <p14:creationId xmlns:p14="http://schemas.microsoft.com/office/powerpoint/2010/main" val="1412672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534389" y="806567"/>
            <a:ext cx="6234545" cy="33345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sz="quarter" idx="10"/>
          </p:nvPr>
        </p:nvSpPr>
        <p:spPr>
          <a:xfrm>
            <a:off x="289125" y="1573725"/>
            <a:ext cx="6000750" cy="2186100"/>
          </a:xfrm>
          <a:prstGeom prst="rect">
            <a:avLst/>
          </a:prstGeom>
          <a:noFill/>
          <a:ln>
            <a:noFill/>
          </a:ln>
        </p:spPr>
        <p:txBody>
          <a:bodyPr spcFirstLastPara="1" vert="horz" wrap="square" lIns="68569" tIns="34275" rIns="68569" bIns="34275" rtlCol="0" anchor="t" anchorCtr="0">
            <a:normAutofit/>
          </a:bodyPr>
          <a:lstStyle/>
          <a:p>
            <a:pPr algn="just">
              <a:buNone/>
            </a:pPr>
            <a:r>
              <a:rPr lang="en-US" sz="1800" dirty="0">
                <a:ea typeface="+mn-lt"/>
                <a:cs typeface="+mn-lt"/>
                <a:sym typeface="Times New Roman"/>
              </a:rPr>
              <a:t>1. What is serverless computing?</a:t>
            </a:r>
            <a:endParaRPr lang="en-US" dirty="0">
              <a:ea typeface="+mn-lt"/>
              <a:cs typeface="+mn-lt"/>
              <a:sym typeface="Times New Roman"/>
            </a:endParaRPr>
          </a:p>
          <a:p>
            <a:pPr algn="just">
              <a:buNone/>
            </a:pPr>
            <a:r>
              <a:rPr lang="en-US" sz="1800" dirty="0">
                <a:ea typeface="+mn-lt"/>
                <a:cs typeface="+mn-lt"/>
                <a:sym typeface="Times New Roman"/>
              </a:rPr>
              <a:t>2. What is </a:t>
            </a:r>
            <a:r>
              <a:rPr lang="en-US" sz="1800" dirty="0" err="1">
                <a:ea typeface="+mn-lt"/>
                <a:cs typeface="+mn-lt"/>
                <a:sym typeface="Times New Roman"/>
              </a:rPr>
              <a:t>FaaS</a:t>
            </a:r>
            <a:r>
              <a:rPr lang="en-US" sz="1800" dirty="0">
                <a:ea typeface="+mn-lt"/>
                <a:cs typeface="+mn-lt"/>
                <a:sym typeface="Times New Roman"/>
              </a:rPr>
              <a:t> in serverless architecture?</a:t>
            </a:r>
            <a:endParaRPr lang="en-US" dirty="0">
              <a:ea typeface="+mn-lt"/>
              <a:cs typeface="+mn-lt"/>
              <a:sym typeface="Times New Roman"/>
            </a:endParaRPr>
          </a:p>
          <a:p>
            <a:pPr algn="just">
              <a:buNone/>
            </a:pPr>
            <a:r>
              <a:rPr lang="en-US" sz="1800" dirty="0">
                <a:ea typeface="+mn-lt"/>
                <a:cs typeface="+mn-lt"/>
                <a:sym typeface="Times New Roman"/>
              </a:rPr>
              <a:t>3. Why is serverless considered no-ops?</a:t>
            </a:r>
            <a:endParaRPr lang="en-US" dirty="0">
              <a:ea typeface="+mn-lt"/>
              <a:cs typeface="+mn-lt"/>
              <a:sym typeface="Times New Roman"/>
            </a:endParaRPr>
          </a:p>
          <a:p>
            <a:pPr algn="just">
              <a:buNone/>
            </a:pPr>
            <a:r>
              <a:rPr lang="en-US" sz="1800" dirty="0">
                <a:ea typeface="+mn-lt"/>
                <a:cs typeface="+mn-lt"/>
                <a:sym typeface="Times New Roman"/>
              </a:rPr>
              <a:t>4. What causes cold starts in serverless?</a:t>
            </a:r>
            <a:endParaRPr lang="en-US" dirty="0">
              <a:ea typeface="+mn-lt"/>
              <a:cs typeface="+mn-lt"/>
              <a:sym typeface="Times New Roman"/>
            </a:endParaRPr>
          </a:p>
          <a:p>
            <a:pPr algn="just">
              <a:buNone/>
            </a:pPr>
            <a:r>
              <a:rPr lang="en-US" sz="1800" dirty="0">
                <a:ea typeface="+mn-lt"/>
                <a:cs typeface="+mn-lt"/>
                <a:sym typeface="Times New Roman"/>
              </a:rPr>
              <a:t>5. Is serverless suitable for all applications?</a:t>
            </a:r>
            <a:endParaRPr lang="en-US" dirty="0">
              <a:ea typeface="+mn-lt"/>
              <a:cs typeface="+mn-lt"/>
              <a:sym typeface="Times New Roman"/>
            </a:endParaRPr>
          </a:p>
        </p:txBody>
      </p:sp>
      <p:sp>
        <p:nvSpPr>
          <p:cNvPr id="6" name="TextBox 5"/>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8</a:t>
            </a:r>
          </a:p>
        </p:txBody>
      </p:sp>
    </p:spTree>
    <p:extLst>
      <p:ext uri="{BB962C8B-B14F-4D97-AF65-F5344CB8AC3E}">
        <p14:creationId xmlns:p14="http://schemas.microsoft.com/office/powerpoint/2010/main" val="42669219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561108" y="806567"/>
            <a:ext cx="6207826" cy="33345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algn="ctr">
                <a:lnSpc>
                  <a:spcPct val="90000"/>
                </a:lnSpc>
                <a:buClr>
                  <a:srgbClr val="000000"/>
                </a:buClr>
                <a:buSzPts val="1900"/>
              </a:pPr>
              <a:r>
                <a:rPr lang="en-US" sz="3000" b="1" dirty="0">
                  <a:latin typeface="Calibri" panose="020F0502020204030204" pitchFamily="34" charset="0"/>
                  <a:ea typeface="Calibri" panose="020F0502020204030204" pitchFamily="34" charset="0"/>
                  <a:cs typeface="Calibri" panose="020F0502020204030204" pitchFamily="34" charset="0"/>
                </a:rPr>
                <a:t>R</a:t>
              </a:r>
              <a:r>
                <a:rPr lang="en-US" sz="3000" b="1" dirty="0">
                  <a:latin typeface="Calibri" panose="020F0502020204030204" pitchFamily="34" charset="0"/>
                  <a:ea typeface="Calibri" panose="020F0502020204030204" pitchFamily="34" charset="0"/>
                  <a:cs typeface="Calibri" panose="020F0502020204030204" pitchFamily="34" charset="0"/>
                  <a:sym typeface="Arial"/>
                </a:rPr>
                <a:t>eferences/ Articles/ Videos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buNone/>
            </a:pPr>
            <a:r>
              <a:rPr lang="en-US" sz="1800">
                <a:solidFill>
                  <a:schemeClr val="bg2"/>
                </a:solidFill>
                <a:latin typeface="Times New Roman"/>
                <a:ea typeface="Times New Roman"/>
                <a:cs typeface="Times New Roman"/>
                <a:sym typeface="Times New Roman"/>
              </a:rPr>
              <a:t> </a:t>
            </a:r>
            <a:endParaRPr sz="1800" b="1">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buNone/>
            </a:pPr>
            <a:r>
              <a:rPr lang="en-US" sz="1800">
                <a:solidFill>
                  <a:schemeClr val="bg2"/>
                </a:solidFill>
                <a:latin typeface="Times New Roman"/>
                <a:ea typeface="Times New Roman"/>
                <a:cs typeface="Times New Roman"/>
                <a:sym typeface="Times New Roman"/>
              </a:rPr>
              <a:t> </a:t>
            </a:r>
            <a:endParaRPr sz="180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E730872A-040D-2549-AF98-86A7A4840E43}"/>
              </a:ext>
            </a:extLst>
          </p:cNvPr>
          <p:cNvSpPr txBox="1"/>
          <p:nvPr/>
        </p:nvSpPr>
        <p:spPr>
          <a:xfrm>
            <a:off x="62346" y="1468978"/>
            <a:ext cx="6706589" cy="2331377"/>
          </a:xfrm>
          <a:prstGeom prst="rect">
            <a:avLst/>
          </a:prstGeom>
          <a:noFill/>
          <a:ln>
            <a:noFill/>
          </a:ln>
        </p:spPr>
        <p:txBody>
          <a:bodyPr spcFirstLastPara="1" wrap="square" lIns="68569" tIns="34275" rIns="68569" bIns="34275" anchor="t" anchorCtr="0">
            <a:spAutoFit/>
          </a:bodyPr>
          <a:lstStyle/>
          <a:p>
            <a:pPr marL="285750" indent="-285750" algn="just">
              <a:buFont typeface="Arial"/>
              <a:buChar char="•"/>
            </a:pPr>
            <a:r>
              <a:rPr lang="en-US" sz="2100" dirty="0">
                <a:ea typeface="+mn-lt"/>
                <a:cs typeface="+mn-lt"/>
                <a:sym typeface="Arial"/>
                <a:hlinkClick r:id="rId3"/>
              </a:rPr>
              <a:t>https://aws.amazon.com/serverless/</a:t>
            </a:r>
            <a:endParaRPr lang="en-US">
              <a:sym typeface="Arial"/>
            </a:endParaRPr>
          </a:p>
          <a:p>
            <a:pPr marL="285750" indent="-285750" algn="just">
              <a:buFont typeface="Arial"/>
              <a:buChar char="•"/>
            </a:pPr>
            <a:r>
              <a:rPr lang="en-US" sz="2100" dirty="0">
                <a:ea typeface="+mn-lt"/>
                <a:cs typeface="+mn-lt"/>
                <a:sym typeface="Arial"/>
                <a:hlinkClick r:id="rId4"/>
              </a:rPr>
              <a:t>https://learn.microsoft.com/en-us/azure/azure-functions/functions-overview</a:t>
            </a:r>
            <a:endParaRPr lang="en-US">
              <a:sym typeface="Arial"/>
            </a:endParaRPr>
          </a:p>
          <a:p>
            <a:pPr marL="285750" lvl="0" indent="-285750" algn="just">
              <a:buFont typeface="Arial"/>
              <a:buChar char="•"/>
            </a:pPr>
            <a:r>
              <a:rPr lang="en-US" sz="2100" dirty="0">
                <a:ea typeface="+mn-lt"/>
                <a:cs typeface="+mn-lt"/>
                <a:sym typeface="Arial"/>
                <a:hlinkClick r:id="rId5"/>
              </a:rPr>
              <a:t>https://cloud.google</a:t>
            </a:r>
            <a:r>
              <a:rPr lang="en-US" sz="2100" dirty="0">
                <a:ea typeface="+mn-lt"/>
                <a:cs typeface="+mn-lt"/>
                <a:hlinkClick r:id="rId5"/>
              </a:rPr>
              <a:t>.com/serverless</a:t>
            </a:r>
            <a:endParaRPr lang="en-US"/>
          </a:p>
          <a:p>
            <a:pPr marL="285750" indent="-285750" algn="just">
              <a:buFont typeface="Arial"/>
              <a:buChar char="•"/>
            </a:pPr>
            <a:r>
              <a:rPr lang="en-US" sz="2100" dirty="0">
                <a:ea typeface="+mn-lt"/>
                <a:cs typeface="+mn-lt"/>
                <a:sym typeface="Arial"/>
                <a:hlinkClick r:id="rId6"/>
              </a:rPr>
              <a:t>https://www.ibm.com/topics/serverless</a:t>
            </a:r>
            <a:endParaRPr lang="en-US"/>
          </a:p>
          <a:p>
            <a:pPr marL="285750" indent="-285750" algn="just">
              <a:buFont typeface="Arial"/>
              <a:buChar char="•"/>
            </a:pPr>
            <a:r>
              <a:rPr lang="en-US" sz="2100" dirty="0">
                <a:ea typeface="+mn-lt"/>
                <a:cs typeface="+mn-lt"/>
                <a:sym typeface="Arial"/>
                <a:hlinkClick r:id="rId7"/>
              </a:rPr>
              <a:t>https://www.redhat.com/en/topics/cloud-native-apps/what-is-serverless</a:t>
            </a:r>
            <a:r>
              <a:rPr lang="en-US" dirty="0">
                <a:ea typeface="+mn-lt"/>
                <a:cs typeface="+mn-lt"/>
                <a:sym typeface="Arial"/>
              </a:rPr>
              <a:t> </a:t>
            </a:r>
            <a:endParaRPr lang="en-US" dirty="0"/>
          </a:p>
        </p:txBody>
      </p:sp>
      <p:sp>
        <p:nvSpPr>
          <p:cNvPr id="7" name="TextBox 6"/>
          <p:cNvSpPr txBox="1"/>
          <p:nvPr/>
        </p:nvSpPr>
        <p:spPr>
          <a:xfrm>
            <a:off x="6457143" y="707428"/>
            <a:ext cx="26000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9</a:t>
            </a:r>
          </a:p>
        </p:txBody>
      </p:sp>
    </p:spTree>
    <p:extLst>
      <p:ext uri="{BB962C8B-B14F-4D97-AF65-F5344CB8AC3E}">
        <p14:creationId xmlns:p14="http://schemas.microsoft.com/office/powerpoint/2010/main" val="170161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534389" y="806567"/>
            <a:ext cx="6234545" cy="33345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68569" tIns="68569" rIns="68569" bIns="68569" anchor="ctr" anchorCtr="0">
              <a:noAutofit/>
            </a:bodyPr>
            <a:lstStyle/>
            <a:p>
              <a:endParaRPr sz="1350">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54281" tIns="54281" rIns="54281" bIns="54281" anchor="ctr" anchorCtr="0">
              <a:noAutofit/>
            </a:bodyPr>
            <a:lstStyle/>
            <a:p>
              <a:pPr lvl="0" algn="ctr">
                <a:lnSpc>
                  <a:spcPct val="90000"/>
                </a:lnSpc>
                <a:buSzPts val="1900"/>
              </a:pPr>
              <a:r>
                <a:rPr lang="en-US" sz="3000" b="1" dirty="0">
                  <a:latin typeface="Calibri" panose="020F0502020204030204" pitchFamily="34" charset="0"/>
                  <a:ea typeface="Calibri" panose="020F0502020204030204" pitchFamily="34" charset="0"/>
                  <a:cs typeface="Calibri" panose="020F0502020204030204" pitchFamily="34" charset="0"/>
                  <a:sym typeface="Arial"/>
                </a:rPr>
                <a:t>Class-Wise </a:t>
              </a:r>
              <a:r>
                <a:rPr lang="en-IN" sz="3000" b="1" dirty="0">
                  <a:latin typeface="Calibri" panose="020F0502020204030204" pitchFamily="34" charset="0"/>
                  <a:ea typeface="Calibri" panose="020F0502020204030204" pitchFamily="34" charset="0"/>
                  <a:cs typeface="Calibri" panose="020F0502020204030204" pitchFamily="34" charset="0"/>
                </a:rPr>
                <a:t>Feedback</a:t>
              </a:r>
              <a:endParaRPr lang="en-US" sz="3000" b="1" dirty="0">
                <a:latin typeface="Calibri" panose="020F0502020204030204" pitchFamily="34" charset="0"/>
                <a:ea typeface="Calibri" panose="020F0502020204030204" pitchFamily="34" charset="0"/>
                <a:cs typeface="Calibri" panose="020F0502020204030204" pitchFamily="34" charset="0"/>
                <a:sym typeface="Arial"/>
              </a:endParaRPr>
            </a:p>
          </p:txBody>
        </p:sp>
      </p:grpSp>
      <p:sp>
        <p:nvSpPr>
          <p:cNvPr id="6" name="TextBox 5"/>
          <p:cNvSpPr txBox="1"/>
          <p:nvPr/>
        </p:nvSpPr>
        <p:spPr>
          <a:xfrm>
            <a:off x="6457143" y="707428"/>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11</a:t>
            </a:r>
          </a:p>
        </p:txBody>
      </p:sp>
      <p:pic>
        <p:nvPicPr>
          <p:cNvPr id="5" name="Picture 4">
            <a:extLst>
              <a:ext uri="{FF2B5EF4-FFF2-40B4-BE49-F238E27FC236}">
                <a16:creationId xmlns:a16="http://schemas.microsoft.com/office/drawing/2014/main" id="{FE6AF3EB-4640-211E-3594-A86D4F88D988}"/>
              </a:ext>
            </a:extLst>
          </p:cNvPr>
          <p:cNvPicPr>
            <a:picLocks noChangeAspect="1"/>
          </p:cNvPicPr>
          <p:nvPr/>
        </p:nvPicPr>
        <p:blipFill>
          <a:blip r:embed="rId3"/>
          <a:stretch>
            <a:fillRect/>
          </a:stretch>
        </p:blipFill>
        <p:spPr>
          <a:xfrm>
            <a:off x="1974354" y="1156295"/>
            <a:ext cx="2909292" cy="2909292"/>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sz="quarter" idx="10"/>
          </p:nvPr>
        </p:nvSpPr>
        <p:spPr>
          <a:xfrm>
            <a:off x="289125" y="1709456"/>
            <a:ext cx="6000750" cy="2186100"/>
          </a:xfrm>
          <a:prstGeom prst="rect">
            <a:avLst/>
          </a:prstGeom>
          <a:noFill/>
          <a:ln>
            <a:noFill/>
          </a:ln>
        </p:spPr>
        <p:txBody>
          <a:bodyPr spcFirstLastPara="1" vert="horz" wrap="square" lIns="68569" tIns="34275" rIns="68569" bIns="34275" rtlCol="0" anchor="t" anchorCtr="0">
            <a:normAutofit/>
          </a:bodyPr>
          <a:lstStyle/>
          <a:p>
            <a:pPr marL="257175" indent="-257175" algn="just">
              <a:lnSpc>
                <a:spcPct val="100000"/>
              </a:lnSpc>
              <a:spcBef>
                <a:spcPts val="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b="1" dirty="0">
              <a:solidFill>
                <a:schemeClr val="bg2"/>
              </a:solidFill>
              <a:latin typeface="Times New Roman"/>
              <a:ea typeface="Times New Roman"/>
              <a:cs typeface="Times New Roman"/>
              <a:sym typeface="Times New Roman"/>
            </a:endParaRPr>
          </a:p>
          <a:p>
            <a:pPr marL="257175" indent="-257175" algn="just">
              <a:lnSpc>
                <a:spcPct val="100000"/>
              </a:lnSpc>
              <a:spcBef>
                <a:spcPts val="360"/>
              </a:spcBef>
              <a:buClr>
                <a:schemeClr val="dk1"/>
              </a:buClr>
              <a:buSzPts val="2400"/>
            </a:pPr>
            <a:r>
              <a:rPr lang="en-US" sz="1800" dirty="0">
                <a:solidFill>
                  <a:schemeClr val="bg2"/>
                </a:solidFill>
                <a:latin typeface="Times New Roman"/>
                <a:ea typeface="Times New Roman"/>
                <a:cs typeface="Times New Roman"/>
                <a:sym typeface="Times New Roman"/>
              </a:rPr>
              <a:t> </a:t>
            </a:r>
            <a:endParaRPr sz="1800"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289126" y="2270562"/>
            <a:ext cx="6353669" cy="900216"/>
          </a:xfrm>
          <a:prstGeom prst="rect">
            <a:avLst/>
          </a:prstGeom>
          <a:noFill/>
          <a:ln>
            <a:noFill/>
          </a:ln>
        </p:spPr>
        <p:txBody>
          <a:bodyPr spcFirstLastPara="1" wrap="square" lIns="68569" tIns="34275" rIns="68569" bIns="34275" anchor="t" anchorCtr="0">
            <a:spAutoFit/>
          </a:bodyPr>
          <a:lstStyle/>
          <a:p>
            <a:pPr algn="ctr">
              <a:lnSpc>
                <a:spcPct val="90000"/>
              </a:lnSpc>
            </a:pPr>
            <a:r>
              <a:rPr lang="en-US" sz="6000" b="1"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289125" y="3604081"/>
            <a:ext cx="3429000" cy="553998"/>
          </a:xfrm>
          <a:prstGeom prst="rect">
            <a:avLst/>
          </a:prstGeom>
          <a:noFill/>
        </p:spPr>
        <p:txBody>
          <a:bodyPr wrap="square">
            <a:spAutoFit/>
          </a:bodyPr>
          <a:lstStyle/>
          <a:p>
            <a:r>
              <a:rPr lang="en-US" sz="1500" dirty="0">
                <a:latin typeface="Calibri" panose="020F0502020204030204" pitchFamily="34" charset="0"/>
                <a:ea typeface="Calibri" panose="020F0502020204030204" pitchFamily="34" charset="0"/>
                <a:cs typeface="Calibri" panose="020F0502020204030204" pitchFamily="34" charset="0"/>
              </a:rPr>
              <a:t>For queries</a:t>
            </a:r>
          </a:p>
          <a:p>
            <a:r>
              <a:rPr lang="en-US" sz="1500" dirty="0">
                <a:latin typeface="Calibri" panose="020F0502020204030204" pitchFamily="34" charset="0"/>
                <a:ea typeface="Calibri" panose="020F0502020204030204" pitchFamily="34" charset="0"/>
                <a:cs typeface="Calibri" panose="020F0502020204030204" pitchFamily="34" charset="0"/>
              </a:rPr>
              <a:t>Email: sanjay.e18823@cumail.in</a:t>
            </a:r>
          </a:p>
        </p:txBody>
      </p:sp>
      <p:sp>
        <p:nvSpPr>
          <p:cNvPr id="5" name="TextBox 4"/>
          <p:cNvSpPr txBox="1"/>
          <p:nvPr/>
        </p:nvSpPr>
        <p:spPr>
          <a:xfrm>
            <a:off x="6457143" y="707428"/>
            <a:ext cx="335348" cy="253916"/>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1050" dirty="0"/>
              <a:t>12</a:t>
            </a:r>
          </a:p>
        </p:txBody>
      </p:sp>
    </p:spTree>
    <p:extLst>
      <p:ext uri="{BB962C8B-B14F-4D97-AF65-F5344CB8AC3E}">
        <p14:creationId xmlns:p14="http://schemas.microsoft.com/office/powerpoint/2010/main" val="178612720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695</TotalTime>
  <Words>1310</Words>
  <Application>Microsoft Office PowerPoint</Application>
  <PresentationFormat>Custom</PresentationFormat>
  <Paragraphs>119</Paragraphs>
  <Slides>21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Calibri</vt:lpstr>
      <vt:lpstr>Vladimir Script</vt:lpstr>
      <vt:lpstr>Calibri Light</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SRIJAN TRIPATHI</cp:lastModifiedBy>
  <cp:revision>153</cp:revision>
  <dcterms:modified xsi:type="dcterms:W3CDTF">2026-02-14T13:59:27Z</dcterms:modified>
</cp:coreProperties>
</file>