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49" r:id="rId1"/>
  </p:sldMasterIdLst>
  <p:notesMasterIdLst>
    <p:notesMasterId r:id="rId26"/>
  </p:notesMasterIdLst>
  <p:sldIdLst>
    <p:sldId id="256" r:id="rId2"/>
    <p:sldId id="308" r:id="rId3"/>
    <p:sldId id="283" r:id="rId4"/>
    <p:sldId id="309" r:id="rId5"/>
    <p:sldId id="322" r:id="rId6"/>
    <p:sldId id="310" r:id="rId7"/>
    <p:sldId id="323" r:id="rId8"/>
    <p:sldId id="311" r:id="rId9"/>
    <p:sldId id="324" r:id="rId10"/>
    <p:sldId id="312" r:id="rId11"/>
    <p:sldId id="325" r:id="rId12"/>
    <p:sldId id="314" r:id="rId13"/>
    <p:sldId id="326" r:id="rId14"/>
    <p:sldId id="315" r:id="rId15"/>
    <p:sldId id="316" r:id="rId16"/>
    <p:sldId id="327" r:id="rId17"/>
    <p:sldId id="317" r:id="rId18"/>
    <p:sldId id="292" r:id="rId19"/>
    <p:sldId id="321" r:id="rId20"/>
    <p:sldId id="287" r:id="rId21"/>
    <p:sldId id="288" r:id="rId22"/>
    <p:sldId id="300" r:id="rId23"/>
    <p:sldId id="307" r:id="rId24"/>
    <p:sldId id="305" r:id="rId25"/>
  </p:sldIdLst>
  <p:sldSz cx="6858000" cy="5143500"/>
  <p:notesSz cx="6858000" cy="9144000"/>
  <p:embeddedFontLst>
    <p:embeddedFont>
      <p:font typeface="Vladimir Script" panose="03050402040407070305" pitchFamily="66" charset="0"/>
      <p:regular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4B69EE-6E90-4FC4-B5CA-FE72E570A55A}" v="134" dt="2025-12-15T07:11:21.794"/>
  </p1510:revLst>
</p1510:revInfo>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134" d="100"/>
          <a:sy n="134" d="100"/>
        </p:scale>
        <p:origin x="1836" y="126"/>
      </p:cViewPr>
      <p:guideLst>
        <p:guide orient="horz" pos="16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9874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4386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7370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841772"/>
            <a:ext cx="58293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2701528"/>
            <a:ext cx="51435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204125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2099603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1282305"/>
            <a:ext cx="5915025"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3442099"/>
            <a:ext cx="5915025"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8120348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1369219"/>
            <a:ext cx="291465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1369219"/>
            <a:ext cx="291465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7B67A6-AB89-4176-B42A-5A339055BC27}"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7675575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273845"/>
            <a:ext cx="5915025"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1260872"/>
            <a:ext cx="2901255"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1878806"/>
            <a:ext cx="2901255"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1260872"/>
            <a:ext cx="2915543"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1878806"/>
            <a:ext cx="2915543"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7B67A6-AB89-4176-B42A-5A339055BC27}" type="datetimeFigureOut">
              <a:rPr lang="en-US" smtClean="0"/>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17741612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7B67A6-AB89-4176-B42A-5A339055BC27}"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95017152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7B67A6-AB89-4176-B42A-5A339055BC27}" type="datetimeFigureOut">
              <a:rPr lang="en-US" smtClean="0"/>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27012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740570"/>
            <a:ext cx="3471863"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A7B67A6-AB89-4176-B42A-5A339055BC27}"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11923281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740570"/>
            <a:ext cx="3471863"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A7B67A6-AB89-4176-B42A-5A339055BC27}"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65018565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62820739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273844"/>
            <a:ext cx="1478756"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273844"/>
            <a:ext cx="4350544"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72634648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23180" y="22034"/>
            <a:ext cx="489233" cy="1048954"/>
          </a:xfrm>
          <a:prstGeom prst="rect">
            <a:avLst/>
          </a:prstGeom>
        </p:spPr>
      </p:pic>
      <p:sp>
        <p:nvSpPr>
          <p:cNvPr id="4" name="Text Placeholder 3">
            <a:extLst>
              <a:ext uri="{FF2B5EF4-FFF2-40B4-BE49-F238E27FC236}">
                <a16:creationId xmlns:a16="http://schemas.microsoft.com/office/drawing/2014/main" id="{0E950913-C93A-1C70-E5AF-C3A406E963F0}"/>
              </a:ext>
            </a:extLst>
          </p:cNvPr>
          <p:cNvSpPr>
            <a:spLocks noGrp="1"/>
          </p:cNvSpPr>
          <p:nvPr>
            <p:ph type="body" sz="quarter" idx="10"/>
          </p:nvPr>
        </p:nvSpPr>
        <p:spPr>
          <a:xfrm>
            <a:off x="677466" y="335521"/>
            <a:ext cx="5429250" cy="685800"/>
          </a:xfrm>
        </p:spPr>
        <p:txBody>
          <a:bodyPr/>
          <a:lstStyle>
            <a:lvl1pPr>
              <a:buNone/>
              <a:defRPr sz="2400">
                <a:solidFill>
                  <a:schemeClr val="tx1"/>
                </a:solidFill>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E602F07A-366A-9ED8-5F53-3E63225FEECF}"/>
              </a:ext>
            </a:extLst>
          </p:cNvPr>
          <p:cNvSpPr>
            <a:spLocks noGrp="1"/>
          </p:cNvSpPr>
          <p:nvPr>
            <p:ph type="body" sz="quarter" idx="11"/>
          </p:nvPr>
        </p:nvSpPr>
        <p:spPr>
          <a:xfrm>
            <a:off x="677467" y="1557338"/>
            <a:ext cx="2882162" cy="2286000"/>
          </a:xfrm>
        </p:spPr>
        <p:txBody>
          <a:bodyPr/>
          <a:lstStyle>
            <a:lvl1pPr>
              <a:defRPr sz="1050">
                <a:solidFill>
                  <a:schemeClr val="tx1"/>
                </a:solidFill>
              </a:defRPr>
            </a:lvl1pPr>
          </a:lstStyle>
          <a:p>
            <a:pPr lvl="0"/>
            <a:r>
              <a:rPr lang="en-US" dirty="0"/>
              <a:t>Click to edit Master text styles</a:t>
            </a:r>
          </a:p>
        </p:txBody>
      </p:sp>
      <p:sp>
        <p:nvSpPr>
          <p:cNvPr id="8" name="Picture Placeholder 7">
            <a:extLst>
              <a:ext uri="{FF2B5EF4-FFF2-40B4-BE49-F238E27FC236}">
                <a16:creationId xmlns:a16="http://schemas.microsoft.com/office/drawing/2014/main" id="{C9F03728-5998-E64B-10FD-60D85009370D}"/>
              </a:ext>
            </a:extLst>
          </p:cNvPr>
          <p:cNvSpPr>
            <a:spLocks noGrp="1"/>
          </p:cNvSpPr>
          <p:nvPr>
            <p:ph type="pic" sz="quarter" idx="12"/>
          </p:nvPr>
        </p:nvSpPr>
        <p:spPr>
          <a:xfrm>
            <a:off x="4261247" y="1557338"/>
            <a:ext cx="2433638" cy="2590800"/>
          </a:xfrm>
        </p:spPr>
        <p:txBody>
          <a:bodyPr/>
          <a:lstStyle/>
          <a:p>
            <a:endParaRPr lang="en-US"/>
          </a:p>
        </p:txBody>
      </p:sp>
      <p:sp>
        <p:nvSpPr>
          <p:cNvPr id="10" name="Text Placeholder 9">
            <a:extLst>
              <a:ext uri="{FF2B5EF4-FFF2-40B4-BE49-F238E27FC236}">
                <a16:creationId xmlns:a16="http://schemas.microsoft.com/office/drawing/2014/main" id="{7336B1AD-2445-9EF4-3525-AF309F3302FE}"/>
              </a:ext>
            </a:extLst>
          </p:cNvPr>
          <p:cNvSpPr>
            <a:spLocks noGrp="1"/>
          </p:cNvSpPr>
          <p:nvPr>
            <p:ph type="body" sz="quarter" idx="13"/>
          </p:nvPr>
        </p:nvSpPr>
        <p:spPr>
          <a:xfrm>
            <a:off x="4326731" y="4343400"/>
            <a:ext cx="2368154" cy="469900"/>
          </a:xfrm>
        </p:spPr>
        <p:txBody>
          <a:bodyPr/>
          <a:lstStyle/>
          <a:p>
            <a:pPr lvl="0"/>
            <a:r>
              <a:rPr lang="en-US" dirty="0"/>
              <a:t>Click to edit Master text styles</a:t>
            </a:r>
          </a:p>
          <a:p>
            <a:pPr lvl="4"/>
            <a:r>
              <a:rPr lang="en-US" dirty="0"/>
              <a:t>Second level</a:t>
            </a:r>
          </a:p>
          <a:p>
            <a:pPr lvl="5"/>
            <a:r>
              <a:rPr lang="en-US" dirty="0"/>
              <a:t>Third level</a:t>
            </a:r>
          </a:p>
          <a:p>
            <a:pPr lvl="6"/>
            <a:r>
              <a:rPr lang="en-US" dirty="0"/>
              <a:t>Fourth level</a:t>
            </a:r>
          </a:p>
          <a:p>
            <a:pPr lvl="7"/>
            <a:r>
              <a:rPr lang="en-US" dirty="0"/>
              <a:t>Fifth level</a:t>
            </a:r>
          </a:p>
        </p:txBody>
      </p:sp>
    </p:spTree>
    <p:extLst>
      <p:ext uri="{BB962C8B-B14F-4D97-AF65-F5344CB8AC3E}">
        <p14:creationId xmlns:p14="http://schemas.microsoft.com/office/powerpoint/2010/main" val="777389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23180" y="22034"/>
            <a:ext cx="489233" cy="1048954"/>
          </a:xfrm>
          <a:prstGeom prst="rect">
            <a:avLst/>
          </a:prstGeom>
        </p:spPr>
      </p:pic>
      <p:sp>
        <p:nvSpPr>
          <p:cNvPr id="4" name="Text Placeholder 3">
            <a:extLst>
              <a:ext uri="{FF2B5EF4-FFF2-40B4-BE49-F238E27FC236}">
                <a16:creationId xmlns:a16="http://schemas.microsoft.com/office/drawing/2014/main" id="{4BA13BD4-9A3C-4AF3-1874-CCFFFAA1ECCC}"/>
              </a:ext>
            </a:extLst>
          </p:cNvPr>
          <p:cNvSpPr>
            <a:spLocks noGrp="1"/>
          </p:cNvSpPr>
          <p:nvPr>
            <p:ph type="body" sz="quarter" idx="10"/>
          </p:nvPr>
        </p:nvSpPr>
        <p:spPr>
          <a:xfrm>
            <a:off x="663178" y="1428750"/>
            <a:ext cx="5870972" cy="2640013"/>
          </a:xfrm>
        </p:spPr>
        <p:txBody>
          <a:bodyPr/>
          <a:lstStyle>
            <a:lvl1pPr>
              <a:defRPr sz="15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59209FEA-0916-1EDA-EB31-F2DE83AA9096}"/>
              </a:ext>
            </a:extLst>
          </p:cNvPr>
          <p:cNvSpPr>
            <a:spLocks noGrp="1"/>
          </p:cNvSpPr>
          <p:nvPr>
            <p:ph type="body" sz="quarter" idx="11"/>
          </p:nvPr>
        </p:nvSpPr>
        <p:spPr>
          <a:xfrm>
            <a:off x="663178" y="287339"/>
            <a:ext cx="5870972" cy="904875"/>
          </a:xfrm>
        </p:spPr>
        <p:txBody>
          <a:bodyPr/>
          <a:lstStyle>
            <a:lvl1pPr algn="ctr">
              <a:buNone/>
              <a:defRPr sz="2400" b="1"/>
            </a:lvl1pPr>
            <a:lvl2pPr>
              <a:buNone/>
              <a:defRPr/>
            </a:lvl2pPr>
          </a:lstStyle>
          <a:p>
            <a:pPr lvl="0"/>
            <a:r>
              <a:rPr lang="en-US" dirty="0"/>
              <a:t>Click to edit Master text styles</a:t>
            </a:r>
          </a:p>
        </p:txBody>
      </p:sp>
    </p:spTree>
    <p:extLst>
      <p:ext uri="{BB962C8B-B14F-4D97-AF65-F5344CB8AC3E}">
        <p14:creationId xmlns:p14="http://schemas.microsoft.com/office/powerpoint/2010/main" val="2379544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233775" y="445025"/>
            <a:ext cx="639045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233775" y="445025"/>
            <a:ext cx="639045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1DD4-6C8D-C0C6-BB50-842B2E62F1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163B81-62E5-6275-6BE9-CF5DC63853B7}"/>
              </a:ext>
            </a:extLst>
          </p:cNvPr>
          <p:cNvSpPr>
            <a:spLocks noGrp="1"/>
          </p:cNvSpPr>
          <p:nvPr>
            <p:ph type="dt" sz="half" idx="10"/>
          </p:nvPr>
        </p:nvSpPr>
        <p:spPr/>
        <p:txBody>
          <a:bodyPr/>
          <a:lstStyle/>
          <a:p>
            <a:fld id="{FA7B67A6-AB89-4176-B42A-5A339055BC27}" type="datetimeFigureOut">
              <a:rPr lang="en-US" smtClean="0"/>
              <a:t>2/14/2026</a:t>
            </a:fld>
            <a:endParaRPr lang="en-US"/>
          </a:p>
        </p:txBody>
      </p:sp>
      <p:sp>
        <p:nvSpPr>
          <p:cNvPr id="4" name="Footer Placeholder 3">
            <a:extLst>
              <a:ext uri="{FF2B5EF4-FFF2-40B4-BE49-F238E27FC236}">
                <a16:creationId xmlns:a16="http://schemas.microsoft.com/office/drawing/2014/main" id="{349147D2-CFFF-1F50-8F41-BF143B0C71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26CD1F-01E2-6C5B-6C18-864DEF5CDE1B}"/>
              </a:ext>
            </a:extLst>
          </p:cNvPr>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89146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A7B67A6-AB89-4176-B42A-5A339055BC27}" type="datetimeFigureOut">
              <a:rPr lang="en-US" smtClean="0"/>
              <a:t>2/14/2026</a:t>
            </a:fld>
            <a:endParaRPr lang="en-US"/>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0000000-1234-1234-1234-123412341234}" type="slidenum">
              <a:rPr lang="en-US" smtClean="0"/>
              <a:pPr/>
              <a:t>‹#›</a:t>
            </a:fld>
            <a:endParaRPr lang="en-US"/>
          </a:p>
        </p:txBody>
      </p:sp>
    </p:spTree>
    <p:extLst>
      <p:ext uri="{BB962C8B-B14F-4D97-AF65-F5344CB8AC3E}">
        <p14:creationId xmlns:p14="http://schemas.microsoft.com/office/powerpoint/2010/main" val="238559931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662" r:id="rId14"/>
    <p:sldLayoutId id="2147483663" r:id="rId15"/>
    <p:sldLayoutId id="2147483678" r:id="rId1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oogle.com/url?sa=t&amp;source=web&amp;rct=j&amp;url=https%3A%2F%2Fmedium.com%2F%40pashak%2Funderstanding-microservices-a-brief-overview-and-patterns-f22f8ee8e411&amp;ved=0CBkQjhxqFwoTCOCsv46pwJEDFQAAAAAdAAAAABBZ&amp;opi=89978449" TargetMode="Externa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onlinecourses.nptel.ac.in/noc21_cs14/preview"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onlinecourses.nptel.ac.in/noc24_cs131/preview" TargetMode="External"/><Relationship Id="rId5" Type="http://schemas.openxmlformats.org/officeDocument/2006/relationships/hyperlink" Target="https://onlinecourses.nptel.ac.in/noc20_cs55/preview" TargetMode="External"/><Relationship Id="rId4" Type="http://schemas.openxmlformats.org/officeDocument/2006/relationships/hyperlink" Target="https://onlinecourses.nptel.ac.in/noc26_cs55/preview"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martinfowler.com/articles/microservices.html" TargetMode="External"/><Relationship Id="rId7" Type="http://schemas.openxmlformats.org/officeDocument/2006/relationships/hyperlink" Target="https://www.nist.gov/itl/ssd/software-quality-group"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redhat.com/en/topics/microservices" TargetMode="External"/><Relationship Id="rId5" Type="http://schemas.openxmlformats.org/officeDocument/2006/relationships/hyperlink" Target="https://learn.microsoft.com/en-us/azure/architecture/microservices/" TargetMode="External"/><Relationship Id="rId4" Type="http://schemas.openxmlformats.org/officeDocument/2006/relationships/hyperlink" Target="https://www.ibm.com/topics/microservice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9903" y="1556076"/>
            <a:ext cx="2087237" cy="2087237"/>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4929188" y="4304110"/>
            <a:ext cx="1543050" cy="205425"/>
          </a:xfrm>
          <a:prstGeom prst="rect">
            <a:avLst/>
          </a:prstGeom>
          <a:no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94" name="Google Shape;94;p1"/>
          <p:cNvSpPr/>
          <p:nvPr/>
        </p:nvSpPr>
        <p:spPr>
          <a:xfrm rot="10800000" flipH="1">
            <a:off x="5847479" y="3858610"/>
            <a:ext cx="726300" cy="650925"/>
          </a:xfrm>
          <a:prstGeom prst="rtTriangle">
            <a:avLst/>
          </a:prstGeom>
          <a:solidFill>
            <a:srgbClr val="F2F2F2">
              <a:alpha val="16078"/>
            </a:srgbClr>
          </a:solid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96" name="Google Shape;96;p1"/>
          <p:cNvSpPr/>
          <p:nvPr/>
        </p:nvSpPr>
        <p:spPr>
          <a:xfrm flipH="1">
            <a:off x="3963599" y="606326"/>
            <a:ext cx="2894400" cy="3292425"/>
          </a:xfrm>
          <a:prstGeom prst="rtTriangle">
            <a:avLst/>
          </a:prstGeom>
          <a:solidFill>
            <a:srgbClr val="F2F2F2">
              <a:alpha val="16078"/>
            </a:srgbClr>
          </a:solid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97" name="Google Shape;97;p1"/>
          <p:cNvSpPr/>
          <p:nvPr/>
        </p:nvSpPr>
        <p:spPr>
          <a:xfrm>
            <a:off x="1194792" y="1782296"/>
            <a:ext cx="3841650" cy="8892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68569" tIns="34275" rIns="68569" bIns="34275" anchor="ctr" anchorCtr="0">
            <a:noAutofit/>
          </a:bodyPr>
          <a:lstStyle/>
          <a:p>
            <a:pPr algn="ctr">
              <a:buClr>
                <a:schemeClr val="lt1"/>
              </a:buClr>
              <a:buSzPts val="1800"/>
            </a:pPr>
            <a:endParaRPr sz="1350">
              <a:solidFill>
                <a:schemeClr val="lt1"/>
              </a:solidFill>
              <a:latin typeface="Calibri"/>
              <a:ea typeface="Calibri"/>
              <a:cs typeface="Calibri"/>
              <a:sym typeface="Calibri"/>
            </a:endParaRPr>
          </a:p>
        </p:txBody>
      </p:sp>
      <p:sp>
        <p:nvSpPr>
          <p:cNvPr id="98" name="Google Shape;98;p1"/>
          <p:cNvSpPr/>
          <p:nvPr/>
        </p:nvSpPr>
        <p:spPr>
          <a:xfrm flipH="1">
            <a:off x="5520375" y="3589875"/>
            <a:ext cx="1331100" cy="900225"/>
          </a:xfrm>
          <a:prstGeom prst="rtTriangle">
            <a:avLst/>
          </a:prstGeom>
          <a:solidFill>
            <a:srgbClr val="C00000"/>
          </a:solid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102" name="Google Shape;102;p1"/>
          <p:cNvSpPr txBox="1"/>
          <p:nvPr/>
        </p:nvSpPr>
        <p:spPr>
          <a:xfrm>
            <a:off x="348975" y="553113"/>
            <a:ext cx="6160050" cy="4019532"/>
          </a:xfrm>
          <a:prstGeom prst="rect">
            <a:avLst/>
          </a:prstGeom>
          <a:noFill/>
          <a:ln>
            <a:noFill/>
          </a:ln>
        </p:spPr>
        <p:txBody>
          <a:bodyPr spcFirstLastPara="1" wrap="square" lIns="68569" tIns="34275" rIns="68569" bIns="34275" anchor="t" anchorCtr="0">
            <a:spAutoFit/>
          </a:bodyPr>
          <a:lstStyle/>
          <a:p>
            <a:pPr lvl="0" algn="ctr">
              <a:lnSpc>
                <a:spcPct val="90000"/>
              </a:lnSpc>
              <a:buClr>
                <a:schemeClr val="dk1"/>
              </a:buClr>
              <a:buSzPts val="3200"/>
            </a:pPr>
            <a:r>
              <a:rPr lang="en-US" sz="2400" b="1" dirty="0">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788"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840"/>
              </a:spcBef>
              <a:buClr>
                <a:schemeClr val="dk1"/>
              </a:buClr>
              <a:buSzPts val="3200"/>
            </a:pPr>
            <a:r>
              <a:rPr lang="en-US" sz="2400" b="1" dirty="0">
                <a:latin typeface="Calibri" panose="020F0502020204030204" pitchFamily="34" charset="0"/>
                <a:ea typeface="Calibri" panose="020F0502020204030204" pitchFamily="34" charset="0"/>
                <a:cs typeface="Calibri" panose="020F0502020204030204" pitchFamily="34" charset="0"/>
                <a:sym typeface="Arial Black"/>
              </a:rPr>
              <a:t>DEPARTMENT OF COMPUTER SCIENCE AND ENGINEERING</a:t>
            </a:r>
            <a:endParaRPr lang="en-US" sz="788"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840"/>
              </a:spcBef>
              <a:buClr>
                <a:schemeClr val="dk1"/>
              </a:buClr>
              <a:buSzPts val="2800"/>
            </a:pPr>
            <a:r>
              <a:rPr lang="en-US" sz="1500" dirty="0">
                <a:latin typeface="Calibri" panose="020F0502020204030204" pitchFamily="34" charset="0"/>
                <a:ea typeface="Calibri" panose="020F0502020204030204" pitchFamily="34" charset="0"/>
                <a:cs typeface="Calibri" panose="020F0502020204030204" pitchFamily="34" charset="0"/>
                <a:sym typeface="Times New Roman"/>
              </a:rPr>
              <a:t>BTECH CSE – CS 201</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840"/>
              </a:spcBef>
              <a:buClr>
                <a:schemeClr val="dk1"/>
              </a:buClr>
              <a:buSzPts val="2800"/>
            </a:pPr>
            <a:r>
              <a:rPr lang="en-US" sz="1500" dirty="0">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735"/>
              </a:spcBef>
              <a:buClr>
                <a:schemeClr val="dk1"/>
              </a:buClr>
              <a:buSzPts val="2800"/>
            </a:pPr>
            <a:r>
              <a:rPr lang="en-US" b="1" dirty="0">
                <a:latin typeface="Calibri" panose="020F0502020204030204" pitchFamily="34" charset="0"/>
                <a:ea typeface="Calibri" panose="020F0502020204030204" pitchFamily="34" charset="0"/>
                <a:cs typeface="Calibri" panose="020F0502020204030204" pitchFamily="34" charset="0"/>
              </a:rPr>
              <a:t>CLOUD COMPUTING</a:t>
            </a:r>
            <a:endParaRPr lang="en-US" sz="1200"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735"/>
              </a:spcBef>
              <a:buClr>
                <a:schemeClr val="dk1"/>
              </a:buClr>
              <a:buSzPts val="2800"/>
            </a:pPr>
            <a:r>
              <a:rPr lang="en-US" dirty="0">
                <a:latin typeface="Calibri" panose="020F0502020204030204" pitchFamily="34" charset="0"/>
                <a:ea typeface="Calibri" panose="020F0502020204030204" pitchFamily="34" charset="0"/>
                <a:cs typeface="Calibri" panose="020F0502020204030204" pitchFamily="34" charset="0"/>
              </a:rPr>
              <a:t>(23CSH-307)</a:t>
            </a:r>
            <a:endParaRPr lang="en-US" sz="1200" dirty="0">
              <a:latin typeface="Calibri" panose="020F0502020204030204" pitchFamily="34" charset="0"/>
              <a:ea typeface="Calibri" panose="020F0502020204030204" pitchFamily="34" charset="0"/>
              <a:cs typeface="Calibri" panose="020F0502020204030204" pitchFamily="34" charset="0"/>
            </a:endParaRPr>
          </a:p>
          <a:p>
            <a:pPr algn="ctr">
              <a:spcBef>
                <a:spcPts val="840"/>
              </a:spcBef>
              <a:buSzPts val="3200"/>
            </a:pPr>
            <a:r>
              <a:rPr lang="en-US" sz="1350" b="1" dirty="0">
                <a:latin typeface="Calibri" panose="020F0502020204030204" pitchFamily="34" charset="0"/>
                <a:ea typeface="Calibri" panose="020F0502020204030204" pitchFamily="34" charset="0"/>
                <a:cs typeface="Calibri" panose="020F0502020204030204" pitchFamily="34" charset="0"/>
              </a:rPr>
              <a:t>Unit No. 2                     Chapter No. 2                    Lecture No. 15</a:t>
            </a:r>
          </a:p>
          <a:p>
            <a:pPr>
              <a:spcBef>
                <a:spcPts val="840"/>
              </a:spcBef>
              <a:buSzPts val="3200"/>
            </a:pPr>
            <a:r>
              <a:rPr lang="en-US" sz="1350" b="1" dirty="0">
                <a:latin typeface="Calibri" panose="020F0502020204030204" pitchFamily="34" charset="0"/>
                <a:ea typeface="Calibri" panose="020F0502020204030204" pitchFamily="34" charset="0"/>
                <a:cs typeface="Calibri" panose="020F0502020204030204" pitchFamily="34" charset="0"/>
              </a:rPr>
              <a:t>Topic : </a:t>
            </a:r>
            <a:r>
              <a:rPr lang="en-US" sz="1350" b="1" u="sng" dirty="0"/>
              <a:t>Characteristics of microservices (decentralized data management,</a:t>
            </a:r>
          </a:p>
          <a:p>
            <a:pPr>
              <a:spcBef>
                <a:spcPts val="840"/>
              </a:spcBef>
              <a:buSzPts val="3200"/>
            </a:pPr>
            <a:r>
              <a:rPr lang="en-US" sz="1350" b="1" u="sng" dirty="0"/>
              <a:t>independence), benefits (scalability, agility), and</a:t>
            </a:r>
          </a:p>
          <a:p>
            <a:pPr>
              <a:spcBef>
                <a:spcPts val="840"/>
              </a:spcBef>
              <a:buSzPts val="3200"/>
            </a:pPr>
            <a:r>
              <a:rPr lang="en-US" sz="1350" b="1" u="sng" dirty="0"/>
              <a:t>challenges (complexity, testing).</a:t>
            </a:r>
          </a:p>
          <a:p>
            <a:pPr>
              <a:spcBef>
                <a:spcPts val="840"/>
              </a:spcBef>
              <a:buSzPts val="3200"/>
            </a:pPr>
            <a:r>
              <a:rPr lang="en-US" sz="1350" b="1" dirty="0">
                <a:latin typeface="Calibri" panose="020F0502020204030204" pitchFamily="34" charset="0"/>
                <a:ea typeface="Calibri" panose="020F0502020204030204" pitchFamily="34" charset="0"/>
                <a:cs typeface="Calibri" panose="020F0502020204030204" pitchFamily="34" charset="0"/>
              </a:rPr>
              <a:t>Sanjay Tiwari, E18823                                                        Senior Technical Trainer</a:t>
            </a:r>
            <a:endParaRPr lang="en-US" sz="24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3957076" y="121578"/>
            <a:ext cx="2894399" cy="484748"/>
          </a:xfrm>
          <a:prstGeom prst="rect">
            <a:avLst/>
          </a:prstGeom>
          <a:noFill/>
        </p:spPr>
        <p:txBody>
          <a:bodyPr wrap="square" rtlCol="0">
            <a:spAutoFit/>
          </a:bodyPr>
          <a:lstStyle/>
          <a:p>
            <a:pPr algn="r"/>
            <a:r>
              <a:rPr lang="en-IN" sz="135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2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D9DBF8-8FEE-2E3C-CFF8-797C8A1085DE}"/>
              </a:ext>
            </a:extLst>
          </p:cNvPr>
          <p:cNvSpPr>
            <a:spLocks noGrp="1"/>
          </p:cNvSpPr>
          <p:nvPr>
            <p:ph type="body" sz="quarter" idx="10"/>
          </p:nvPr>
        </p:nvSpPr>
        <p:spPr>
          <a:xfrm>
            <a:off x="447675" y="1251743"/>
            <a:ext cx="6301978" cy="2640013"/>
          </a:xfrm>
        </p:spPr>
        <p:txBody>
          <a:bodyPr vert="horz" lIns="68580" tIns="34290" rIns="68580" bIns="34290" rtlCol="0" anchor="t">
            <a:noAutofit/>
          </a:bodyPr>
          <a:lstStyle/>
          <a:p>
            <a:r>
              <a:rPr lang="en-US" b="1" dirty="0">
                <a:ea typeface="Calibri"/>
                <a:cs typeface="Calibri"/>
              </a:rPr>
              <a:t>The Monolithic Constraint: </a:t>
            </a:r>
            <a:r>
              <a:rPr lang="en-US" dirty="0">
                <a:ea typeface="Calibri"/>
                <a:cs typeface="Calibri"/>
              </a:rPr>
              <a:t>While monolithic architecture is initially easy to design and implement, scalability and maintenance become severely restricted as systems grow.</a:t>
            </a:r>
          </a:p>
          <a:p>
            <a:r>
              <a:rPr lang="en-US" b="1" dirty="0">
                <a:ea typeface="Calibri"/>
                <a:cs typeface="Calibri"/>
              </a:rPr>
              <a:t>The Microservices Paradigm: </a:t>
            </a:r>
            <a:r>
              <a:rPr lang="en-US" dirty="0">
                <a:ea typeface="Calibri"/>
                <a:cs typeface="Calibri"/>
              </a:rPr>
              <a:t>Microservices promote a modular system design where applications are decomposed into smaller, independent services.</a:t>
            </a:r>
          </a:p>
          <a:p>
            <a:r>
              <a:rPr lang="en-US" b="1" dirty="0">
                <a:ea typeface="Calibri"/>
                <a:cs typeface="Calibri"/>
              </a:rPr>
              <a:t>Strategic Imperative: </a:t>
            </a:r>
            <a:r>
              <a:rPr lang="en-US" dirty="0">
                <a:ea typeface="Calibri"/>
                <a:cs typeface="Calibri"/>
              </a:rPr>
              <a:t>As emphasized in Sam Newman's Building Microservices, proper service decomposition by business capability is critical for success; poor decomposition heavily increases system complexity and operational overhead.</a:t>
            </a:r>
          </a:p>
          <a:p>
            <a:r>
              <a:rPr lang="en-US" b="1" dirty="0">
                <a:ea typeface="Calibri"/>
                <a:cs typeface="Calibri"/>
              </a:rPr>
              <a:t>Long-Term Trajectory: </a:t>
            </a:r>
            <a:r>
              <a:rPr lang="en-US" dirty="0">
                <a:ea typeface="Calibri"/>
                <a:cs typeface="Calibri"/>
              </a:rPr>
              <a:t>Architectural choices strongly influence long-term system growth, making microservices well-suited for modern, scalable applications.</a:t>
            </a:r>
          </a:p>
        </p:txBody>
      </p:sp>
      <p:sp>
        <p:nvSpPr>
          <p:cNvPr id="3" name="Text Placeholder 2">
            <a:extLst>
              <a:ext uri="{FF2B5EF4-FFF2-40B4-BE49-F238E27FC236}">
                <a16:creationId xmlns:a16="http://schemas.microsoft.com/office/drawing/2014/main" id="{86CD35C7-020E-9AAA-5F6F-FB17C70C0259}"/>
              </a:ext>
            </a:extLst>
          </p:cNvPr>
          <p:cNvSpPr>
            <a:spLocks noGrp="1"/>
          </p:cNvSpPr>
          <p:nvPr>
            <p:ph type="body" sz="quarter" idx="11"/>
          </p:nvPr>
        </p:nvSpPr>
        <p:spPr/>
        <p:txBody>
          <a:bodyPr vert="horz" lIns="68580" tIns="34290" rIns="68580" bIns="34290" rtlCol="0" anchor="t">
            <a:normAutofit/>
          </a:bodyPr>
          <a:lstStyle/>
          <a:p>
            <a:r>
              <a:rPr lang="en-US" dirty="0">
                <a:ea typeface="Calibri"/>
                <a:cs typeface="Calibri"/>
              </a:rPr>
              <a:t>RECAP</a:t>
            </a:r>
            <a:endParaRPr lang="en-US" dirty="0"/>
          </a:p>
        </p:txBody>
      </p:sp>
    </p:spTree>
    <p:extLst>
      <p:ext uri="{BB962C8B-B14F-4D97-AF65-F5344CB8AC3E}">
        <p14:creationId xmlns:p14="http://schemas.microsoft.com/office/powerpoint/2010/main" val="46729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491514" y="266817"/>
            <a:ext cx="6225637" cy="33345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sz="quarter" idx="10"/>
          </p:nvPr>
        </p:nvSpPr>
        <p:spPr>
          <a:xfrm>
            <a:off x="327225" y="1068106"/>
            <a:ext cx="6000750" cy="2186100"/>
          </a:xfrm>
          <a:prstGeom prst="rect">
            <a:avLst/>
          </a:prstGeom>
          <a:noFill/>
          <a:ln>
            <a:noFill/>
          </a:ln>
        </p:spPr>
        <p:txBody>
          <a:bodyPr spcFirstLastPara="1" vert="horz" wrap="square" lIns="68569" tIns="34275" rIns="68569" bIns="34275" rtlCol="0" anchor="t" anchorCtr="0">
            <a:normAutofit/>
          </a:bodyPr>
          <a:lstStyle/>
          <a:p>
            <a:r>
              <a:rPr lang="en-US" dirty="0">
                <a:ea typeface="+mn-lt"/>
                <a:cs typeface="+mn-lt"/>
                <a:sym typeface="Times New Roman"/>
              </a:rPr>
              <a:t>Characteristics</a:t>
            </a:r>
            <a:r>
              <a:rPr lang="en-US" dirty="0">
                <a:ea typeface="+mn-lt"/>
                <a:cs typeface="+mn-lt"/>
              </a:rPr>
              <a:t> of Microservices</a:t>
            </a:r>
            <a:endParaRPr lang="en-US" dirty="0"/>
          </a:p>
          <a:p>
            <a:pPr>
              <a:buClrTx/>
              <a:buSzTx/>
            </a:pPr>
            <a:r>
              <a:rPr lang="en-US" dirty="0">
                <a:ea typeface="+mn-lt"/>
                <a:cs typeface="+mn-lt"/>
              </a:rPr>
              <a:t>Benefits of Microservices</a:t>
            </a:r>
            <a:endParaRPr lang="en-US" dirty="0"/>
          </a:p>
          <a:p>
            <a:r>
              <a:rPr lang="en-US" dirty="0">
                <a:ea typeface="+mn-lt"/>
                <a:cs typeface="+mn-lt"/>
              </a:rPr>
              <a:t>Challenges in Microservices</a:t>
            </a:r>
            <a:endParaRPr lang="en-US" dirty="0"/>
          </a:p>
          <a:p>
            <a:r>
              <a:rPr lang="en-US" dirty="0">
                <a:ea typeface="+mn-lt"/>
                <a:cs typeface="+mn-lt"/>
              </a:rPr>
              <a:t>Summary and Key Insights</a:t>
            </a:r>
            <a:endParaRPr dirty="0"/>
          </a:p>
          <a:p>
            <a:pPr marL="257175" indent="-257175">
              <a:lnSpc>
                <a:spcPct val="100000"/>
              </a:lnSpc>
              <a:spcBef>
                <a:spcPct val="0"/>
              </a:spcBef>
              <a:spcAft>
                <a:spcPct val="0"/>
              </a:spcAft>
            </a:pPr>
            <a:endParaRPr lang="en-US" altLang="en-US" b="0" i="0" u="none" dirty="0">
              <a:latin typeface="Arial"/>
              <a:ea typeface="Times New Roman"/>
              <a:cs typeface="Arial"/>
            </a:endParaRPr>
          </a:p>
        </p:txBody>
      </p:sp>
    </p:spTree>
    <p:extLst>
      <p:ext uri="{BB962C8B-B14F-4D97-AF65-F5344CB8AC3E}">
        <p14:creationId xmlns:p14="http://schemas.microsoft.com/office/powerpoint/2010/main" val="163975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8437C3-8BA4-6FB5-5A1E-8ACA757EB63D}"/>
              </a:ext>
            </a:extLst>
          </p:cNvPr>
          <p:cNvSpPr>
            <a:spLocks noGrp="1"/>
          </p:cNvSpPr>
          <p:nvPr>
            <p:ph type="body" sz="quarter" idx="10"/>
          </p:nvPr>
        </p:nvSpPr>
        <p:spPr>
          <a:xfrm>
            <a:off x="427434" y="1336675"/>
            <a:ext cx="5870972" cy="2640013"/>
          </a:xfrm>
        </p:spPr>
        <p:txBody>
          <a:bodyPr vert="horz" lIns="68580" tIns="34290" rIns="68580" bIns="34290" rtlCol="0" anchor="t">
            <a:normAutofit/>
          </a:bodyPr>
          <a:lstStyle/>
          <a:p>
            <a:pPr marL="0" indent="0">
              <a:buNone/>
            </a:pPr>
            <a:r>
              <a:rPr lang="en-US" b="1" dirty="0">
                <a:ea typeface="Calibri"/>
                <a:cs typeface="Calibri"/>
              </a:rPr>
              <a:t>Modular Design: </a:t>
            </a:r>
            <a:r>
              <a:rPr lang="en-US" dirty="0">
                <a:ea typeface="Calibri"/>
                <a:cs typeface="Calibri"/>
              </a:rPr>
              <a:t>This architecture is based on small services where each service handles a single, specific function.</a:t>
            </a:r>
          </a:p>
          <a:p>
            <a:pPr marL="0" indent="0">
              <a:buNone/>
            </a:pPr>
            <a:r>
              <a:rPr lang="en-US" b="1" dirty="0">
                <a:ea typeface="Calibri"/>
                <a:cs typeface="Calibri"/>
              </a:rPr>
              <a:t>Independent Operation: </a:t>
            </a:r>
            <a:r>
              <a:rPr lang="en-US" dirty="0">
                <a:ea typeface="Calibri"/>
                <a:cs typeface="Calibri"/>
              </a:rPr>
              <a:t>These services operate independently from one another and support an independent lifecycle.</a:t>
            </a:r>
          </a:p>
          <a:p>
            <a:pPr marL="0" indent="0">
              <a:buNone/>
            </a:pPr>
            <a:r>
              <a:rPr lang="en-US" b="1" dirty="0">
                <a:ea typeface="Calibri"/>
                <a:cs typeface="Calibri"/>
              </a:rPr>
              <a:t>Communication: </a:t>
            </a:r>
            <a:r>
              <a:rPr lang="en-US" dirty="0">
                <a:ea typeface="Calibri"/>
                <a:cs typeface="Calibri"/>
              </a:rPr>
              <a:t>Instead of complex internal wiring, they communicate via simple, lightweight mechanisms.</a:t>
            </a:r>
          </a:p>
          <a:p>
            <a:pPr marL="0" indent="0">
              <a:buNone/>
            </a:pPr>
            <a:r>
              <a:rPr lang="en-US" b="1" dirty="0">
                <a:ea typeface="Calibri"/>
                <a:cs typeface="Calibri"/>
              </a:rPr>
              <a:t>Modern Standards: </a:t>
            </a:r>
            <a:r>
              <a:rPr lang="en-US" dirty="0">
                <a:ea typeface="Calibri"/>
                <a:cs typeface="Calibri"/>
              </a:rPr>
              <a:t>This modular system structure is a common, standard pattern in modern cloud-native systems.</a:t>
            </a:r>
          </a:p>
        </p:txBody>
      </p:sp>
      <p:sp>
        <p:nvSpPr>
          <p:cNvPr id="3" name="Text Placeholder 2">
            <a:extLst>
              <a:ext uri="{FF2B5EF4-FFF2-40B4-BE49-F238E27FC236}">
                <a16:creationId xmlns:a16="http://schemas.microsoft.com/office/drawing/2014/main" id="{89943A7F-2A9C-6331-A448-EF16EDB5511D}"/>
              </a:ext>
            </a:extLst>
          </p:cNvPr>
          <p:cNvSpPr>
            <a:spLocks noGrp="1"/>
          </p:cNvSpPr>
          <p:nvPr>
            <p:ph type="body" sz="quarter" idx="11"/>
          </p:nvPr>
        </p:nvSpPr>
        <p:spPr/>
        <p:txBody>
          <a:bodyPr vert="horz" lIns="68580" tIns="34290" rIns="68580" bIns="34290" rtlCol="0" anchor="t">
            <a:normAutofit/>
          </a:bodyPr>
          <a:lstStyle/>
          <a:p>
            <a:r>
              <a:rPr lang="en-US" dirty="0">
                <a:ea typeface="+mn-lt"/>
                <a:cs typeface="+mn-lt"/>
              </a:rPr>
              <a:t>Overview of Microservices</a:t>
            </a:r>
          </a:p>
        </p:txBody>
      </p:sp>
    </p:spTree>
    <p:extLst>
      <p:ext uri="{BB962C8B-B14F-4D97-AF65-F5344CB8AC3E}">
        <p14:creationId xmlns:p14="http://schemas.microsoft.com/office/powerpoint/2010/main" val="190527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E8D3-7C3B-A317-50A8-7763CD088F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34FA14-3AF6-54C6-3A59-60CBC448C67C}"/>
              </a:ext>
            </a:extLst>
          </p:cNvPr>
          <p:cNvSpPr>
            <a:spLocks noGrp="1"/>
          </p:cNvSpPr>
          <p:nvPr>
            <p:ph type="body" sz="quarter" idx="10"/>
          </p:nvPr>
        </p:nvSpPr>
        <p:spPr>
          <a:xfrm>
            <a:off x="1729892" y="4528874"/>
            <a:ext cx="4038375" cy="370413"/>
          </a:xfrm>
        </p:spPr>
        <p:txBody>
          <a:bodyPr vert="horz" lIns="68580" tIns="34290" rIns="68580" bIns="34290" rtlCol="0" anchor="t">
            <a:normAutofit/>
          </a:bodyPr>
          <a:lstStyle/>
          <a:p>
            <a:pPr marL="0" indent="0">
              <a:buNone/>
            </a:pPr>
            <a:r>
              <a:rPr lang="en-US" sz="1050" dirty="0">
                <a:ea typeface="Calibri" panose="020F0502020204030204"/>
                <a:cs typeface="Calibri" panose="020F0502020204030204"/>
              </a:rPr>
              <a:t>Source: </a:t>
            </a:r>
            <a:r>
              <a:rPr lang="en-US" sz="1050" dirty="0">
                <a:ea typeface="+mn-lt"/>
                <a:cs typeface="+mn-lt"/>
                <a:hlinkClick r:id="rId2"/>
              </a:rPr>
              <a:t>Medium</a:t>
            </a:r>
            <a:endParaRPr lang="en-US" sz="1050" dirty="0">
              <a:ea typeface="+mn-lt"/>
              <a:cs typeface="+mn-lt"/>
            </a:endParaRPr>
          </a:p>
        </p:txBody>
      </p:sp>
      <p:sp>
        <p:nvSpPr>
          <p:cNvPr id="3" name="Text Placeholder 2">
            <a:extLst>
              <a:ext uri="{FF2B5EF4-FFF2-40B4-BE49-F238E27FC236}">
                <a16:creationId xmlns:a16="http://schemas.microsoft.com/office/drawing/2014/main" id="{61C82966-D2BD-76B1-E2D6-305C09976766}"/>
              </a:ext>
            </a:extLst>
          </p:cNvPr>
          <p:cNvSpPr>
            <a:spLocks noGrp="1"/>
          </p:cNvSpPr>
          <p:nvPr>
            <p:ph type="body" sz="quarter" idx="11"/>
          </p:nvPr>
        </p:nvSpPr>
        <p:spPr>
          <a:xfrm>
            <a:off x="534987" y="276623"/>
            <a:ext cx="5870972" cy="678656"/>
          </a:xfrm>
        </p:spPr>
        <p:txBody>
          <a:bodyPr vert="horz" lIns="68580" tIns="34290" rIns="68580" bIns="34290" rtlCol="0" anchor="t">
            <a:normAutofit/>
          </a:bodyPr>
          <a:lstStyle/>
          <a:p>
            <a:r>
              <a:rPr lang="en-US" sz="1800" dirty="0"/>
              <a:t>Microservices</a:t>
            </a:r>
          </a:p>
        </p:txBody>
      </p:sp>
      <p:pic>
        <p:nvPicPr>
          <p:cNvPr id="1026" name="Picture 2" descr="Understanding microservices: A brief overview and patterns | by Pasha |  Medium">
            <a:extLst>
              <a:ext uri="{FF2B5EF4-FFF2-40B4-BE49-F238E27FC236}">
                <a16:creationId xmlns:a16="http://schemas.microsoft.com/office/drawing/2014/main" id="{0650EC38-EE18-F788-038F-CEBF2AD44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081" y="637381"/>
            <a:ext cx="5049838" cy="3689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798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415620-9D2C-C1DB-350A-17D7ACB2E3EB}"/>
              </a:ext>
            </a:extLst>
          </p:cNvPr>
          <p:cNvSpPr>
            <a:spLocks noGrp="1"/>
          </p:cNvSpPr>
          <p:nvPr>
            <p:ph type="body" sz="quarter" idx="10"/>
          </p:nvPr>
        </p:nvSpPr>
        <p:spPr>
          <a:xfrm>
            <a:off x="493514" y="1574800"/>
            <a:ext cx="5870972" cy="2640013"/>
          </a:xfrm>
        </p:spPr>
        <p:txBody>
          <a:bodyPr vert="horz" lIns="68580" tIns="34290" rIns="68580" bIns="34290" rtlCol="0" anchor="t">
            <a:normAutofit/>
          </a:bodyPr>
          <a:lstStyle/>
          <a:p>
            <a:r>
              <a:rPr lang="en-US" b="1" dirty="0">
                <a:ea typeface="Calibri"/>
                <a:cs typeface="Calibri"/>
              </a:rPr>
              <a:t>System Structure: </a:t>
            </a:r>
            <a:r>
              <a:rPr lang="en-US" dirty="0">
                <a:ea typeface="Calibri"/>
                <a:cs typeface="Calibri"/>
              </a:rPr>
              <a:t>The architecture relies on loose coupling between services and high cohesion within individual services.</a:t>
            </a:r>
          </a:p>
          <a:p>
            <a:r>
              <a:rPr lang="en-US" b="1" dirty="0">
                <a:ea typeface="Calibri"/>
                <a:cs typeface="Calibri"/>
              </a:rPr>
              <a:t>Data and Independence: </a:t>
            </a:r>
            <a:r>
              <a:rPr lang="en-US" dirty="0">
                <a:ea typeface="Calibri"/>
                <a:cs typeface="Calibri"/>
              </a:rPr>
              <a:t>It features decentralized data management and strict service-level independence.</a:t>
            </a:r>
          </a:p>
          <a:p>
            <a:r>
              <a:rPr lang="en-US" b="1" dirty="0">
                <a:ea typeface="Calibri"/>
                <a:cs typeface="Calibri"/>
              </a:rPr>
              <a:t>Development Flexibility: </a:t>
            </a:r>
            <a:r>
              <a:rPr lang="en-US" dirty="0">
                <a:ea typeface="Calibri"/>
                <a:cs typeface="Calibri"/>
              </a:rPr>
              <a:t>Teams are allowed to use technology heterogeneity, meaning different services can use different programming languages or tools.</a:t>
            </a:r>
          </a:p>
          <a:p>
            <a:r>
              <a:rPr lang="en-US" b="1" dirty="0">
                <a:ea typeface="Calibri"/>
                <a:cs typeface="Calibri"/>
              </a:rPr>
              <a:t>Operational Control: </a:t>
            </a:r>
            <a:r>
              <a:rPr lang="en-US" dirty="0">
                <a:ea typeface="Calibri"/>
                <a:cs typeface="Calibri"/>
              </a:rPr>
              <a:t>It relies on autonomous development teams and ensures independent deployment capability.</a:t>
            </a:r>
          </a:p>
        </p:txBody>
      </p:sp>
      <p:sp>
        <p:nvSpPr>
          <p:cNvPr id="3" name="Text Placeholder 2">
            <a:extLst>
              <a:ext uri="{FF2B5EF4-FFF2-40B4-BE49-F238E27FC236}">
                <a16:creationId xmlns:a16="http://schemas.microsoft.com/office/drawing/2014/main" id="{B29D0B0E-777F-D682-6293-0549556CFFF2}"/>
              </a:ext>
            </a:extLst>
          </p:cNvPr>
          <p:cNvSpPr>
            <a:spLocks noGrp="1"/>
          </p:cNvSpPr>
          <p:nvPr>
            <p:ph type="body" sz="quarter" idx="11"/>
          </p:nvPr>
        </p:nvSpPr>
        <p:spPr/>
        <p:txBody>
          <a:bodyPr vert="horz" lIns="68580" tIns="34290" rIns="68580" bIns="34290" rtlCol="0" anchor="t">
            <a:normAutofit/>
          </a:bodyPr>
          <a:lstStyle/>
          <a:p>
            <a:r>
              <a:rPr lang="en-US" dirty="0">
                <a:ea typeface="+mn-lt"/>
                <a:cs typeface="+mn-lt"/>
              </a:rPr>
              <a:t>Core Characteristics of Microservices</a:t>
            </a:r>
            <a:endParaRPr lang="en-US" dirty="0"/>
          </a:p>
        </p:txBody>
      </p:sp>
    </p:spTree>
    <p:extLst>
      <p:ext uri="{BB962C8B-B14F-4D97-AF65-F5344CB8AC3E}">
        <p14:creationId xmlns:p14="http://schemas.microsoft.com/office/powerpoint/2010/main" val="3319976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ED54F-937F-8C4C-6C8B-8B2EE5BB9B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4258881-6862-20E3-B74D-6DF4CEC7F4E6}"/>
              </a:ext>
            </a:extLst>
          </p:cNvPr>
          <p:cNvSpPr>
            <a:spLocks noGrp="1"/>
          </p:cNvSpPr>
          <p:nvPr>
            <p:ph type="body" sz="quarter" idx="10"/>
          </p:nvPr>
        </p:nvSpPr>
        <p:spPr>
          <a:xfrm>
            <a:off x="1729892" y="4528874"/>
            <a:ext cx="4038375" cy="370413"/>
          </a:xfrm>
        </p:spPr>
        <p:txBody>
          <a:bodyPr vert="horz" lIns="68580" tIns="34290" rIns="68580" bIns="34290" rtlCol="0" anchor="t">
            <a:normAutofit/>
          </a:bodyPr>
          <a:lstStyle/>
          <a:p>
            <a:pPr marL="0" indent="0">
              <a:buNone/>
            </a:pPr>
            <a:r>
              <a:rPr lang="en-US" sz="1050" dirty="0">
                <a:ea typeface="Calibri" panose="020F0502020204030204"/>
                <a:cs typeface="Calibri" panose="020F0502020204030204"/>
              </a:rPr>
              <a:t>Source: </a:t>
            </a:r>
            <a:r>
              <a:rPr lang="en-US" sz="1050" dirty="0">
                <a:ea typeface="+mn-lt"/>
                <a:cs typeface="+mn-lt"/>
              </a:rPr>
              <a:t>Web and Crafts</a:t>
            </a:r>
          </a:p>
        </p:txBody>
      </p:sp>
      <p:sp>
        <p:nvSpPr>
          <p:cNvPr id="3" name="Text Placeholder 2">
            <a:extLst>
              <a:ext uri="{FF2B5EF4-FFF2-40B4-BE49-F238E27FC236}">
                <a16:creationId xmlns:a16="http://schemas.microsoft.com/office/drawing/2014/main" id="{39D5C463-2336-0C26-F5AA-B6FC9702C24D}"/>
              </a:ext>
            </a:extLst>
          </p:cNvPr>
          <p:cNvSpPr>
            <a:spLocks noGrp="1"/>
          </p:cNvSpPr>
          <p:nvPr>
            <p:ph type="body" sz="quarter" idx="11"/>
          </p:nvPr>
        </p:nvSpPr>
        <p:spPr>
          <a:xfrm>
            <a:off x="534987" y="276623"/>
            <a:ext cx="5870972" cy="678656"/>
          </a:xfrm>
        </p:spPr>
        <p:txBody>
          <a:bodyPr vert="horz" lIns="68580" tIns="34290" rIns="68580" bIns="34290" rtlCol="0" anchor="t">
            <a:normAutofit/>
          </a:bodyPr>
          <a:lstStyle/>
          <a:p>
            <a:r>
              <a:rPr lang="en-US" sz="1800" dirty="0"/>
              <a:t>Microservices</a:t>
            </a:r>
          </a:p>
        </p:txBody>
      </p:sp>
      <p:pic>
        <p:nvPicPr>
          <p:cNvPr id="3074" name="Picture 2" descr="What is Microservices Architecture? Overview and Use Cases">
            <a:extLst>
              <a:ext uri="{FF2B5EF4-FFF2-40B4-BE49-F238E27FC236}">
                <a16:creationId xmlns:a16="http://schemas.microsoft.com/office/drawing/2014/main" id="{A60FD1A6-0FF3-84C8-6477-B33433FB9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62" y="746919"/>
            <a:ext cx="5511076" cy="340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78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02FEC-B8EF-A11F-CE5B-0DFABBC2D7C5}"/>
              </a:ext>
            </a:extLst>
          </p:cNvPr>
          <p:cNvSpPr>
            <a:spLocks noGrp="1"/>
          </p:cNvSpPr>
          <p:nvPr>
            <p:ph type="body" sz="quarter" idx="10"/>
          </p:nvPr>
        </p:nvSpPr>
        <p:spPr>
          <a:xfrm>
            <a:off x="493514" y="901699"/>
            <a:ext cx="5870972" cy="2640013"/>
          </a:xfrm>
        </p:spPr>
        <p:txBody>
          <a:bodyPr vert="horz" lIns="68580" tIns="34290" rIns="68580" bIns="34290" rtlCol="0" anchor="t">
            <a:noAutofit/>
          </a:bodyPr>
          <a:lstStyle/>
          <a:p>
            <a:r>
              <a:rPr lang="en-US" b="1" dirty="0">
                <a:ea typeface="Calibri"/>
                <a:cs typeface="Calibri"/>
              </a:rPr>
              <a:t>The Principle of Data Encapsulation: </a:t>
            </a:r>
            <a:r>
              <a:rPr lang="en-US" dirty="0">
                <a:ea typeface="Calibri"/>
                <a:cs typeface="Calibri"/>
              </a:rPr>
              <a:t>In a microservices architecture, each service strictly owns its data, meaning there is no shared central database across the application. Data is stored explicitly per the specific requirement of that service.</a:t>
            </a:r>
          </a:p>
          <a:p>
            <a:r>
              <a:rPr lang="en-US" b="1" dirty="0">
                <a:ea typeface="Calibri"/>
                <a:cs typeface="Calibri"/>
              </a:rPr>
              <a:t>Decoupling the Data Tier: </a:t>
            </a:r>
            <a:r>
              <a:rPr lang="en-US" dirty="0">
                <a:ea typeface="Calibri"/>
                <a:cs typeface="Calibri"/>
              </a:rPr>
              <a:t>This decentralized approach prevents tight coupling via the database. Consequently, it enables independent schema evolution, allowing database structures to be updated without breaking other parts of the system.</a:t>
            </a:r>
          </a:p>
          <a:p>
            <a:r>
              <a:rPr lang="en-US" b="1" dirty="0">
                <a:ea typeface="Calibri"/>
                <a:cs typeface="Calibri"/>
              </a:rPr>
              <a:t>Resilience and Autonomy: </a:t>
            </a:r>
            <a:r>
              <a:rPr lang="en-US" dirty="0">
                <a:ea typeface="Calibri"/>
                <a:cs typeface="Calibri"/>
              </a:rPr>
              <a:t>Distributing the data improves fault isolation. This architectural choice directly enhances service autonomy and significantly increases overall system resilience.</a:t>
            </a:r>
          </a:p>
          <a:p>
            <a:r>
              <a:rPr lang="en-US" b="1" dirty="0">
                <a:ea typeface="Calibri"/>
                <a:cs typeface="Calibri"/>
              </a:rPr>
              <a:t>Practical Scenario: </a:t>
            </a:r>
            <a:r>
              <a:rPr lang="en-US" dirty="0">
                <a:ea typeface="Calibri"/>
                <a:cs typeface="Calibri"/>
              </a:rPr>
              <a:t>Consider an application processing both user profiles and financial transactions. If the transaction database goes offline, the fault is isolated. The user profile service remains operational because it relies on its own decentralized data, showcasing increased system resilience.</a:t>
            </a:r>
          </a:p>
        </p:txBody>
      </p:sp>
      <p:sp>
        <p:nvSpPr>
          <p:cNvPr id="3" name="Text Placeholder 2">
            <a:extLst>
              <a:ext uri="{FF2B5EF4-FFF2-40B4-BE49-F238E27FC236}">
                <a16:creationId xmlns:a16="http://schemas.microsoft.com/office/drawing/2014/main" id="{ABD70934-C727-1FBE-6993-C69A2E158AA7}"/>
              </a:ext>
            </a:extLst>
          </p:cNvPr>
          <p:cNvSpPr>
            <a:spLocks noGrp="1"/>
          </p:cNvSpPr>
          <p:nvPr>
            <p:ph type="body" sz="quarter" idx="11"/>
          </p:nvPr>
        </p:nvSpPr>
        <p:spPr/>
        <p:txBody>
          <a:bodyPr vert="horz" lIns="68580" tIns="34290" rIns="68580" bIns="34290" rtlCol="0" anchor="t">
            <a:normAutofit/>
          </a:bodyPr>
          <a:lstStyle/>
          <a:p>
            <a:r>
              <a:rPr lang="en-US" dirty="0">
                <a:ea typeface="+mn-lt"/>
                <a:cs typeface="+mn-lt"/>
              </a:rPr>
              <a:t>Decentralized Data Management</a:t>
            </a:r>
          </a:p>
        </p:txBody>
      </p:sp>
    </p:spTree>
    <p:extLst>
      <p:ext uri="{BB962C8B-B14F-4D97-AF65-F5344CB8AC3E}">
        <p14:creationId xmlns:p14="http://schemas.microsoft.com/office/powerpoint/2010/main" val="3109073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97C7E-183A-147C-1108-74B25B5C4C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086DBD-9DFB-C94C-8B39-6D7EDC476C65}"/>
              </a:ext>
            </a:extLst>
          </p:cNvPr>
          <p:cNvSpPr>
            <a:spLocks noGrp="1"/>
          </p:cNvSpPr>
          <p:nvPr>
            <p:ph type="body" sz="quarter" idx="10"/>
          </p:nvPr>
        </p:nvSpPr>
        <p:spPr>
          <a:xfrm>
            <a:off x="1729892" y="4528874"/>
            <a:ext cx="4038375" cy="370413"/>
          </a:xfrm>
        </p:spPr>
        <p:txBody>
          <a:bodyPr vert="horz" lIns="68580" tIns="34290" rIns="68580" bIns="34290" rtlCol="0" anchor="t">
            <a:normAutofit/>
          </a:bodyPr>
          <a:lstStyle/>
          <a:p>
            <a:pPr marL="0" indent="0">
              <a:buNone/>
            </a:pPr>
            <a:r>
              <a:rPr lang="en-US" dirty="0">
                <a:ea typeface="Calibri" panose="020F0502020204030204"/>
                <a:cs typeface="Calibri" panose="020F0502020204030204"/>
              </a:rPr>
              <a:t>Source: </a:t>
            </a:r>
            <a:r>
              <a:rPr lang="en-US" dirty="0">
                <a:ea typeface="+mn-lt"/>
                <a:cs typeface="+mn-lt"/>
              </a:rPr>
              <a:t>Stack Exchange</a:t>
            </a:r>
          </a:p>
        </p:txBody>
      </p:sp>
      <p:sp>
        <p:nvSpPr>
          <p:cNvPr id="3" name="Text Placeholder 2">
            <a:extLst>
              <a:ext uri="{FF2B5EF4-FFF2-40B4-BE49-F238E27FC236}">
                <a16:creationId xmlns:a16="http://schemas.microsoft.com/office/drawing/2014/main" id="{CB3A47D2-C2C6-E245-A60D-9CAA779BA374}"/>
              </a:ext>
            </a:extLst>
          </p:cNvPr>
          <p:cNvSpPr>
            <a:spLocks noGrp="1"/>
          </p:cNvSpPr>
          <p:nvPr>
            <p:ph type="body" sz="quarter" idx="11"/>
          </p:nvPr>
        </p:nvSpPr>
        <p:spPr>
          <a:xfrm>
            <a:off x="534987" y="276623"/>
            <a:ext cx="5870972" cy="678656"/>
          </a:xfrm>
        </p:spPr>
        <p:txBody>
          <a:bodyPr vert="horz" lIns="68580" tIns="34290" rIns="68580" bIns="34290" rtlCol="0" anchor="t">
            <a:normAutofit/>
          </a:bodyPr>
          <a:lstStyle/>
          <a:p>
            <a:r>
              <a:rPr lang="en-US" sz="1800" dirty="0"/>
              <a:t>Decentralized Data Management</a:t>
            </a:r>
          </a:p>
        </p:txBody>
      </p:sp>
      <p:pic>
        <p:nvPicPr>
          <p:cNvPr id="4098" name="Picture 2" descr="design - Decentralized Data Management - encapsulating databases into  microservices - Software Engineering Stack Exchange">
            <a:extLst>
              <a:ext uri="{FF2B5EF4-FFF2-40B4-BE49-F238E27FC236}">
                <a16:creationId xmlns:a16="http://schemas.microsoft.com/office/drawing/2014/main" id="{4624338E-FD26-37A7-7B7A-AA4CD5B21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557" y="785019"/>
            <a:ext cx="5697832" cy="333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85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8A0FC4-31B1-4C10-59F7-FA0EFFD9720F}"/>
              </a:ext>
            </a:extLst>
          </p:cNvPr>
          <p:cNvSpPr>
            <a:spLocks noGrp="1"/>
          </p:cNvSpPr>
          <p:nvPr>
            <p:ph type="body" sz="quarter" idx="10"/>
          </p:nvPr>
        </p:nvSpPr>
        <p:spPr>
          <a:xfrm>
            <a:off x="663178" y="901699"/>
            <a:ext cx="5870972" cy="2640013"/>
          </a:xfrm>
        </p:spPr>
        <p:txBody>
          <a:bodyPr vert="horz" lIns="68580" tIns="34290" rIns="68580" bIns="34290" rtlCol="0" anchor="t">
            <a:noAutofit/>
          </a:bodyPr>
          <a:lstStyle/>
          <a:p>
            <a:r>
              <a:rPr lang="en-US" b="1" dirty="0">
                <a:ea typeface="Calibri"/>
                <a:cs typeface="Calibri"/>
              </a:rPr>
              <a:t>Isolated Lifecycles: </a:t>
            </a:r>
            <a:r>
              <a:rPr lang="en-US" dirty="0">
                <a:ea typeface="Calibri"/>
                <a:cs typeface="Calibri"/>
              </a:rPr>
              <a:t>Services are designed to be developed independently and can be deployed without impacting others in the ecosystem.</a:t>
            </a:r>
          </a:p>
          <a:p>
            <a:r>
              <a:rPr lang="en-US" b="1" dirty="0">
                <a:ea typeface="Calibri"/>
                <a:cs typeface="Calibri"/>
              </a:rPr>
              <a:t>Technological Heterogeneity: </a:t>
            </a:r>
            <a:r>
              <a:rPr lang="en-US" dirty="0">
                <a:ea typeface="Calibri"/>
                <a:cs typeface="Calibri"/>
              </a:rPr>
              <a:t>Teams are granted independent technology stack usage. This allows engineers to choose the most appropriate programming languages and tools for a specific service's function.</a:t>
            </a:r>
          </a:p>
          <a:p>
            <a:r>
              <a:rPr lang="en-US" b="1" dirty="0">
                <a:ea typeface="Calibri"/>
                <a:cs typeface="Calibri"/>
              </a:rPr>
              <a:t>Operational Control: </a:t>
            </a:r>
            <a:r>
              <a:rPr lang="en-US" dirty="0">
                <a:ea typeface="Calibri"/>
                <a:cs typeface="Calibri"/>
              </a:rPr>
              <a:t>Independence creates separate failure domains. Furthermore, components can be updated without causing system downtime.</a:t>
            </a:r>
          </a:p>
          <a:p>
            <a:r>
              <a:rPr lang="en-US" b="1" dirty="0">
                <a:ea typeface="Calibri"/>
                <a:cs typeface="Calibri"/>
              </a:rPr>
              <a:t>Practical Scenario: </a:t>
            </a:r>
            <a:r>
              <a:rPr lang="en-US" dirty="0">
                <a:ea typeface="Calibri"/>
                <a:cs typeface="Calibri"/>
              </a:rPr>
              <a:t>Two development teams can work in parallel. One team can build a feature using Python while another uses Java, demonstrating independent technology stack usage. Both teams can achieve faster development cycles and push their respective services live without system downtime.</a:t>
            </a:r>
          </a:p>
        </p:txBody>
      </p:sp>
      <p:sp>
        <p:nvSpPr>
          <p:cNvPr id="3" name="Text Placeholder 2">
            <a:extLst>
              <a:ext uri="{FF2B5EF4-FFF2-40B4-BE49-F238E27FC236}">
                <a16:creationId xmlns:a16="http://schemas.microsoft.com/office/drawing/2014/main" id="{FCB2104E-3EB7-BBCC-7ACE-444E4A49DD2A}"/>
              </a:ext>
            </a:extLst>
          </p:cNvPr>
          <p:cNvSpPr>
            <a:spLocks noGrp="1"/>
          </p:cNvSpPr>
          <p:nvPr>
            <p:ph type="body" sz="quarter" idx="11"/>
          </p:nvPr>
        </p:nvSpPr>
        <p:spPr/>
        <p:txBody>
          <a:bodyPr vert="horz" lIns="68580" tIns="34290" rIns="68580" bIns="34290" rtlCol="0" anchor="t">
            <a:normAutofit/>
          </a:bodyPr>
          <a:lstStyle/>
          <a:p>
            <a:r>
              <a:rPr lang="en-US" dirty="0">
                <a:ea typeface="+mn-lt"/>
                <a:cs typeface="+mn-lt"/>
              </a:rPr>
              <a:t>Service Independence</a:t>
            </a:r>
          </a:p>
        </p:txBody>
      </p:sp>
    </p:spTree>
    <p:extLst>
      <p:ext uri="{BB962C8B-B14F-4D97-AF65-F5344CB8AC3E}">
        <p14:creationId xmlns:p14="http://schemas.microsoft.com/office/powerpoint/2010/main" val="3256403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016E-4701-4F65-0791-BCB26946928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ED43D1-6A5B-8BD8-B6C0-4A2D7EAF963A}"/>
              </a:ext>
            </a:extLst>
          </p:cNvPr>
          <p:cNvSpPr>
            <a:spLocks noGrp="1"/>
          </p:cNvSpPr>
          <p:nvPr>
            <p:ph type="body" sz="quarter" idx="10"/>
          </p:nvPr>
        </p:nvSpPr>
        <p:spPr>
          <a:xfrm>
            <a:off x="1729892" y="4528874"/>
            <a:ext cx="4038375" cy="370413"/>
          </a:xfrm>
        </p:spPr>
        <p:txBody>
          <a:bodyPr vert="horz" lIns="68580" tIns="34290" rIns="68580" bIns="34290" rtlCol="0" anchor="t">
            <a:normAutofit/>
          </a:bodyPr>
          <a:lstStyle/>
          <a:p>
            <a:pPr marL="0" indent="0">
              <a:buNone/>
            </a:pPr>
            <a:r>
              <a:rPr lang="en-US" dirty="0">
                <a:ea typeface="Calibri" panose="020F0502020204030204"/>
                <a:cs typeface="Calibri" panose="020F0502020204030204"/>
              </a:rPr>
              <a:t>Source: AI Advances</a:t>
            </a:r>
            <a:endParaRPr lang="en-US" dirty="0">
              <a:ea typeface="+mn-lt"/>
              <a:cs typeface="+mn-lt"/>
            </a:endParaRPr>
          </a:p>
        </p:txBody>
      </p:sp>
      <p:sp>
        <p:nvSpPr>
          <p:cNvPr id="3" name="Text Placeholder 2">
            <a:extLst>
              <a:ext uri="{FF2B5EF4-FFF2-40B4-BE49-F238E27FC236}">
                <a16:creationId xmlns:a16="http://schemas.microsoft.com/office/drawing/2014/main" id="{BF1D6667-E7A2-1F80-C3AE-48EB08C8C96C}"/>
              </a:ext>
            </a:extLst>
          </p:cNvPr>
          <p:cNvSpPr>
            <a:spLocks noGrp="1"/>
          </p:cNvSpPr>
          <p:nvPr>
            <p:ph type="body" sz="quarter" idx="11"/>
          </p:nvPr>
        </p:nvSpPr>
        <p:spPr>
          <a:xfrm>
            <a:off x="534987" y="276623"/>
            <a:ext cx="5870972" cy="678656"/>
          </a:xfrm>
        </p:spPr>
        <p:txBody>
          <a:bodyPr vert="horz" lIns="68580" tIns="34290" rIns="68580" bIns="34290" rtlCol="0" anchor="t">
            <a:normAutofit/>
          </a:bodyPr>
          <a:lstStyle/>
          <a:p>
            <a:r>
              <a:rPr lang="en-US" sz="1800" dirty="0"/>
              <a:t>Service Independence</a:t>
            </a:r>
          </a:p>
        </p:txBody>
      </p:sp>
      <p:pic>
        <p:nvPicPr>
          <p:cNvPr id="5122" name="Picture 2" descr="Introduction To Microservices In For Beginners #01 | by Prince Krampah | AI  Advances">
            <a:extLst>
              <a:ext uri="{FF2B5EF4-FFF2-40B4-BE49-F238E27FC236}">
                <a16:creationId xmlns:a16="http://schemas.microsoft.com/office/drawing/2014/main" id="{1C58B8DD-9FF7-3863-5116-D6141F315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319" y="918529"/>
            <a:ext cx="5588694" cy="3306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496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CB0C0A-90C4-1632-8D46-9693A38146A4}"/>
              </a:ext>
            </a:extLst>
          </p:cNvPr>
          <p:cNvSpPr>
            <a:spLocks noGrp="1"/>
          </p:cNvSpPr>
          <p:nvPr>
            <p:ph type="body" sz="quarter" idx="10"/>
          </p:nvPr>
        </p:nvSpPr>
        <p:spPr>
          <a:xfrm>
            <a:off x="663178" y="1042195"/>
            <a:ext cx="5870972" cy="2640013"/>
          </a:xfrm>
        </p:spPr>
        <p:txBody>
          <a:bodyPr vert="horz" lIns="68580" tIns="34290" rIns="68580" bIns="34290" rtlCol="0" anchor="t">
            <a:noAutofit/>
          </a:bodyPr>
          <a:lstStyle/>
          <a:p>
            <a:r>
              <a:rPr lang="en-US" b="1" dirty="0">
                <a:ea typeface="Calibri"/>
                <a:cs typeface="Calibri"/>
              </a:rPr>
              <a:t>Granular Resource Allocation: </a:t>
            </a:r>
            <a:r>
              <a:rPr lang="en-US" dirty="0">
                <a:ea typeface="Calibri"/>
                <a:cs typeface="Calibri"/>
              </a:rPr>
              <a:t>A primary advantage is that services scale independently. There is absolutely no need to scale the entire system when only one function is under heavy load.</a:t>
            </a:r>
          </a:p>
          <a:p>
            <a:r>
              <a:rPr lang="en-US" b="1" dirty="0">
                <a:ea typeface="Calibri"/>
                <a:cs typeface="Calibri"/>
              </a:rPr>
              <a:t>Performance Optimization: </a:t>
            </a:r>
            <a:r>
              <a:rPr lang="en-US" dirty="0">
                <a:ea typeface="Calibri"/>
                <a:cs typeface="Calibri"/>
              </a:rPr>
              <a:t>This model supports horizontal scaling, which handles variable workloads effectively. It inherently improves system performance through highly efficient resource consumption.</a:t>
            </a:r>
          </a:p>
          <a:p>
            <a:r>
              <a:rPr lang="en-US" b="1" dirty="0">
                <a:ea typeface="Calibri"/>
                <a:cs typeface="Calibri"/>
              </a:rPr>
              <a:t>Cost and Growth: </a:t>
            </a:r>
            <a:r>
              <a:rPr lang="en-US" dirty="0">
                <a:ea typeface="Calibri"/>
                <a:cs typeface="Calibri"/>
              </a:rPr>
              <a:t>Granular scaling reduces infrastructure cost and enables long-term system growth without requiring a fundamental redesign.</a:t>
            </a:r>
          </a:p>
          <a:p>
            <a:r>
              <a:rPr lang="en-US" b="1" dirty="0">
                <a:ea typeface="Calibri"/>
                <a:cs typeface="Calibri"/>
              </a:rPr>
              <a:t>Practical Scenario: </a:t>
            </a:r>
            <a:r>
              <a:rPr lang="en-US" dirty="0">
                <a:ea typeface="Calibri"/>
                <a:cs typeface="Calibri"/>
              </a:rPr>
              <a:t>During a high-traffic event, a specific application module may experience variable workloads. Engineers can horizontally scale only that individual service to meet demand, which is far more efficient and reduces infrastructure cost compared to replicating the entire application.</a:t>
            </a:r>
          </a:p>
        </p:txBody>
      </p:sp>
      <p:sp>
        <p:nvSpPr>
          <p:cNvPr id="3" name="Text Placeholder 2">
            <a:extLst>
              <a:ext uri="{FF2B5EF4-FFF2-40B4-BE49-F238E27FC236}">
                <a16:creationId xmlns:a16="http://schemas.microsoft.com/office/drawing/2014/main" id="{E3373D74-202B-A008-48C8-4D26880CB9B2}"/>
              </a:ext>
            </a:extLst>
          </p:cNvPr>
          <p:cNvSpPr>
            <a:spLocks noGrp="1"/>
          </p:cNvSpPr>
          <p:nvPr>
            <p:ph type="body" sz="quarter" idx="11"/>
          </p:nvPr>
        </p:nvSpPr>
        <p:spPr>
          <a:xfrm>
            <a:off x="663178" y="137320"/>
            <a:ext cx="5870972" cy="904875"/>
          </a:xfrm>
        </p:spPr>
        <p:txBody>
          <a:bodyPr vert="horz" lIns="68580" tIns="34290" rIns="68580" bIns="34290" rtlCol="0" anchor="t">
            <a:normAutofit/>
          </a:bodyPr>
          <a:lstStyle/>
          <a:p>
            <a:r>
              <a:rPr lang="en-US" dirty="0">
                <a:ea typeface="+mn-lt"/>
                <a:cs typeface="+mn-lt"/>
              </a:rPr>
              <a:t>Benefits of Microservices Architecture - Scalability</a:t>
            </a:r>
          </a:p>
        </p:txBody>
      </p:sp>
    </p:spTree>
    <p:extLst>
      <p:ext uri="{BB962C8B-B14F-4D97-AF65-F5344CB8AC3E}">
        <p14:creationId xmlns:p14="http://schemas.microsoft.com/office/powerpoint/2010/main" val="1657743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F582-7B7C-A6C0-77A4-917F464832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99E56D-FEF4-9D87-7DAC-857C76FECCF2}"/>
              </a:ext>
            </a:extLst>
          </p:cNvPr>
          <p:cNvSpPr>
            <a:spLocks noGrp="1"/>
          </p:cNvSpPr>
          <p:nvPr>
            <p:ph type="body" sz="quarter" idx="10"/>
          </p:nvPr>
        </p:nvSpPr>
        <p:spPr>
          <a:xfrm>
            <a:off x="1729892" y="4528874"/>
            <a:ext cx="4038375" cy="370413"/>
          </a:xfrm>
        </p:spPr>
        <p:txBody>
          <a:bodyPr vert="horz" lIns="68580" tIns="34290" rIns="68580" bIns="34290" rtlCol="0" anchor="t">
            <a:normAutofit/>
          </a:bodyPr>
          <a:lstStyle/>
          <a:p>
            <a:pPr marL="0" indent="0">
              <a:buNone/>
            </a:pPr>
            <a:r>
              <a:rPr lang="en-US" dirty="0">
                <a:ea typeface="Calibri" panose="020F0502020204030204"/>
                <a:cs typeface="Calibri" panose="020F0502020204030204"/>
              </a:rPr>
              <a:t>Source: SayOne</a:t>
            </a:r>
            <a:endParaRPr lang="en-US" dirty="0">
              <a:ea typeface="+mn-lt"/>
              <a:cs typeface="+mn-lt"/>
            </a:endParaRPr>
          </a:p>
        </p:txBody>
      </p:sp>
      <p:sp>
        <p:nvSpPr>
          <p:cNvPr id="3" name="Text Placeholder 2">
            <a:extLst>
              <a:ext uri="{FF2B5EF4-FFF2-40B4-BE49-F238E27FC236}">
                <a16:creationId xmlns:a16="http://schemas.microsoft.com/office/drawing/2014/main" id="{F79514CD-53EF-4D79-1F47-B8DA7F723DFE}"/>
              </a:ext>
            </a:extLst>
          </p:cNvPr>
          <p:cNvSpPr>
            <a:spLocks noGrp="1"/>
          </p:cNvSpPr>
          <p:nvPr>
            <p:ph type="body" sz="quarter" idx="11"/>
          </p:nvPr>
        </p:nvSpPr>
        <p:spPr>
          <a:xfrm>
            <a:off x="534987" y="276623"/>
            <a:ext cx="5870972" cy="678656"/>
          </a:xfrm>
        </p:spPr>
        <p:txBody>
          <a:bodyPr vert="horz" lIns="68580" tIns="34290" rIns="68580" bIns="34290" rtlCol="0" anchor="t">
            <a:normAutofit/>
          </a:bodyPr>
          <a:lstStyle/>
          <a:p>
            <a:r>
              <a:rPr lang="en-US" sz="1800" dirty="0"/>
              <a:t>Scalability</a:t>
            </a:r>
          </a:p>
        </p:txBody>
      </p:sp>
      <p:pic>
        <p:nvPicPr>
          <p:cNvPr id="8194" name="Picture 2" descr="Scaling Microservices – A Basic Guide">
            <a:extLst>
              <a:ext uri="{FF2B5EF4-FFF2-40B4-BE49-F238E27FC236}">
                <a16:creationId xmlns:a16="http://schemas.microsoft.com/office/drawing/2014/main" id="{4F8FE230-A379-4BE7-6186-AFA90D992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955279"/>
            <a:ext cx="5936963" cy="3195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691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6026C1-E9E9-652F-E70A-F9AF1F53846C}"/>
              </a:ext>
            </a:extLst>
          </p:cNvPr>
          <p:cNvSpPr>
            <a:spLocks noGrp="1"/>
          </p:cNvSpPr>
          <p:nvPr>
            <p:ph type="body" sz="quarter" idx="10"/>
          </p:nvPr>
        </p:nvSpPr>
        <p:spPr>
          <a:xfrm>
            <a:off x="493514" y="1136650"/>
            <a:ext cx="5870972" cy="2640013"/>
          </a:xfrm>
        </p:spPr>
        <p:txBody>
          <a:bodyPr vert="horz" lIns="68580" tIns="34290" rIns="68580" bIns="34290" rtlCol="0" anchor="t">
            <a:noAutofit/>
          </a:bodyPr>
          <a:lstStyle/>
          <a:p>
            <a:r>
              <a:rPr lang="en-US" b="1" dirty="0">
                <a:ea typeface="Calibri"/>
                <a:cs typeface="Calibri"/>
              </a:rPr>
              <a:t>Accelerated Delivery: </a:t>
            </a:r>
            <a:r>
              <a:rPr lang="en-US" dirty="0">
                <a:ea typeface="Calibri"/>
                <a:cs typeface="Calibri"/>
              </a:rPr>
              <a:t>The architecture directly supports faster development and release cycles, drastically improving the product's time-to-market.</a:t>
            </a:r>
          </a:p>
          <a:p>
            <a:r>
              <a:rPr lang="en-US" b="1" dirty="0">
                <a:ea typeface="Calibri"/>
                <a:cs typeface="Calibri"/>
              </a:rPr>
              <a:t>Empowered Engineering Teams: </a:t>
            </a:r>
            <a:r>
              <a:rPr lang="en-US" dirty="0">
                <a:ea typeface="Calibri"/>
                <a:cs typeface="Calibri"/>
              </a:rPr>
              <a:t>By structuring the engineering department so that small teams work autonomously, there is a significantly reduced dependency between teams.</a:t>
            </a:r>
          </a:p>
          <a:p>
            <a:r>
              <a:rPr lang="en-US" b="1" dirty="0">
                <a:ea typeface="Calibri"/>
                <a:cs typeface="Calibri"/>
              </a:rPr>
              <a:t>Adaptability to Market Needs: </a:t>
            </a:r>
            <a:r>
              <a:rPr lang="en-US" dirty="0">
                <a:ea typeface="Calibri"/>
                <a:cs typeface="Calibri"/>
              </a:rPr>
              <a:t>This structure enables a rapid response to changing requirements, simplifying updates and fixes. It also conceptually encourages a DevOps culture and facilitates easier experimentation and innovation.</a:t>
            </a:r>
          </a:p>
        </p:txBody>
      </p:sp>
      <p:sp>
        <p:nvSpPr>
          <p:cNvPr id="3" name="Text Placeholder 2">
            <a:extLst>
              <a:ext uri="{FF2B5EF4-FFF2-40B4-BE49-F238E27FC236}">
                <a16:creationId xmlns:a16="http://schemas.microsoft.com/office/drawing/2014/main" id="{7B1F1129-BBCC-B09E-6795-0499E13651B7}"/>
              </a:ext>
            </a:extLst>
          </p:cNvPr>
          <p:cNvSpPr>
            <a:spLocks noGrp="1"/>
          </p:cNvSpPr>
          <p:nvPr>
            <p:ph type="body" sz="quarter" idx="11"/>
          </p:nvPr>
        </p:nvSpPr>
        <p:spPr/>
        <p:txBody>
          <a:bodyPr vert="horz" lIns="68580" tIns="34290" rIns="68580" bIns="34290" rtlCol="0" anchor="t">
            <a:normAutofit/>
          </a:bodyPr>
          <a:lstStyle/>
          <a:p>
            <a:r>
              <a:rPr lang="en-US" dirty="0"/>
              <a:t>Benefits of Microservices – Organizational Agility</a:t>
            </a:r>
            <a:endParaRPr lang="en-US" dirty="0">
              <a:ea typeface="+mn-lt"/>
              <a:cs typeface="+mn-lt"/>
            </a:endParaRPr>
          </a:p>
        </p:txBody>
      </p:sp>
    </p:spTree>
    <p:extLst>
      <p:ext uri="{BB962C8B-B14F-4D97-AF65-F5344CB8AC3E}">
        <p14:creationId xmlns:p14="http://schemas.microsoft.com/office/powerpoint/2010/main" val="1330553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8D4AAB-E16B-CED4-138D-DFCF3E0F1E16}"/>
              </a:ext>
            </a:extLst>
          </p:cNvPr>
          <p:cNvSpPr>
            <a:spLocks noGrp="1"/>
          </p:cNvSpPr>
          <p:nvPr>
            <p:ph type="body" sz="quarter" idx="10"/>
          </p:nvPr>
        </p:nvSpPr>
        <p:spPr>
          <a:xfrm>
            <a:off x="713184" y="1015999"/>
            <a:ext cx="5870972" cy="2640013"/>
          </a:xfrm>
        </p:spPr>
        <p:txBody>
          <a:bodyPr vert="horz" lIns="68580" tIns="34290" rIns="68580" bIns="34290" rtlCol="0" anchor="t">
            <a:noAutofit/>
          </a:bodyPr>
          <a:lstStyle/>
          <a:p>
            <a:r>
              <a:rPr lang="en-US" b="1" dirty="0">
                <a:ea typeface="Calibri"/>
                <a:cs typeface="Calibri"/>
              </a:rPr>
              <a:t>The Cost of Distribution: </a:t>
            </a:r>
            <a:r>
              <a:rPr lang="en-US" dirty="0">
                <a:ea typeface="Calibri"/>
                <a:cs typeface="Calibri"/>
              </a:rPr>
              <a:t>Transitioning away from monoliths leads to inherently increased system complexity. Managing distributed services introduces significant operational overhead.</a:t>
            </a:r>
          </a:p>
          <a:p>
            <a:r>
              <a:rPr lang="en-US" b="1" dirty="0">
                <a:ea typeface="Calibri"/>
                <a:cs typeface="Calibri"/>
              </a:rPr>
              <a:t>Coordination and Governance: </a:t>
            </a:r>
            <a:r>
              <a:rPr lang="en-US" dirty="0">
                <a:ea typeface="Calibri"/>
                <a:cs typeface="Calibri"/>
              </a:rPr>
              <a:t>Engineers face difficult service coordination due to the sheer volume of components interacting over a network. There are simply more components to manage.</a:t>
            </a:r>
          </a:p>
          <a:p>
            <a:r>
              <a:rPr lang="en-US" b="1" dirty="0">
                <a:ea typeface="Calibri"/>
                <a:cs typeface="Calibri"/>
              </a:rPr>
              <a:t>Monitoring Burden: </a:t>
            </a:r>
            <a:r>
              <a:rPr lang="en-US" dirty="0">
                <a:ea typeface="Calibri"/>
                <a:cs typeface="Calibri"/>
              </a:rPr>
              <a:t>This distributed nature creates complex monitoring requirements and a steep learning curve for development and operations teams. Ultimately, it requires strict, strong design discipline.</a:t>
            </a:r>
          </a:p>
          <a:p>
            <a:r>
              <a:rPr lang="en-US" b="1" dirty="0">
                <a:ea typeface="Calibri"/>
                <a:cs typeface="Calibri"/>
              </a:rPr>
              <a:t>Practical Scenario: </a:t>
            </a:r>
            <a:r>
              <a:rPr lang="en-US" dirty="0">
                <a:ea typeface="Calibri"/>
                <a:cs typeface="Calibri"/>
              </a:rPr>
              <a:t>When an application is split into dozens of services, tracking the health of the system requires managing distributed services simultaneously. This introduces a steep learning curve as teams must navigate complex monitoring requirements to ensure all independent parts are functioning correctly.</a:t>
            </a:r>
          </a:p>
        </p:txBody>
      </p:sp>
      <p:sp>
        <p:nvSpPr>
          <p:cNvPr id="3" name="Text Placeholder 2">
            <a:extLst>
              <a:ext uri="{FF2B5EF4-FFF2-40B4-BE49-F238E27FC236}">
                <a16:creationId xmlns:a16="http://schemas.microsoft.com/office/drawing/2014/main" id="{A821E64A-6AA7-1018-3CD0-96A157A4D6D3}"/>
              </a:ext>
            </a:extLst>
          </p:cNvPr>
          <p:cNvSpPr>
            <a:spLocks noGrp="1"/>
          </p:cNvSpPr>
          <p:nvPr>
            <p:ph type="body" sz="quarter" idx="11"/>
          </p:nvPr>
        </p:nvSpPr>
        <p:spPr>
          <a:xfrm>
            <a:off x="663178" y="51596"/>
            <a:ext cx="5870972" cy="904875"/>
          </a:xfrm>
        </p:spPr>
        <p:txBody>
          <a:bodyPr vert="horz" lIns="68580" tIns="34290" rIns="68580" bIns="34290" rtlCol="0" anchor="t">
            <a:normAutofit/>
          </a:bodyPr>
          <a:lstStyle/>
          <a:p>
            <a:r>
              <a:rPr lang="en-US" dirty="0"/>
              <a:t>Architectural Challenges – System Complexity</a:t>
            </a:r>
          </a:p>
        </p:txBody>
      </p:sp>
    </p:spTree>
    <p:extLst>
      <p:ext uri="{BB962C8B-B14F-4D97-AF65-F5344CB8AC3E}">
        <p14:creationId xmlns:p14="http://schemas.microsoft.com/office/powerpoint/2010/main" val="273401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B32F1-27E6-AFDF-E63A-85169BFD5B8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25CB327-2FAC-3A34-EA01-322F87CA5BE0}"/>
              </a:ext>
            </a:extLst>
          </p:cNvPr>
          <p:cNvSpPr>
            <a:spLocks noGrp="1"/>
          </p:cNvSpPr>
          <p:nvPr>
            <p:ph type="body" sz="quarter" idx="10"/>
          </p:nvPr>
        </p:nvSpPr>
        <p:spPr>
          <a:xfrm>
            <a:off x="663178" y="837405"/>
            <a:ext cx="5870972" cy="2640013"/>
          </a:xfrm>
        </p:spPr>
        <p:txBody>
          <a:bodyPr vert="horz" lIns="68580" tIns="34290" rIns="68580" bIns="34290" rtlCol="0" anchor="t">
            <a:noAutofit/>
          </a:bodyPr>
          <a:lstStyle/>
          <a:p>
            <a:r>
              <a:rPr lang="en-US" b="1" dirty="0">
                <a:ea typeface="Calibri"/>
                <a:cs typeface="Calibri"/>
              </a:rPr>
              <a:t>Testing Intricacies: </a:t>
            </a:r>
            <a:r>
              <a:rPr lang="en-US" dirty="0">
                <a:ea typeface="Calibri"/>
                <a:cs typeface="Calibri"/>
              </a:rPr>
              <a:t>Verifying system behavior is difficult because end-to-end testing becomes complex. It requires rigorous service interaction testing and careful dependency management during tests.</a:t>
            </a:r>
          </a:p>
          <a:p>
            <a:r>
              <a:rPr lang="en-US" b="1" dirty="0">
                <a:ea typeface="Calibri"/>
                <a:cs typeface="Calibri"/>
              </a:rPr>
              <a:t>Environment Hurdles: </a:t>
            </a:r>
            <a:r>
              <a:rPr lang="en-US" dirty="0">
                <a:ea typeface="Calibri"/>
                <a:cs typeface="Calibri"/>
              </a:rPr>
              <a:t>Engineers frequently encounter test environment setup complexity and severe data consistency issues in testing.</a:t>
            </a:r>
          </a:p>
          <a:p>
            <a:r>
              <a:rPr lang="en-US" b="1" dirty="0">
                <a:ea typeface="Calibri"/>
                <a:cs typeface="Calibri"/>
              </a:rPr>
              <a:t>Diagnostic Difficulties: </a:t>
            </a:r>
            <a:r>
              <a:rPr lang="en-US" dirty="0">
                <a:ea typeface="Calibri"/>
                <a:cs typeface="Calibri"/>
              </a:rPr>
              <a:t>Because requests span multiple networked services, debugging becomes a slower debugging process, and developers face harder fault reproduction. This drives an increased need for automation.</a:t>
            </a:r>
          </a:p>
          <a:p>
            <a:r>
              <a:rPr lang="en-US" b="1" dirty="0">
                <a:ea typeface="Calibri"/>
                <a:cs typeface="Calibri"/>
              </a:rPr>
              <a:t>Practical Scenario: </a:t>
            </a:r>
            <a:r>
              <a:rPr lang="en-US" dirty="0">
                <a:ea typeface="Calibri"/>
                <a:cs typeface="Calibri"/>
              </a:rPr>
              <a:t>If an error occurs in a distributed user flow, identifying the root cause is challenging, resulting in a slower debugging process and harder fault reproduction. Teams must manage test environment setup complexity just to simulate how multiple services interact to trigger the bug.</a:t>
            </a:r>
          </a:p>
        </p:txBody>
      </p:sp>
      <p:sp>
        <p:nvSpPr>
          <p:cNvPr id="3" name="Text Placeholder 2">
            <a:extLst>
              <a:ext uri="{FF2B5EF4-FFF2-40B4-BE49-F238E27FC236}">
                <a16:creationId xmlns:a16="http://schemas.microsoft.com/office/drawing/2014/main" id="{473ADCF8-024C-1A07-C57E-6AE0790AF5F4}"/>
              </a:ext>
            </a:extLst>
          </p:cNvPr>
          <p:cNvSpPr>
            <a:spLocks noGrp="1"/>
          </p:cNvSpPr>
          <p:nvPr>
            <p:ph type="body" sz="quarter" idx="11"/>
          </p:nvPr>
        </p:nvSpPr>
        <p:spPr>
          <a:xfrm>
            <a:off x="663178" y="51596"/>
            <a:ext cx="5870972" cy="904875"/>
          </a:xfrm>
        </p:spPr>
        <p:txBody>
          <a:bodyPr vert="horz" lIns="68580" tIns="34290" rIns="68580" bIns="34290" rtlCol="0" anchor="t">
            <a:normAutofit/>
          </a:bodyPr>
          <a:lstStyle/>
          <a:p>
            <a:r>
              <a:rPr lang="en-US" dirty="0"/>
              <a:t>Operational Challenges – Testing and Debugging</a:t>
            </a:r>
          </a:p>
        </p:txBody>
      </p:sp>
    </p:spTree>
    <p:extLst>
      <p:ext uri="{BB962C8B-B14F-4D97-AF65-F5344CB8AC3E}">
        <p14:creationId xmlns:p14="http://schemas.microsoft.com/office/powerpoint/2010/main" val="2644244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1E59F0-414B-C300-EA77-60E5FA4B6DA7}"/>
              </a:ext>
            </a:extLst>
          </p:cNvPr>
          <p:cNvSpPr>
            <a:spLocks noGrp="1"/>
          </p:cNvSpPr>
          <p:nvPr>
            <p:ph type="body" sz="quarter" idx="10"/>
          </p:nvPr>
        </p:nvSpPr>
        <p:spPr>
          <a:xfrm>
            <a:off x="663178" y="902493"/>
            <a:ext cx="5870972" cy="2640013"/>
          </a:xfrm>
        </p:spPr>
        <p:txBody>
          <a:bodyPr vert="horz" lIns="68580" tIns="34290" rIns="68580" bIns="34290" rtlCol="0" anchor="t">
            <a:normAutofit/>
          </a:bodyPr>
          <a:lstStyle/>
          <a:p>
            <a:r>
              <a:rPr lang="en-US" b="1" dirty="0">
                <a:ea typeface="Calibri"/>
                <a:cs typeface="Calibri"/>
              </a:rPr>
              <a:t>Ideal Use Cases: </a:t>
            </a:r>
            <a:r>
              <a:rPr lang="en-US" dirty="0">
                <a:ea typeface="Calibri"/>
                <a:cs typeface="Calibri"/>
              </a:rPr>
              <a:t>This architectural pattern is highly suitable for large and complex applications and rapidly evolving business domains.</a:t>
            </a:r>
          </a:p>
          <a:p>
            <a:r>
              <a:rPr lang="en-US" b="1" dirty="0">
                <a:ea typeface="Calibri"/>
                <a:cs typeface="Calibri"/>
              </a:rPr>
              <a:t>Technical Prerequisites: </a:t>
            </a:r>
            <a:r>
              <a:rPr lang="en-US" dirty="0">
                <a:ea typeface="Calibri"/>
                <a:cs typeface="Calibri"/>
              </a:rPr>
              <a:t>It is designed for systems requiring high scalability, high availability requirements, and strict modular system needs.</a:t>
            </a:r>
          </a:p>
          <a:p>
            <a:r>
              <a:rPr lang="en-US" b="1" dirty="0">
                <a:ea typeface="Calibri"/>
                <a:cs typeface="Calibri"/>
              </a:rPr>
              <a:t>Organizational Prerequisites: </a:t>
            </a:r>
            <a:r>
              <a:rPr lang="en-US" dirty="0">
                <a:ea typeface="Calibri"/>
                <a:cs typeface="Calibri"/>
              </a:rPr>
              <a:t>Successfully adopting microservices generally requires the presence of multiple independent development teams and a commitment to long-term product evolution within cloud-native environments.</a:t>
            </a:r>
          </a:p>
          <a:p>
            <a:r>
              <a:rPr lang="en-US" b="1" dirty="0">
                <a:ea typeface="Calibri"/>
                <a:cs typeface="Calibri"/>
              </a:rPr>
              <a:t>Practical Scenario: </a:t>
            </a:r>
            <a:r>
              <a:rPr lang="en-US" dirty="0">
                <a:ea typeface="Calibri"/>
                <a:cs typeface="Calibri"/>
              </a:rPr>
              <a:t>An enterprise planning for long-term product evolution in cloud-native environments is an ideal candidate. </a:t>
            </a:r>
          </a:p>
        </p:txBody>
      </p:sp>
      <p:sp>
        <p:nvSpPr>
          <p:cNvPr id="3" name="Text Placeholder 2">
            <a:extLst>
              <a:ext uri="{FF2B5EF4-FFF2-40B4-BE49-F238E27FC236}">
                <a16:creationId xmlns:a16="http://schemas.microsoft.com/office/drawing/2014/main" id="{66CA6A85-58D2-C05A-0A1F-95694F0AB2E4}"/>
              </a:ext>
            </a:extLst>
          </p:cNvPr>
          <p:cNvSpPr>
            <a:spLocks noGrp="1"/>
          </p:cNvSpPr>
          <p:nvPr>
            <p:ph type="body" sz="quarter" idx="11"/>
          </p:nvPr>
        </p:nvSpPr>
        <p:spPr/>
        <p:txBody>
          <a:bodyPr vert="horz" lIns="68580" tIns="34290" rIns="68580" bIns="34290" rtlCol="0" anchor="t">
            <a:normAutofit/>
          </a:bodyPr>
          <a:lstStyle/>
          <a:p>
            <a:r>
              <a:rPr lang="en-US" dirty="0"/>
              <a:t>When to Use Microservices</a:t>
            </a:r>
            <a:endParaRPr lang="en-US" b="0" dirty="0"/>
          </a:p>
        </p:txBody>
      </p:sp>
    </p:spTree>
    <p:extLst>
      <p:ext uri="{BB962C8B-B14F-4D97-AF65-F5344CB8AC3E}">
        <p14:creationId xmlns:p14="http://schemas.microsoft.com/office/powerpoint/2010/main" val="630869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552203" y="373978"/>
            <a:ext cx="6216732" cy="333450"/>
            <a:chOff x="0" y="6299"/>
            <a:chExt cx="5580934" cy="444600"/>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Summary</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buNone/>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buNone/>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F2DF282-8D00-4EFA-4D08-6B9ABBAA7A52}"/>
              </a:ext>
            </a:extLst>
          </p:cNvPr>
          <p:cNvSpPr txBox="1"/>
          <p:nvPr/>
        </p:nvSpPr>
        <p:spPr>
          <a:xfrm>
            <a:off x="151411" y="1107028"/>
            <a:ext cx="6706589" cy="1754296"/>
          </a:xfrm>
          <a:prstGeom prst="rect">
            <a:avLst/>
          </a:prstGeom>
          <a:noFill/>
          <a:ln>
            <a:noFill/>
          </a:ln>
        </p:spPr>
        <p:txBody>
          <a:bodyPr spcFirstLastPara="1" wrap="square" lIns="68569" tIns="34275" rIns="68569" bIns="34275" anchor="t" anchorCtr="0">
            <a:spAutoFit/>
          </a:bodyPr>
          <a:lstStyle/>
          <a:p>
            <a:pPr marL="214313" indent="-214313">
              <a:lnSpc>
                <a:spcPct val="90000"/>
              </a:lnSpc>
              <a:spcBef>
                <a:spcPts val="563"/>
              </a:spcBef>
              <a:buFont typeface="Arial"/>
              <a:buChar char="•"/>
            </a:pPr>
            <a:r>
              <a:rPr lang="en-US" sz="1500" dirty="0">
                <a:latin typeface="Calibri" panose="020F0502020204030204" pitchFamily="34" charset="0"/>
                <a:ea typeface="Calibri" panose="020F0502020204030204" pitchFamily="34" charset="0"/>
                <a:cs typeface="Calibri" panose="020F0502020204030204" pitchFamily="34" charset="0"/>
              </a:rPr>
              <a:t>Microservices fundamentally emphasize independence. Implementing decentralized data improves autonomy across the system.</a:t>
            </a:r>
          </a:p>
          <a:p>
            <a:pPr marL="214313" indent="-214313">
              <a:lnSpc>
                <a:spcPct val="90000"/>
              </a:lnSpc>
              <a:spcBef>
                <a:spcPts val="563"/>
              </a:spcBef>
              <a:buFont typeface="Arial"/>
              <a:buChar char="•"/>
            </a:pPr>
            <a:r>
              <a:rPr lang="en-US" sz="1500" dirty="0">
                <a:latin typeface="Calibri" panose="020F0502020204030204" pitchFamily="34" charset="0"/>
                <a:ea typeface="Calibri" panose="020F0502020204030204" pitchFamily="34" charset="0"/>
                <a:cs typeface="Calibri" panose="020F0502020204030204" pitchFamily="34" charset="0"/>
              </a:rPr>
              <a:t>Scalability and agility are major benefits, and the architecture robustly supports rapid innovation. However, system complexity is a significant challenge, and end-to-end testing requires careful planning.</a:t>
            </a:r>
          </a:p>
          <a:p>
            <a:pPr marL="214313" indent="-214313">
              <a:lnSpc>
                <a:spcPct val="90000"/>
              </a:lnSpc>
              <a:spcBef>
                <a:spcPts val="563"/>
              </a:spcBef>
              <a:buFont typeface="Arial"/>
              <a:buChar char="•"/>
            </a:pPr>
            <a:r>
              <a:rPr lang="en-US" sz="1500" dirty="0">
                <a:latin typeface="Calibri" panose="020F0502020204030204" pitchFamily="34" charset="0"/>
                <a:ea typeface="Calibri" panose="020F0502020204030204" pitchFamily="34" charset="0"/>
                <a:cs typeface="Calibri" panose="020F0502020204030204" pitchFamily="34" charset="0"/>
              </a:rPr>
              <a:t>Microservices are not suitable for all applications. The architecture choice must be justified by the specific scale, complexity, and needs of the project.</a:t>
            </a:r>
          </a:p>
        </p:txBody>
      </p:sp>
      <p:sp>
        <p:nvSpPr>
          <p:cNvPr id="7" name="TextBox 6"/>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6</a:t>
            </a:r>
          </a:p>
        </p:txBody>
      </p:sp>
    </p:spTree>
    <p:extLst>
      <p:ext uri="{BB962C8B-B14F-4D97-AF65-F5344CB8AC3E}">
        <p14:creationId xmlns:p14="http://schemas.microsoft.com/office/powerpoint/2010/main" val="1833566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536896" y="610784"/>
            <a:ext cx="6207826" cy="594755"/>
            <a:chOff x="0" y="6299"/>
            <a:chExt cx="5580934" cy="793006"/>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398113"/>
              <a:ext cx="5537526" cy="401192"/>
            </a:xfrm>
            <a:prstGeom prst="rect">
              <a:avLst/>
            </a:prstGeom>
            <a:grpFill/>
            <a:ln>
              <a:noFill/>
            </a:ln>
          </p:spPr>
          <p:txBody>
            <a:bodyPr spcFirstLastPara="1" wrap="square" lIns="54281" tIns="54281" rIns="54281" bIns="54281" anchor="ctr" anchorCtr="0">
              <a:noAutofit/>
            </a:bodyPr>
            <a:lstStyle/>
            <a:p>
              <a:pPr lvl="0" algn="just">
                <a:lnSpc>
                  <a:spcPct val="90000"/>
                </a:lnSpc>
                <a:buSzPts val="1900"/>
              </a:pPr>
              <a:r>
                <a:rPr lang="en-US" b="1" dirty="0">
                  <a:latin typeface="Calibri"/>
                  <a:ea typeface="Calibri"/>
                  <a:cs typeface="Calibri"/>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sz="quarter" idx="10"/>
          </p:nvPr>
        </p:nvSpPr>
        <p:spPr>
          <a:xfrm>
            <a:off x="281242" y="1606871"/>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67017" y="1499399"/>
            <a:ext cx="6723966" cy="1345723"/>
          </a:xfrm>
          <a:prstGeom prst="rect">
            <a:avLst/>
          </a:prstGeom>
          <a:noFill/>
          <a:ln>
            <a:noFill/>
          </a:ln>
        </p:spPr>
        <p:txBody>
          <a:bodyPr spcFirstLastPara="1" wrap="square" lIns="68569" tIns="34275" rIns="68569" bIns="34275" anchor="t" anchorCtr="0">
            <a:spAutoFit/>
          </a:bodyPr>
          <a:lstStyle/>
          <a:p>
            <a:pPr marL="342900" indent="-342900" algn="just">
              <a:buFont typeface="Arial"/>
              <a:buChar char="•"/>
            </a:pPr>
            <a:r>
              <a:rPr lang="en-US" sz="1050" dirty="0">
                <a:ea typeface="+mn-lt"/>
                <a:cs typeface="+mn-lt"/>
                <a:sym typeface="Arial"/>
              </a:rPr>
              <a:t>Cloud Computing: </a:t>
            </a:r>
            <a:r>
              <a:rPr lang="en-US" sz="1050" dirty="0">
                <a:ea typeface="+mn-lt"/>
                <a:cs typeface="+mn-lt"/>
                <a:sym typeface="Arial"/>
                <a:hlinkClick r:id="rId3">
                  <a:extLst>
                    <a:ext uri="{A12FA001-AC4F-418D-AE19-62706E023703}">
                      <ahyp:hlinkClr xmlns:ahyp="http://schemas.microsoft.com/office/drawing/2018/hyperlinkcolor" val="tx"/>
                    </a:ext>
                  </a:extLst>
                </a:hlinkClick>
              </a:rPr>
              <a:t>https://onlinecourses.nptel.ac.in/noc21_cs14/preview</a:t>
            </a:r>
            <a:endParaRPr lang="en-US" sz="1050" dirty="0">
              <a:ea typeface="Calibri"/>
              <a:cs typeface="Calibri"/>
              <a:hlinkClick r:id="" action="ppaction://noaction">
                <a:extLst>
                  <a:ext uri="{A12FA001-AC4F-418D-AE19-62706E023703}">
                    <ahyp:hlinkClr xmlns:ahyp="http://schemas.microsoft.com/office/drawing/2018/hyperlinkcolor" val="tx"/>
                  </a:ext>
                </a:extLst>
              </a:hlinkClick>
            </a:endParaRPr>
          </a:p>
          <a:p>
            <a:pPr marL="214313" indent="-214313" algn="just">
              <a:buFont typeface="Arial"/>
              <a:buChar char="•"/>
            </a:pPr>
            <a:endParaRPr lang="en-US" sz="1050" dirty="0">
              <a:ea typeface="Calibri"/>
              <a:cs typeface="Calibri"/>
            </a:endParaRPr>
          </a:p>
          <a:p>
            <a:pPr marL="342900" indent="-342900" algn="just">
              <a:buFont typeface="Arial"/>
              <a:buChar char="•"/>
            </a:pPr>
            <a:r>
              <a:rPr lang="en-US" sz="1050" dirty="0">
                <a:ea typeface="+mn-lt"/>
                <a:cs typeface="+mn-lt"/>
                <a:sym typeface="Arial"/>
              </a:rPr>
              <a:t>Cloud Computing: </a:t>
            </a:r>
            <a:r>
              <a:rPr lang="en-US" sz="1050" dirty="0">
                <a:ea typeface="+mn-lt"/>
                <a:cs typeface="+mn-lt"/>
                <a:sym typeface="Arial"/>
                <a:hlinkClick r:id="rId4">
                  <a:extLst>
                    <a:ext uri="{A12FA001-AC4F-418D-AE19-62706E023703}">
                      <ahyp:hlinkClr xmlns:ahyp="http://schemas.microsoft.com/office/drawing/2018/hyperlinkcolor" val="tx"/>
                    </a:ext>
                  </a:extLst>
                </a:hlinkClick>
              </a:rPr>
              <a:t>https://onlinecourses.nptel.ac.in/noc26_cs55/preview</a:t>
            </a:r>
            <a:endParaRPr lang="en-US" sz="1050" dirty="0">
              <a:ea typeface="Calibri" panose="020F0502020204030204"/>
              <a:cs typeface="Calibri" panose="020F0502020204030204"/>
              <a:hlinkClick r:id="" action="ppaction://noaction">
                <a:extLst>
                  <a:ext uri="{A12FA001-AC4F-418D-AE19-62706E023703}">
                    <ahyp:hlinkClr xmlns:ahyp="http://schemas.microsoft.com/office/drawing/2018/hyperlinkcolor" val="tx"/>
                  </a:ext>
                </a:extLst>
              </a:hlinkClick>
            </a:endParaRPr>
          </a:p>
          <a:p>
            <a:pPr marL="214313" indent="-214313" algn="just">
              <a:buFont typeface="Arial"/>
              <a:buChar char="•"/>
            </a:pPr>
            <a:endParaRPr lang="en-US" sz="1050" dirty="0">
              <a:ea typeface="Calibri"/>
              <a:cs typeface="Calibri"/>
            </a:endParaRPr>
          </a:p>
          <a:p>
            <a:pPr marL="342900" indent="-342900" algn="just">
              <a:buFont typeface="Arial"/>
              <a:buChar char="•"/>
            </a:pPr>
            <a:r>
              <a:rPr lang="en-US" sz="1050" dirty="0">
                <a:ea typeface="+mn-lt"/>
                <a:cs typeface="+mn-lt"/>
                <a:sym typeface="Arial"/>
              </a:rPr>
              <a:t>Google Cloud Computing Foundations: </a:t>
            </a:r>
            <a:r>
              <a:rPr lang="en-US" sz="1050" dirty="0">
                <a:ea typeface="+mn-lt"/>
                <a:cs typeface="+mn-lt"/>
                <a:sym typeface="Arial"/>
                <a:hlinkClick r:id="rId5">
                  <a:extLst>
                    <a:ext uri="{A12FA001-AC4F-418D-AE19-62706E023703}">
                      <ahyp:hlinkClr xmlns:ahyp="http://schemas.microsoft.com/office/drawing/2018/hyperlinkcolor" val="tx"/>
                    </a:ext>
                  </a:extLst>
                </a:hlinkClick>
              </a:rPr>
              <a:t>https://onlinecourses.nptel.ac.in/noc20_cs55/preview</a:t>
            </a:r>
            <a:endParaRPr lang="en-US" sz="1050" dirty="0">
              <a:ea typeface="Calibri" panose="020F0502020204030204"/>
              <a:cs typeface="Calibri" panose="020F0502020204030204"/>
              <a:hlinkClick r:id="" action="ppaction://noaction">
                <a:extLst>
                  <a:ext uri="{A12FA001-AC4F-418D-AE19-62706E023703}">
                    <ahyp:hlinkClr xmlns:ahyp="http://schemas.microsoft.com/office/drawing/2018/hyperlinkcolor" val="tx"/>
                  </a:ext>
                </a:extLst>
              </a:hlinkClick>
            </a:endParaRPr>
          </a:p>
          <a:p>
            <a:pPr marL="214313" indent="-214313" algn="just">
              <a:buFont typeface="Arial"/>
              <a:buChar char="•"/>
            </a:pPr>
            <a:endParaRPr lang="en-US" sz="1050" dirty="0">
              <a:ea typeface="Calibri"/>
              <a:cs typeface="Calibri"/>
            </a:endParaRPr>
          </a:p>
          <a:p>
            <a:pPr marL="342900" indent="-342900" algn="just">
              <a:buFont typeface="Arial"/>
              <a:buChar char="•"/>
            </a:pPr>
            <a:r>
              <a:rPr lang="en-US" sz="1050" dirty="0">
                <a:ea typeface="+mn-lt"/>
                <a:cs typeface="+mn-lt"/>
              </a:rPr>
              <a:t>Google Cloud Computing Foundations: </a:t>
            </a:r>
            <a:r>
              <a:rPr lang="en-US" sz="1050" dirty="0">
                <a:ea typeface="+mn-lt"/>
                <a:cs typeface="+mn-lt"/>
                <a:hlinkClick r:id="rId6">
                  <a:extLst>
                    <a:ext uri="{A12FA001-AC4F-418D-AE19-62706E023703}">
                      <ahyp:hlinkClr xmlns:ahyp="http://schemas.microsoft.com/office/drawing/2018/hyperlinkcolor" val="tx"/>
                    </a:ext>
                  </a:extLst>
                </a:hlinkClick>
              </a:rPr>
              <a:t>https://onlinecourses.nptel.ac.in/noc24_cs131/preview</a:t>
            </a:r>
            <a:endParaRPr lang="en-US" sz="1050" dirty="0">
              <a:ea typeface="Calibri"/>
              <a:cs typeface="Calibri"/>
            </a:endParaRPr>
          </a:p>
          <a:p>
            <a:pPr marL="342900" indent="-342900" algn="just">
              <a:lnSpc>
                <a:spcPct val="90000"/>
              </a:lnSpc>
              <a:buFont typeface="Arial"/>
              <a:buChar char="•"/>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6457143" y="707428"/>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10</a:t>
            </a:r>
          </a:p>
        </p:txBody>
      </p:sp>
    </p:spTree>
    <p:extLst>
      <p:ext uri="{BB962C8B-B14F-4D97-AF65-F5344CB8AC3E}">
        <p14:creationId xmlns:p14="http://schemas.microsoft.com/office/powerpoint/2010/main" val="2444214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539503" y="420464"/>
            <a:ext cx="6216732" cy="33345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buNone/>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buNone/>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151411" y="1088100"/>
            <a:ext cx="6706589" cy="941766"/>
          </a:xfrm>
          <a:prstGeom prst="rect">
            <a:avLst/>
          </a:prstGeom>
          <a:noFill/>
          <a:ln>
            <a:noFill/>
          </a:ln>
        </p:spPr>
        <p:txBody>
          <a:bodyPr spcFirstLastPara="1" wrap="square" lIns="68569" tIns="34275" rIns="68569" bIns="34275" anchor="t" anchorCtr="0">
            <a:spAutoFit/>
          </a:bodyPr>
          <a:lstStyle/>
          <a:p>
            <a:pPr algn="just">
              <a:lnSpc>
                <a:spcPct val="90000"/>
              </a:lnSpc>
            </a:pPr>
            <a:r>
              <a:rPr lang="en-US" sz="2100" dirty="0">
                <a:ea typeface="+mn-lt"/>
                <a:cs typeface="+mn-lt"/>
              </a:rPr>
              <a:t>Deep dive into container technology </a:t>
            </a:r>
            <a:r>
              <a:rPr lang="en-US" sz="2100" dirty="0">
                <a:ea typeface="+mn-lt"/>
                <a:cs typeface="+mn-lt"/>
                <a:sym typeface="Arial"/>
              </a:rPr>
              <a:t>(Docker concepts), need for orchestration, introduction to Kubernetes/ECS concepts. </a:t>
            </a:r>
            <a:endParaRPr lang="en-US" sz="1350" dirty="0"/>
          </a:p>
        </p:txBody>
      </p:sp>
      <p:sp>
        <p:nvSpPr>
          <p:cNvPr id="7" name="TextBox 6"/>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7</a:t>
            </a:r>
          </a:p>
        </p:txBody>
      </p:sp>
    </p:spTree>
    <p:extLst>
      <p:ext uri="{BB962C8B-B14F-4D97-AF65-F5344CB8AC3E}">
        <p14:creationId xmlns:p14="http://schemas.microsoft.com/office/powerpoint/2010/main" val="1412672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482606" y="478114"/>
            <a:ext cx="6234545" cy="33345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sz="quarter" idx="10"/>
          </p:nvPr>
        </p:nvSpPr>
        <p:spPr>
          <a:xfrm>
            <a:off x="482606" y="1290670"/>
            <a:ext cx="6000750" cy="2186100"/>
          </a:xfrm>
          <a:prstGeom prst="rect">
            <a:avLst/>
          </a:prstGeom>
          <a:noFill/>
          <a:ln>
            <a:noFill/>
          </a:ln>
        </p:spPr>
        <p:txBody>
          <a:bodyPr spcFirstLastPara="1" vert="horz" wrap="square" lIns="68569" tIns="34275" rIns="68569" bIns="34275" rtlCol="0" anchor="t" anchorCtr="0">
            <a:noAutofit/>
          </a:bodyPr>
          <a:lstStyle/>
          <a:p>
            <a:pPr algn="just">
              <a:buNone/>
            </a:pPr>
            <a:r>
              <a:rPr lang="en-US" dirty="0">
                <a:ea typeface="+mn-lt"/>
                <a:cs typeface="+mn-lt"/>
                <a:sym typeface="Times New Roman"/>
              </a:rPr>
              <a:t>1. What is decentralized data management in microservices?</a:t>
            </a:r>
            <a:endParaRPr lang="en-US" dirty="0">
              <a:sym typeface="Times New Roman"/>
            </a:endParaRPr>
          </a:p>
          <a:p>
            <a:pPr algn="just">
              <a:buNone/>
            </a:pPr>
            <a:r>
              <a:rPr lang="en-US" dirty="0">
                <a:ea typeface="+mn-lt"/>
                <a:cs typeface="+mn-lt"/>
                <a:sym typeface="Times New Roman"/>
              </a:rPr>
              <a:t>2. Why is service independence important in microservices?</a:t>
            </a:r>
            <a:endParaRPr lang="en-US" dirty="0">
              <a:sym typeface="Times New Roman"/>
            </a:endParaRPr>
          </a:p>
          <a:p>
            <a:pPr algn="just">
              <a:buNone/>
            </a:pPr>
            <a:r>
              <a:rPr lang="en-US" dirty="0">
                <a:ea typeface="+mn-lt"/>
                <a:cs typeface="+mn-lt"/>
                <a:sym typeface="Times New Roman"/>
              </a:rPr>
              <a:t>3. How do microservices improve scalability?</a:t>
            </a:r>
            <a:endParaRPr lang="en-US" dirty="0">
              <a:sym typeface="Times New Roman"/>
            </a:endParaRPr>
          </a:p>
          <a:p>
            <a:pPr algn="just">
              <a:buNone/>
            </a:pPr>
            <a:r>
              <a:rPr lang="en-US" dirty="0">
                <a:ea typeface="+mn-lt"/>
                <a:cs typeface="+mn-lt"/>
                <a:sym typeface="Times New Roman"/>
              </a:rPr>
              <a:t>4. What is the biggest challenge in microservices architecture?</a:t>
            </a:r>
            <a:endParaRPr lang="en-US" dirty="0">
              <a:sym typeface="Times New Roman"/>
            </a:endParaRPr>
          </a:p>
          <a:p>
            <a:pPr algn="just">
              <a:buNone/>
            </a:pPr>
            <a:r>
              <a:rPr lang="en-US" dirty="0">
                <a:ea typeface="+mn-lt"/>
                <a:cs typeface="+mn-lt"/>
                <a:sym typeface="Times New Roman"/>
              </a:rPr>
              <a:t>5. Are microservices suitable for small applications?</a:t>
            </a:r>
            <a:endParaRPr dirty="0"/>
          </a:p>
        </p:txBody>
      </p:sp>
      <p:sp>
        <p:nvSpPr>
          <p:cNvPr id="6" name="TextBox 5"/>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8</a:t>
            </a:r>
          </a:p>
        </p:txBody>
      </p:sp>
    </p:spTree>
    <p:extLst>
      <p:ext uri="{BB962C8B-B14F-4D97-AF65-F5344CB8AC3E}">
        <p14:creationId xmlns:p14="http://schemas.microsoft.com/office/powerpoint/2010/main" val="4266921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561108" y="806567"/>
            <a:ext cx="6207826" cy="33345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rPr>
                <a:t>R</a:t>
              </a:r>
              <a:r>
                <a:rPr lang="en-US" sz="3000" b="1" dirty="0">
                  <a:latin typeface="Calibri" panose="020F0502020204030204" pitchFamily="34" charset="0"/>
                  <a:ea typeface="Calibri" panose="020F0502020204030204" pitchFamily="34" charset="0"/>
                  <a:cs typeface="Calibri" panose="020F0502020204030204" pitchFamily="34" charset="0"/>
                  <a:sym typeface="Arial"/>
                </a:rPr>
                <a:t>eferences/ Articles/ Videos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buNone/>
            </a:pPr>
            <a:r>
              <a:rPr lang="en-US" sz="1800">
                <a:solidFill>
                  <a:schemeClr val="bg2"/>
                </a:solidFill>
                <a:latin typeface="Times New Roman"/>
                <a:ea typeface="Times New Roman"/>
                <a:cs typeface="Times New Roman"/>
                <a:sym typeface="Times New Roman"/>
              </a:rPr>
              <a:t> </a:t>
            </a:r>
            <a:endParaRPr sz="1800" b="1">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buNone/>
            </a:pPr>
            <a:r>
              <a:rPr lang="en-US" sz="1800">
                <a:solidFill>
                  <a:schemeClr val="bg2"/>
                </a:solidFill>
                <a:latin typeface="Times New Roman"/>
                <a:ea typeface="Times New Roman"/>
                <a:cs typeface="Times New Roman"/>
                <a:sym typeface="Times New Roman"/>
              </a:rPr>
              <a:t> </a:t>
            </a:r>
            <a:endParaRPr sz="180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62346" y="1468978"/>
            <a:ext cx="6706589" cy="2585293"/>
          </a:xfrm>
          <a:prstGeom prst="rect">
            <a:avLst/>
          </a:prstGeom>
          <a:noFill/>
          <a:ln>
            <a:noFill/>
          </a:ln>
        </p:spPr>
        <p:txBody>
          <a:bodyPr spcFirstLastPara="1" wrap="square" lIns="68569" tIns="34275" rIns="68569" bIns="34275" anchor="t" anchorCtr="0">
            <a:spAutoFit/>
          </a:bodyPr>
          <a:lstStyle/>
          <a:p>
            <a:pPr marL="214313" indent="-214313" algn="just">
              <a:buFont typeface="Arial"/>
              <a:buChar char="•"/>
            </a:pPr>
            <a:r>
              <a:rPr lang="en-US" sz="1500" b="1" dirty="0">
                <a:ea typeface="+mn-lt"/>
                <a:cs typeface="+mn-lt"/>
                <a:sym typeface="Arial"/>
              </a:rPr>
              <a:t>Martin Fowler – Microservices Characteristics</a:t>
            </a:r>
            <a:br>
              <a:rPr lang="en-US" sz="1500" b="1" dirty="0">
                <a:ea typeface="+mn-lt"/>
                <a:cs typeface="+mn-lt"/>
              </a:rPr>
            </a:br>
            <a:r>
              <a:rPr lang="en-US" sz="1500" b="1" dirty="0">
                <a:ea typeface="+mn-lt"/>
                <a:cs typeface="+mn-lt"/>
                <a:sym typeface="Arial"/>
              </a:rPr>
              <a:t> </a:t>
            </a:r>
            <a:r>
              <a:rPr lang="en-US" sz="1500" dirty="0">
                <a:ea typeface="+mn-lt"/>
                <a:cs typeface="+mn-lt"/>
                <a:sym typeface="Arial"/>
                <a:hlinkClick r:id="rId3"/>
              </a:rPr>
              <a:t>https://martinfowler.com/articles/microservices.html</a:t>
            </a:r>
            <a:endParaRPr lang="en-US" sz="1050">
              <a:ea typeface="Calibri"/>
              <a:cs typeface="Calibri"/>
            </a:endParaRPr>
          </a:p>
          <a:p>
            <a:pPr marL="214313" indent="-214313" algn="just">
              <a:buFont typeface="Arial"/>
              <a:buChar char="•"/>
            </a:pPr>
            <a:r>
              <a:rPr lang="en-US" sz="1500" b="1" dirty="0">
                <a:ea typeface="+mn-lt"/>
                <a:cs typeface="+mn-lt"/>
                <a:sym typeface="Arial"/>
              </a:rPr>
              <a:t>IBM – Microservices Architecture</a:t>
            </a:r>
            <a:br>
              <a:rPr lang="en-US" sz="1500" b="1" dirty="0">
                <a:ea typeface="+mn-lt"/>
                <a:cs typeface="+mn-lt"/>
              </a:rPr>
            </a:br>
            <a:r>
              <a:rPr lang="en-US" sz="1500" b="1" dirty="0">
                <a:ea typeface="+mn-lt"/>
                <a:cs typeface="+mn-lt"/>
                <a:sym typeface="Arial"/>
              </a:rPr>
              <a:t> </a:t>
            </a:r>
            <a:r>
              <a:rPr lang="en-US" sz="1500" dirty="0">
                <a:ea typeface="+mn-lt"/>
                <a:cs typeface="+mn-lt"/>
                <a:sym typeface="Arial"/>
                <a:hlinkClick r:id="rId4"/>
              </a:rPr>
              <a:t>https://www.ibm.com/topics/microservices</a:t>
            </a:r>
            <a:endParaRPr lang="en-US" sz="1050">
              <a:ea typeface="Calibri"/>
              <a:cs typeface="Calibri"/>
            </a:endParaRPr>
          </a:p>
          <a:p>
            <a:pPr marL="214313" indent="-214313" algn="just">
              <a:buFont typeface="Arial"/>
              <a:buChar char="•"/>
            </a:pPr>
            <a:r>
              <a:rPr lang="en-US" sz="1500" b="1" dirty="0">
                <a:ea typeface="+mn-lt"/>
                <a:cs typeface="+mn-lt"/>
                <a:sym typeface="Arial"/>
              </a:rPr>
              <a:t>Microsoft – Microservices Design Principles</a:t>
            </a:r>
            <a:br>
              <a:rPr lang="en-US" sz="1500" b="1" dirty="0">
                <a:ea typeface="+mn-lt"/>
                <a:cs typeface="+mn-lt"/>
              </a:rPr>
            </a:br>
            <a:r>
              <a:rPr lang="en-US" sz="1500" b="1" dirty="0">
                <a:ea typeface="+mn-lt"/>
                <a:cs typeface="+mn-lt"/>
                <a:sym typeface="Arial"/>
              </a:rPr>
              <a:t> </a:t>
            </a:r>
            <a:r>
              <a:rPr lang="en-US" sz="1500" dirty="0">
                <a:ea typeface="+mn-lt"/>
                <a:cs typeface="+mn-lt"/>
                <a:sym typeface="Arial"/>
                <a:hlinkClick r:id="rId5"/>
              </a:rPr>
              <a:t>https://learn.microsoft</a:t>
            </a:r>
            <a:r>
              <a:rPr lang="en-US" sz="1500" dirty="0">
                <a:ea typeface="+mn-lt"/>
                <a:cs typeface="+mn-lt"/>
                <a:hlinkClick r:id="rId5"/>
              </a:rPr>
              <a:t>.com/en-us/azure/architecture/microservices/</a:t>
            </a:r>
            <a:endParaRPr lang="en-US" sz="1050">
              <a:ea typeface="Calibri"/>
              <a:cs typeface="Calibri"/>
            </a:endParaRPr>
          </a:p>
          <a:p>
            <a:pPr marL="214313" indent="-214313" algn="just">
              <a:buFont typeface="Arial"/>
              <a:buChar char="•"/>
            </a:pPr>
            <a:r>
              <a:rPr lang="en-US" sz="1500" b="1" dirty="0">
                <a:ea typeface="+mn-lt"/>
                <a:cs typeface="+mn-lt"/>
                <a:sym typeface="Arial"/>
              </a:rPr>
              <a:t>Red Hat – Benefits and Challenges of Microservices</a:t>
            </a:r>
            <a:br>
              <a:rPr lang="en-US" sz="1500" b="1" dirty="0">
                <a:ea typeface="+mn-lt"/>
                <a:cs typeface="+mn-lt"/>
              </a:rPr>
            </a:br>
            <a:r>
              <a:rPr lang="en-US" sz="1500" b="1" dirty="0">
                <a:ea typeface="+mn-lt"/>
                <a:cs typeface="+mn-lt"/>
                <a:sym typeface="Arial"/>
              </a:rPr>
              <a:t> </a:t>
            </a:r>
            <a:r>
              <a:rPr lang="en-US" sz="1500" dirty="0">
                <a:ea typeface="+mn-lt"/>
                <a:cs typeface="+mn-lt"/>
                <a:sym typeface="Arial"/>
                <a:hlinkClick r:id="rId6">
                  <a:extLst>
                    <a:ext uri="{A12FA001-AC4F-418D-AE19-62706E023703}">
                      <ahyp:hlinkClr xmlns:ahyp="http://schemas.microsoft.com/office/drawing/2018/hyperlinkcolor" val="tx"/>
                    </a:ext>
                  </a:extLst>
                </a:hlinkClick>
              </a:rPr>
              <a:t>https://www.redhat.com/en/topics/microservices</a:t>
            </a:r>
            <a:endParaRPr lang="en-US" sz="1050">
              <a:ea typeface="Calibri"/>
              <a:cs typeface="Calibri"/>
            </a:endParaRPr>
          </a:p>
          <a:p>
            <a:pPr marL="214313" indent="-214313" algn="just">
              <a:buFont typeface="Arial"/>
              <a:buChar char="•"/>
            </a:pPr>
            <a:r>
              <a:rPr lang="en-US" sz="1500" b="1" dirty="0">
                <a:ea typeface="+mn-lt"/>
                <a:cs typeface="+mn-lt"/>
                <a:sym typeface="Arial"/>
              </a:rPr>
              <a:t>NIST – Software Architecture Guidance</a:t>
            </a:r>
            <a:br>
              <a:rPr lang="en-US" sz="1500" b="1" dirty="0">
                <a:ea typeface="+mn-lt"/>
                <a:cs typeface="+mn-lt"/>
              </a:rPr>
            </a:br>
            <a:r>
              <a:rPr lang="en-US" sz="1500" b="1" dirty="0">
                <a:ea typeface="+mn-lt"/>
                <a:cs typeface="+mn-lt"/>
                <a:sym typeface="Arial"/>
              </a:rPr>
              <a:t> </a:t>
            </a:r>
            <a:r>
              <a:rPr lang="en-US" sz="1500" dirty="0">
                <a:ea typeface="+mn-lt"/>
                <a:cs typeface="+mn-lt"/>
                <a:sym typeface="Arial"/>
                <a:hlinkClick r:id="rId7"/>
              </a:rPr>
              <a:t>https://www.nist.gov/itl/ssd/software-quality-group</a:t>
            </a:r>
            <a:endParaRPr lang="en-US" sz="1050">
              <a:ea typeface="Calibri"/>
              <a:cs typeface="Calibri"/>
            </a:endParaRPr>
          </a:p>
          <a:p>
            <a:pPr algn="just">
              <a:lnSpc>
                <a:spcPct val="90000"/>
              </a:lnSpc>
            </a:pP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9</a:t>
            </a:r>
          </a:p>
        </p:txBody>
      </p:sp>
    </p:spTree>
    <p:extLst>
      <p:ext uri="{BB962C8B-B14F-4D97-AF65-F5344CB8AC3E}">
        <p14:creationId xmlns:p14="http://schemas.microsoft.com/office/powerpoint/2010/main" val="170161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534389" y="806567"/>
            <a:ext cx="6234545" cy="33345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lvl="0" algn="ctr">
                <a:lnSpc>
                  <a:spcPct val="90000"/>
                </a:lnSpc>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Class-Wise </a:t>
              </a:r>
              <a:r>
                <a:rPr lang="en-IN" sz="3000" b="1" dirty="0">
                  <a:latin typeface="Calibri" panose="020F0502020204030204" pitchFamily="34" charset="0"/>
                  <a:ea typeface="Calibri" panose="020F0502020204030204" pitchFamily="34" charset="0"/>
                  <a:cs typeface="Calibri" panose="020F0502020204030204" pitchFamily="34" charset="0"/>
                </a:rPr>
                <a:t>Feedback</a:t>
              </a:r>
              <a:endParaRPr lang="en-US" sz="3000" b="1" dirty="0">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6" name="TextBox 5"/>
          <p:cNvSpPr txBox="1"/>
          <p:nvPr/>
        </p:nvSpPr>
        <p:spPr>
          <a:xfrm>
            <a:off x="6457143" y="707428"/>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11</a:t>
            </a:r>
          </a:p>
        </p:txBody>
      </p:sp>
      <p:pic>
        <p:nvPicPr>
          <p:cNvPr id="5" name="Picture 4">
            <a:extLst>
              <a:ext uri="{FF2B5EF4-FFF2-40B4-BE49-F238E27FC236}">
                <a16:creationId xmlns:a16="http://schemas.microsoft.com/office/drawing/2014/main" id="{FE6AF3EB-4640-211E-3594-A86D4F88D988}"/>
              </a:ext>
            </a:extLst>
          </p:cNvPr>
          <p:cNvPicPr>
            <a:picLocks noChangeAspect="1"/>
          </p:cNvPicPr>
          <p:nvPr/>
        </p:nvPicPr>
        <p:blipFill>
          <a:blip r:embed="rId3"/>
          <a:stretch>
            <a:fillRect/>
          </a:stretch>
        </p:blipFill>
        <p:spPr>
          <a:xfrm>
            <a:off x="1974354" y="1156295"/>
            <a:ext cx="2909292" cy="2909292"/>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289126" y="2270562"/>
            <a:ext cx="6353669"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289125" y="3604081"/>
            <a:ext cx="3429000"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sanjay.e18823@cumail.in</a:t>
            </a:r>
          </a:p>
        </p:txBody>
      </p:sp>
      <p:sp>
        <p:nvSpPr>
          <p:cNvPr id="5" name="TextBox 4"/>
          <p:cNvSpPr txBox="1"/>
          <p:nvPr/>
        </p:nvSpPr>
        <p:spPr>
          <a:xfrm>
            <a:off x="6457143" y="707428"/>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12</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708</TotalTime>
  <Words>1578</Words>
  <Application>Microsoft Office PowerPoint</Application>
  <PresentationFormat>Custom</PresentationFormat>
  <Paragraphs>124</Paragraphs>
  <Slides>24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Times New Roman</vt:lpstr>
      <vt:lpstr>Calibri</vt:lpstr>
      <vt:lpstr>Vladimir Script</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SRIJAN TRIPATHI</cp:lastModifiedBy>
  <cp:revision>154</cp:revision>
  <dcterms:modified xsi:type="dcterms:W3CDTF">2026-02-14T12:39:07Z</dcterms:modified>
</cp:coreProperties>
</file>