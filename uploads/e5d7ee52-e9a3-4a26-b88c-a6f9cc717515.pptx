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49" r:id="rId1"/>
  </p:sldMasterIdLst>
  <p:notesMasterIdLst>
    <p:notesMasterId r:id="rId24"/>
  </p:notesMasterIdLst>
  <p:sldIdLst>
    <p:sldId id="256" r:id="rId2"/>
    <p:sldId id="308" r:id="rId3"/>
    <p:sldId id="283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292" r:id="rId17"/>
    <p:sldId id="322" r:id="rId18"/>
    <p:sldId id="287" r:id="rId19"/>
    <p:sldId id="288" r:id="rId20"/>
    <p:sldId id="300" r:id="rId21"/>
    <p:sldId id="307" r:id="rId22"/>
    <p:sldId id="305" r:id="rId23"/>
  </p:sldIdLst>
  <p:sldSz cx="6858000" cy="5143500"/>
  <p:notesSz cx="6858000" cy="9144000"/>
  <p:embeddedFontLst>
    <p:embeddedFont>
      <p:font typeface="Vladimir Script" panose="03050402040407070305" pitchFamily="66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160" userDrawn="1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FACB54-0E81-4BFC-9381-80529860AE40}" v="167" dt="2025-12-18T16:30:20.459"/>
    <p1510:client id="{575BAEDB-1AAF-6CD3-2C69-BFC3102EC3D4}" v="29" dt="2025-12-18T18:04:51.839"/>
  </p1510:revLst>
</p1510:revInfo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602" y="84"/>
      </p:cViewPr>
      <p:guideLst>
        <p:guide orient="horz" pos="16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89BB20D-1518-9F15-1CCE-CE578D87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B2C4164-46C2-3D2D-CC97-C7EB21B41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45A4AC1-BC45-B230-13DC-073DE8430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8590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E3C6B5E-FCDB-9EF8-CC17-386914C3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9253D92-9448-ACDA-7653-E48E9D40B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0C9986F-9DA2-F02D-1CFE-06C0DD471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9874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4386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7370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841772"/>
            <a:ext cx="58293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701528"/>
            <a:ext cx="51435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8718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8362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282305"/>
            <a:ext cx="5915025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442099"/>
            <a:ext cx="5915025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172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369219"/>
            <a:ext cx="291465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369219"/>
            <a:ext cx="291465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5391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73845"/>
            <a:ext cx="5915025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260872"/>
            <a:ext cx="2901255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878806"/>
            <a:ext cx="2901255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260872"/>
            <a:ext cx="2915543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878806"/>
            <a:ext cx="2915543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9856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6098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9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2900"/>
            <a:ext cx="221188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740570"/>
            <a:ext cx="3471863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43050"/>
            <a:ext cx="221188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0657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2900"/>
            <a:ext cx="221188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740570"/>
            <a:ext cx="3471863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43050"/>
            <a:ext cx="221188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885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9710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73844"/>
            <a:ext cx="1478756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73844"/>
            <a:ext cx="4350544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1186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80" y="22034"/>
            <a:ext cx="489233" cy="104895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50913-C93A-1C70-E5AF-C3A406E963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7466" y="335521"/>
            <a:ext cx="5429250" cy="685800"/>
          </a:xfrm>
        </p:spPr>
        <p:txBody>
          <a:bodyPr/>
          <a:lstStyle>
            <a:lvl1pPr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02F07A-366A-9ED8-5F53-3E63225FEE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7467" y="1557338"/>
            <a:ext cx="2882162" cy="2286000"/>
          </a:xfrm>
        </p:spPr>
        <p:txBody>
          <a:bodyPr/>
          <a:lstStyle>
            <a:lvl1pPr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9F03728-5998-E64B-10FD-60D8500937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61247" y="1557338"/>
            <a:ext cx="2433638" cy="25908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6B1AD-2445-9EF4-3525-AF309F3302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6731" y="4343400"/>
            <a:ext cx="2368154" cy="469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  <a:p>
            <a:pPr lvl="6"/>
            <a:r>
              <a:rPr lang="en-US" dirty="0"/>
              <a:t>Fourth level</a:t>
            </a:r>
          </a:p>
          <a:p>
            <a:pPr lvl="7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368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80" y="22034"/>
            <a:ext cx="489233" cy="104895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13BD4-9A3C-4AF3-1874-CCFFFAA1EC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3178" y="1428750"/>
            <a:ext cx="5870972" cy="2640013"/>
          </a:xfrm>
        </p:spPr>
        <p:txBody>
          <a:bodyPr/>
          <a:lstStyle>
            <a:lvl1pPr>
              <a:defRPr sz="15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209FEA-0916-1EDA-EB31-F2DE83AA90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3178" y="287339"/>
            <a:ext cx="5870972" cy="904875"/>
          </a:xfrm>
        </p:spPr>
        <p:txBody>
          <a:bodyPr/>
          <a:lstStyle>
            <a:lvl1pPr algn="ctr">
              <a:buNone/>
              <a:defRPr sz="2400" b="1"/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2853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1DD4-6C8D-C0C6-BB50-842B2E62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63B81-62E5-6275-6BE9-CF5DC6385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147D2-CFFF-1F50-8F41-BF143B0C7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6CD1F-01E2-6C5B-6C18-864DEF5CD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6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73845"/>
            <a:ext cx="5915025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369219"/>
            <a:ext cx="5915025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B67A6-AB89-4176-B42A-5A339055BC2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4767264"/>
            <a:ext cx="23145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02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662" r:id="rId14"/>
    <p:sldLayoutId id="2147483663" r:id="rId15"/>
    <p:sldLayoutId id="2147483678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1_cs14/previe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onlinecourses.nptel.ac.in/noc24_cs131/preview" TargetMode="External"/><Relationship Id="rId5" Type="http://schemas.openxmlformats.org/officeDocument/2006/relationships/hyperlink" Target="https://onlinecourses.nptel.ac.in/noc20_cs55/preview" TargetMode="External"/><Relationship Id="rId4" Type="http://schemas.openxmlformats.org/officeDocument/2006/relationships/hyperlink" Target="https://onlinecourses.nptel.ac.in/noc26_cs55/preview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cloudwatch/" TargetMode="External"/><Relationship Id="rId7" Type="http://schemas.openxmlformats.org/officeDocument/2006/relationships/hyperlink" Target="https://learn.microsoft.com/en-us/azure/cost-management-billin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cloud.google.com/architecture/logging-monitoring" TargetMode="External"/><Relationship Id="rId5" Type="http://schemas.openxmlformats.org/officeDocument/2006/relationships/hyperlink" Target="https://www.finops.org/introduction/what-is-finops/" TargetMode="External"/><Relationship Id="rId4" Type="http://schemas.openxmlformats.org/officeDocument/2006/relationships/hyperlink" Target="https://docs.aws.amazon.com/AmazonCloudWatch/latest/monitoring/WhatIsCloudWatch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3" y="1556076"/>
            <a:ext cx="2087237" cy="208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4929188" y="4304110"/>
            <a:ext cx="1543050" cy="20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5847479" y="3858610"/>
            <a:ext cx="726300" cy="650925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3963599" y="606326"/>
            <a:ext cx="2894400" cy="3292425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194792" y="1782296"/>
            <a:ext cx="3841650" cy="889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5520375" y="3589875"/>
            <a:ext cx="1331100" cy="900225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417555" y="701594"/>
            <a:ext cx="6160050" cy="381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2400" b="1" dirty="0">
                <a:latin typeface="Calibri"/>
                <a:ea typeface="Calibri"/>
                <a:cs typeface="Calibri"/>
                <a:sym typeface="Arial Black"/>
              </a:rPr>
              <a:t>UNIVERSITY INSTITUTE OF ENGINEERING</a:t>
            </a:r>
            <a:endParaRPr lang="en-US" sz="750">
              <a:latin typeface="Calibri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ts val="840"/>
              </a:spcBef>
              <a:buClr>
                <a:schemeClr val="dk1"/>
              </a:buClr>
              <a:buSzPts val="3200"/>
            </a:pPr>
            <a:r>
              <a:rPr lang="en-US" sz="2400" b="1" dirty="0">
                <a:latin typeface="Calibri"/>
                <a:ea typeface="Calibri"/>
                <a:cs typeface="Calibri"/>
                <a:sym typeface="Arial Black"/>
              </a:rPr>
              <a:t>DEPARTMENT OF COMPUTER SCIENCE AND ENGINEERING</a:t>
            </a:r>
            <a:endParaRPr lang="en-US" sz="750">
              <a:latin typeface="Calibri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ts val="840"/>
              </a:spcBef>
              <a:buClr>
                <a:schemeClr val="dk1"/>
              </a:buClr>
              <a:buSzPts val="2800"/>
            </a:pPr>
            <a:r>
              <a:rPr lang="en-US" sz="1500" dirty="0">
                <a:latin typeface="Calibri"/>
                <a:ea typeface="Calibri"/>
                <a:cs typeface="Calibri"/>
                <a:sym typeface="Times New Roman"/>
              </a:rPr>
              <a:t>BTECH CSE – CS 201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ts val="840"/>
              </a:spcBef>
              <a:buClr>
                <a:schemeClr val="dk1"/>
              </a:buClr>
              <a:buSzPts val="2800"/>
            </a:pPr>
            <a:r>
              <a:rPr lang="en-US" sz="1500" dirty="0">
                <a:latin typeface="Calibri"/>
                <a:ea typeface="Calibri"/>
                <a:cs typeface="Calibri"/>
                <a:sym typeface="Times New Roman"/>
              </a:rPr>
              <a:t>SEMESTER: 6TH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ts val="735"/>
              </a:spcBef>
              <a:buClr>
                <a:schemeClr val="dk1"/>
              </a:buClr>
              <a:buSzPts val="2800"/>
            </a:pPr>
            <a:r>
              <a:rPr lang="en-US" b="1" dirty="0">
                <a:latin typeface="Calibri"/>
                <a:ea typeface="Calibri"/>
                <a:cs typeface="Calibri"/>
              </a:rPr>
              <a:t>CLOUD COMPUTING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ts val="735"/>
              </a:spcBef>
              <a:buClr>
                <a:schemeClr val="dk1"/>
              </a:buClr>
              <a:buSzPts val="2800"/>
            </a:pPr>
            <a:r>
              <a:rPr lang="en-US" dirty="0">
                <a:latin typeface="Calibri"/>
                <a:ea typeface="Calibri"/>
                <a:cs typeface="Calibri"/>
              </a:rPr>
              <a:t>(23CSH-307)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algn="ctr">
              <a:spcBef>
                <a:spcPts val="840"/>
              </a:spcBef>
              <a:buSzPts val="3200"/>
            </a:pPr>
            <a:r>
              <a:rPr lang="en-US" sz="1350" b="1" dirty="0">
                <a:latin typeface="Calibri"/>
                <a:ea typeface="Calibri"/>
                <a:cs typeface="Calibri"/>
              </a:rPr>
              <a:t>Unit No. 3  Chapter No. 3  Lecture No. 29</a:t>
            </a:r>
          </a:p>
          <a:p>
            <a:pPr>
              <a:buSzPts val="3200"/>
            </a:pPr>
            <a:r>
              <a:rPr lang="en-US" sz="1350" b="1" dirty="0">
                <a:latin typeface="Calibri"/>
                <a:ea typeface="Calibri"/>
                <a:cs typeface="Calibri"/>
              </a:rPr>
              <a:t>Topic : </a:t>
            </a:r>
            <a:r>
              <a:rPr lang="en-US" sz="1350" b="1" u="sng" dirty="0">
                <a:ea typeface="+mn-lt"/>
                <a:cs typeface="+mn-lt"/>
              </a:rPr>
              <a:t>Cloud monitoring tools (CloudWatch basics), logging</a:t>
            </a:r>
            <a:endParaRPr lang="en-US" b="1" u="sng">
              <a:ea typeface="Calibri"/>
              <a:cs typeface="Calibri"/>
            </a:endParaRPr>
          </a:p>
          <a:p>
            <a:pPr>
              <a:buSzPts val="3200"/>
            </a:pPr>
            <a:r>
              <a:rPr lang="en-US" sz="1350" b="1" u="sng" dirty="0">
                <a:ea typeface="+mn-lt"/>
                <a:cs typeface="+mn-lt"/>
              </a:rPr>
              <a:t>strategies. Understanding cloud pricing models and cost</a:t>
            </a:r>
            <a:endParaRPr lang="en-US" b="1" u="sng">
              <a:ea typeface="Calibri"/>
              <a:cs typeface="Calibri"/>
            </a:endParaRPr>
          </a:p>
          <a:p>
            <a:pPr>
              <a:spcBef>
                <a:spcPts val="840"/>
              </a:spcBef>
              <a:buSzPts val="3200"/>
            </a:pPr>
            <a:r>
              <a:rPr lang="en-US" sz="1350" b="1" u="sng" dirty="0">
                <a:ea typeface="+mn-lt"/>
                <a:cs typeface="+mn-lt"/>
              </a:rPr>
              <a:t>optimization techniques (FinOps).</a:t>
            </a:r>
            <a:endParaRPr lang="en-US" b="1" u="sng" dirty="0"/>
          </a:p>
          <a:p>
            <a:pPr>
              <a:spcBef>
                <a:spcPts val="840"/>
              </a:spcBef>
              <a:buSzPts val="3200"/>
            </a:pPr>
            <a:r>
              <a:rPr lang="en-US" sz="13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Sanjay Tiwari, E18823                                                        Senior Technical Trainer</a:t>
            </a:r>
            <a:endParaRPr lang="en-US" sz="2400"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3963601" y="171263"/>
            <a:ext cx="2894399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3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5B02DA-F1A4-9F8D-487D-4F508087E3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Virtual Private Cloud (VPC) provides isolated networking within the cloud.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VPC enables logical separation of cloud resources.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Subnets are used to segment network resources within a VPC.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Route tables define how traffic flows between subnets and gateways.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Internet gateways allow communication with external networks.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Network ACLs (NACLs) enforce security at the subnet level.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Security groups protect individual cloud resources.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Combining NACLs and security groups strengthens network security.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VPC architecture ensures controlled, secure cloud networking.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VPC is a foundational concept in cloud infrastructure design.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DE8EC-1574-A733-E0A3-5A934D5A31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RECAP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802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43296" y="531704"/>
            <a:ext cx="6225637" cy="608313"/>
            <a:chOff x="0" y="-360185"/>
            <a:chExt cx="5580934" cy="811084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31370" y="-36018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4281" tIns="54281" rIns="54281" bIns="54281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1900"/>
              </a:pP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332257" y="1288918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/>
          </a:bodyPr>
          <a:lstStyle/>
          <a:p>
            <a:r>
              <a:rPr lang="en-US" dirty="0">
                <a:ea typeface="+mn-lt"/>
                <a:cs typeface="+mn-lt"/>
                <a:sym typeface="Times New Roman"/>
              </a:rPr>
              <a:t>Cloud</a:t>
            </a:r>
            <a:r>
              <a:rPr lang="en-US" dirty="0">
                <a:ea typeface="+mn-lt"/>
                <a:cs typeface="+mn-lt"/>
              </a:rPr>
              <a:t> Monitoring Fundamentals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Logging Strategies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Cloud Pricing Models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Cost Optimization and FinOps</a:t>
            </a:r>
            <a:endParaRPr dirty="0"/>
          </a:p>
          <a:p>
            <a:pPr marL="257175" indent="-2571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/>
              <a:ea typeface="Times New Roman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57143" y="707428"/>
            <a:ext cx="260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05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345C43-B29A-FF52-F018-FFC38DD4C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Monitoring tracks system health and performance</a:t>
            </a:r>
          </a:p>
          <a:p>
            <a:r>
              <a:rPr lang="en-US" dirty="0">
                <a:ea typeface="+mn-lt"/>
                <a:cs typeface="+mn-lt"/>
              </a:rPr>
              <a:t>Collects metrics from cloud resources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Detects failures and anomalies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Enables proactive issue resolution</a:t>
            </a:r>
          </a:p>
          <a:p>
            <a:r>
              <a:rPr lang="en-US" dirty="0">
                <a:ea typeface="+mn-lt"/>
                <a:cs typeface="+mn-lt"/>
              </a:rPr>
              <a:t>Improves system reliability</a:t>
            </a:r>
          </a:p>
          <a:p>
            <a:r>
              <a:rPr lang="en-US" dirty="0">
                <a:ea typeface="+mn-lt"/>
                <a:cs typeface="+mn-lt"/>
              </a:rPr>
              <a:t>Supports capacity planning</a:t>
            </a:r>
          </a:p>
          <a:p>
            <a:r>
              <a:rPr lang="en-US" dirty="0">
                <a:ea typeface="+mn-lt"/>
                <a:cs typeface="+mn-lt"/>
              </a:rPr>
              <a:t>Essential for production systems</a:t>
            </a:r>
          </a:p>
          <a:p>
            <a:r>
              <a:rPr lang="en-US" dirty="0">
                <a:ea typeface="+mn-lt"/>
                <a:cs typeface="+mn-lt"/>
              </a:rPr>
              <a:t>Foundation of cloud operations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6766B-AEE7-F03E-A13F-1886EBE50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Cloud Monitoring Overview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76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0FA744-ACE1-6624-BDCA-D5A1BCF905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3178" y="943514"/>
            <a:ext cx="5870972" cy="26400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Native monitoring service in AWS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Collects metrics and logs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Monitors compute, storage, and network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Provides dashboards and alarms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Enables real-time visibility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Integrated with AWS services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Supports automated actions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Core AWS monitoring tool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0C8FF-8FD6-5FA6-C4CF-02812F9E3D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Amazon CloudWatch – Basics</a:t>
            </a:r>
          </a:p>
        </p:txBody>
      </p:sp>
    </p:spTree>
    <p:extLst>
      <p:ext uri="{BB962C8B-B14F-4D97-AF65-F5344CB8AC3E}">
        <p14:creationId xmlns:p14="http://schemas.microsoft.com/office/powerpoint/2010/main" val="1590156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F8E03D-0CD4-24C9-A453-ADB62495FE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3178" y="706288"/>
            <a:ext cx="5870972" cy="26400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Numerical performance indicators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Examples: CPU usage, memory, latency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Collected at regular intervals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Used to track resource behavior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Supports custom metrics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Enables trend analysis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Input for alarms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Key monitoring component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9A2C8-A634-93E8-E9BC-E0EE1CD46F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3178" y="147160"/>
            <a:ext cx="5870972" cy="9048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CloudWatch Metrics</a:t>
            </a:r>
          </a:p>
        </p:txBody>
      </p:sp>
    </p:spTree>
    <p:extLst>
      <p:ext uri="{BB962C8B-B14F-4D97-AF65-F5344CB8AC3E}">
        <p14:creationId xmlns:p14="http://schemas.microsoft.com/office/powerpoint/2010/main" val="3700271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8D493D-5C12-CD2D-2DCB-A3D38C5A3C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3178" y="846467"/>
            <a:ext cx="5870972" cy="26400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Triggered based on metric thresholds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Notify operators of issues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Enable automated responses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Reduce manual monitoring effort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Support scaling decisions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Improve incident response time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Integrated with notifications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Essential for reliability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BEC64-4928-D135-7011-74CD495B5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CloudWatch Alarms</a:t>
            </a:r>
          </a:p>
        </p:txBody>
      </p:sp>
    </p:spTree>
    <p:extLst>
      <p:ext uri="{BB962C8B-B14F-4D97-AF65-F5344CB8AC3E}">
        <p14:creationId xmlns:p14="http://schemas.microsoft.com/office/powerpoint/2010/main" val="3520935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C9ECC0-0D70-CBB6-130B-BA0CB46DE4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3178" y="911165"/>
            <a:ext cx="5870972" cy="26400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Logs record system and application events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Provide detailed operational insights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Essential for debugging issues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Support security investigations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Enable audit and compliance needs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Complement metrics-based monitoring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Used for root-cause analysis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Critical operational data source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B470E-6C76-3B76-2F86-97FE0ABCEA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3178" y="114811"/>
            <a:ext cx="5870972" cy="9048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Logging in Cloud Systems</a:t>
            </a:r>
          </a:p>
        </p:txBody>
      </p:sp>
    </p:spTree>
    <p:extLst>
      <p:ext uri="{BB962C8B-B14F-4D97-AF65-F5344CB8AC3E}">
        <p14:creationId xmlns:p14="http://schemas.microsoft.com/office/powerpoint/2010/main" val="1849761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C00F80-A482-E18F-B453-83D54FFCCB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3178" y="814118"/>
            <a:ext cx="5870972" cy="26400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Centralized log collection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Structured and consistent log formats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Log retention policies defined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Separation of application and system logs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Secure access to logs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Enable searchable log storage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Balance verbosity and cost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Essential for scalable systems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D82BB-5FD8-3250-EABD-2832D289B6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Logging Strategies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574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A661C1-1F1F-0000-FE9D-84C6457912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0225" y="727854"/>
            <a:ext cx="5870972" cy="26400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Cloud pricing is usage-based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Pay for resources consumed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upfront infrastructure cost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Supports on-demand consumption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Pricing varies by service type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Enables elastic cost scaling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Requires cost monitoring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Different from traditional IT pricing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CC8DF-06C9-4315-BC65-0B0E349500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Cloud Pricing Models Overview</a:t>
            </a:r>
          </a:p>
        </p:txBody>
      </p:sp>
    </p:spTree>
    <p:extLst>
      <p:ext uri="{BB962C8B-B14F-4D97-AF65-F5344CB8AC3E}">
        <p14:creationId xmlns:p14="http://schemas.microsoft.com/office/powerpoint/2010/main" val="2269198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190CDF-9BAB-F4CE-7CD6-66DE0229FF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3178" y="727854"/>
            <a:ext cx="5870972" cy="26400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Pay-as-you-go model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Subscription-based pricing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Resource-based pricing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Time-based consumption pricing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 transfer-based charges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Storage-based pricing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Request-based pricing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Encourages efficient usage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60775-A1C8-42ED-F8F6-B66C04320D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Common Cloud Pricing Models</a:t>
            </a:r>
          </a:p>
        </p:txBody>
      </p:sp>
    </p:spTree>
    <p:extLst>
      <p:ext uri="{BB962C8B-B14F-4D97-AF65-F5344CB8AC3E}">
        <p14:creationId xmlns:p14="http://schemas.microsoft.com/office/powerpoint/2010/main" val="999483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D1657D-222A-6F94-084F-BF7DB088C5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3178" y="824901"/>
            <a:ext cx="5870972" cy="26400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Unused resources increase cost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Elastic scaling can cause overspending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Lack of visibility leads to waste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Cost grows with system scale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Optimization improves financial efficiency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Aligns cost with business value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Prevents budget overruns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Essential for sustainable cloud usage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59E96-A933-20BA-45D3-419BE6FAB0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Need for Cost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620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9DC094-B9BF-9A60-DC31-17945BC862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914" y="727854"/>
            <a:ext cx="5870972" cy="26400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FinOps = Financial Operations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Practice for cloud cost management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Combines finance, engineering, and operations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Focuses on cost visibility and control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Encourages shared cost ownership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Data-driven cost decisions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Continuous optimization process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Industry best practice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6C23E-108C-2348-F09F-1A92016EF7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Introduction to FinOps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636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FEEB9B-0CC5-AF9F-871B-AF0B7DF045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650" y="846467"/>
            <a:ext cx="5870972" cy="26400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Visibility into cloud spending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Accountability across teams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Optimize cost continuously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Align spend with business goals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Measure unit economics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Enable informed decision-making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Balance speed and cost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Encourage cost-aware culture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6EA94-7280-CB1A-6008-E1A4C731E0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FinOps Principles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46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FC8CD8-C514-12EE-91E0-A4342E12C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3178" y="814118"/>
            <a:ext cx="5870972" cy="26400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Monitor resource utilization regularly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Remove unused or idle resources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Right-size overprovisioned services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 monitoring to detect waste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Set budgets and alerts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Analyze cost reports frequently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Optimize logging retention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Apply FinOps practices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51D29-39FF-DC46-FCB9-86149A2A53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Cost Optimization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2966533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0069C43-A6C1-2A5A-FF86-50FF7E83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552203" y="262128"/>
            <a:ext cx="6216732" cy="877889"/>
            <a:chOff x="0" y="-719620"/>
            <a:chExt cx="5580934" cy="1170519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344" y="-719620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4281" tIns="54281" rIns="54281" bIns="54281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1900"/>
              </a:pP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289125" y="1709456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/>
          </a:bodyPr>
          <a:lstStyle/>
          <a:p>
            <a:pPr marL="257175" indent="-257175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180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indent="-257175" algn="just">
              <a:lnSpc>
                <a:spcPct val="100000"/>
              </a:lnSpc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698544" y="703384"/>
            <a:ext cx="6706589" cy="294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  <a:sym typeface="Arial"/>
              </a:rPr>
              <a:t>Monitoring ensures system reliability</a:t>
            </a:r>
            <a:endParaRPr lang="en-US" dirty="0">
              <a:sym typeface="Arial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  <a:sym typeface="Arial"/>
              </a:rPr>
              <a:t>CloudWatch provides core monitoring features</a:t>
            </a:r>
            <a:endParaRPr lang="en-US" dirty="0">
              <a:sym typeface="Arial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  <a:sym typeface="Arial"/>
              </a:rPr>
              <a:t>Logging supports debugging and audits</a:t>
            </a:r>
            <a:endParaRPr lang="en-US" dirty="0">
              <a:sym typeface="Arial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  <a:sym typeface="Arial"/>
              </a:rPr>
              <a:t>Cloud pricing is consumption-based</a:t>
            </a:r>
            <a:endParaRPr lang="en-US" dirty="0">
              <a:sym typeface="Arial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  <a:sym typeface="Arial"/>
              </a:rPr>
              <a:t>Cost optimization is essential</a:t>
            </a:r>
            <a:endParaRPr lang="en-US" dirty="0">
              <a:sym typeface="Arial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  <a:sym typeface="Arial"/>
              </a:rPr>
              <a:t>FinOps enables financial control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</a:rPr>
              <a:t>Visibility drives better decisions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  <a:sym typeface="Arial"/>
              </a:rPr>
              <a:t>Key aspect of cloud operations</a:t>
            </a:r>
            <a:endParaRPr lang="en-US" dirty="0"/>
          </a:p>
          <a:p>
            <a:pPr algn="just">
              <a:lnSpc>
                <a:spcPct val="90000"/>
              </a:lnSpc>
            </a:pP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566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536896" y="610785"/>
            <a:ext cx="6207826" cy="574567"/>
            <a:chOff x="0" y="6299"/>
            <a:chExt cx="5580934" cy="766089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371196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4281" tIns="54281" rIns="54281" bIns="54281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1800" b="1">
                  <a:latin typeface="Calibri"/>
                  <a:ea typeface="Calibri"/>
                  <a:cs typeface="Calibri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281242" y="1606871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marR="0" lvl="0" indent="-25717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59C2B9C-619B-7F1D-73C8-04AA5F67C4ED}"/>
              </a:ext>
            </a:extLst>
          </p:cNvPr>
          <p:cNvSpPr txBox="1"/>
          <p:nvPr/>
        </p:nvSpPr>
        <p:spPr>
          <a:xfrm>
            <a:off x="0" y="1505796"/>
            <a:ext cx="6723966" cy="1345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1050">
                <a:ea typeface="+mn-lt"/>
                <a:cs typeface="+mn-lt"/>
                <a:sym typeface="Arial"/>
              </a:rPr>
              <a:t>Cloud Computing: </a:t>
            </a:r>
            <a:r>
              <a:rPr lang="en-US" sz="1050" b="0" i="0" u="none" strike="noStrike" cap="none">
                <a:ea typeface="+mn-lt"/>
                <a:cs typeface="+mn-lt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050">
                <a:ea typeface="+mn-lt"/>
                <a:cs typeface="+mn-lt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onlinecourses</a:t>
            </a:r>
            <a:r>
              <a:rPr lang="en-US" sz="1050" b="0" i="0" u="none" strike="noStrike" cap="none">
                <a:ea typeface="+mn-lt"/>
                <a:cs typeface="+mn-lt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.nptel.ac.in/</a:t>
            </a:r>
            <a:r>
              <a:rPr lang="en-US" sz="1050">
                <a:ea typeface="+mn-lt"/>
                <a:cs typeface="+mn-lt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noc21_cs14</a:t>
            </a:r>
            <a:r>
              <a:rPr lang="en-US" sz="1050" b="0" i="0" u="none" strike="noStrike" cap="none">
                <a:ea typeface="+mn-lt"/>
                <a:cs typeface="+mn-lt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050">
                <a:ea typeface="+mn-lt"/>
                <a:cs typeface="+mn-lt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preview</a:t>
            </a:r>
            <a:endParaRPr lang="en-US" sz="1050">
              <a:ea typeface="Calibri"/>
              <a:cs typeface="Calibri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14313" indent="-214313" algn="just">
              <a:buFont typeface="Arial"/>
              <a:buChar char="•"/>
            </a:pPr>
            <a:endParaRPr lang="en-US" sz="105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1050">
                <a:ea typeface="+mn-lt"/>
                <a:cs typeface="+mn-lt"/>
                <a:sym typeface="Arial"/>
              </a:rPr>
              <a:t>Cloud Computing: </a:t>
            </a:r>
            <a:r>
              <a:rPr lang="en-US" sz="1050" b="0" i="0" u="none" strike="noStrike" cap="none">
                <a:ea typeface="+mn-lt"/>
                <a:cs typeface="+mn-lt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050">
                <a:ea typeface="+mn-lt"/>
                <a:cs typeface="+mn-lt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onlinecourses</a:t>
            </a:r>
            <a:r>
              <a:rPr lang="en-US" sz="1050" b="0" i="0" u="none" strike="noStrike" cap="none">
                <a:ea typeface="+mn-lt"/>
                <a:cs typeface="+mn-lt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.nptel.ac.in/</a:t>
            </a:r>
            <a:r>
              <a:rPr lang="en-US" sz="1050">
                <a:ea typeface="+mn-lt"/>
                <a:cs typeface="+mn-lt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noc26_cs55</a:t>
            </a:r>
            <a:r>
              <a:rPr lang="en-US" sz="1050" b="0" i="0" u="none" strike="noStrike" cap="none">
                <a:ea typeface="+mn-lt"/>
                <a:cs typeface="+mn-lt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050">
                <a:ea typeface="+mn-lt"/>
                <a:cs typeface="+mn-lt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preview</a:t>
            </a:r>
            <a:endParaRPr lang="en-US" sz="1050">
              <a:ea typeface="Calibri" panose="020F0502020204030204"/>
              <a:cs typeface="Calibri" panose="020F0502020204030204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14313" indent="-214313" algn="just">
              <a:buFont typeface="Arial"/>
              <a:buChar char="•"/>
            </a:pPr>
            <a:endParaRPr lang="en-US" sz="105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1050">
                <a:ea typeface="+mn-lt"/>
                <a:cs typeface="+mn-lt"/>
                <a:sym typeface="Arial"/>
              </a:rPr>
              <a:t>Google Cloud Computing Foundations: </a:t>
            </a:r>
            <a:r>
              <a:rPr lang="en-US" sz="1050" b="0" i="0" u="none" strike="noStrike" cap="none">
                <a:ea typeface="+mn-lt"/>
                <a:cs typeface="+mn-lt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050">
                <a:ea typeface="+mn-lt"/>
                <a:cs typeface="+mn-lt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onlinecourses</a:t>
            </a:r>
            <a:r>
              <a:rPr lang="en-US" sz="1050" b="0" i="0" u="none" strike="noStrike" cap="none">
                <a:ea typeface="+mn-lt"/>
                <a:cs typeface="+mn-lt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.nptel.ac.in/</a:t>
            </a:r>
            <a:r>
              <a:rPr lang="en-US" sz="1050">
                <a:ea typeface="+mn-lt"/>
                <a:cs typeface="+mn-lt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noc20_cs55</a:t>
            </a:r>
            <a:r>
              <a:rPr lang="en-US" sz="1050" b="0" i="0" u="none" strike="noStrike" cap="none">
                <a:ea typeface="+mn-lt"/>
                <a:cs typeface="+mn-lt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050">
                <a:ea typeface="+mn-lt"/>
                <a:cs typeface="+mn-lt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preview</a:t>
            </a:r>
            <a:endParaRPr lang="en-US" sz="1050">
              <a:ea typeface="Calibri" panose="020F0502020204030204"/>
              <a:cs typeface="Calibri" panose="020F0502020204030204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14313" indent="-214313" algn="just">
              <a:buFont typeface="Arial"/>
              <a:buChar char="•"/>
            </a:pPr>
            <a:endParaRPr lang="en-US" sz="105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Google Cloud Computing Foundations: </a:t>
            </a:r>
            <a:r>
              <a:rPr lang="en-US" sz="1050"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https://onlinecourses.nptel.ac.in/noc24_cs131/preview</a:t>
            </a:r>
            <a:endParaRPr lang="en-US" sz="1050">
              <a:ea typeface="Calibri"/>
              <a:cs typeface="Calibri"/>
            </a:endParaRPr>
          </a:p>
          <a:p>
            <a:pPr marL="342900" marR="0" lvl="0" indent="-3429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en-US" sz="1050" b="0" i="0" u="none" strike="noStrike" cap="non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57143" y="707428"/>
            <a:ext cx="2875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05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5693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1A71372-B014-307D-6154-2C9E638C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552203" y="806567"/>
            <a:ext cx="6216732" cy="33345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4281" tIns="54281" rIns="54281" bIns="54281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1900"/>
              </a:pP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289125" y="1709456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/>
          </a:bodyPr>
          <a:lstStyle/>
          <a:p>
            <a:pPr marL="257175" indent="-257175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18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indent="-257175" algn="just">
              <a:lnSpc>
                <a:spcPct val="100000"/>
              </a:lnSpc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62346" y="1468978"/>
            <a:ext cx="6706589" cy="94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100" dirty="0">
                <a:ea typeface="+mn-lt"/>
                <a:cs typeface="+mn-lt"/>
              </a:rPr>
              <a:t>The "6 R's" of migration: Rehost </a:t>
            </a:r>
            <a:r>
              <a:rPr lang="en-US" sz="2100" dirty="0">
                <a:ea typeface="+mn-lt"/>
                <a:cs typeface="+mn-lt"/>
                <a:sym typeface="Arial"/>
              </a:rPr>
              <a:t>(Lift &amp; Shift), </a:t>
            </a:r>
            <a:r>
              <a:rPr lang="en-US" sz="2100" dirty="0" err="1">
                <a:ea typeface="+mn-lt"/>
                <a:cs typeface="+mn-lt"/>
                <a:sym typeface="Arial"/>
              </a:rPr>
              <a:t>Replatform</a:t>
            </a:r>
            <a:r>
              <a:rPr lang="en-US" sz="2100" dirty="0">
                <a:ea typeface="+mn-lt"/>
                <a:cs typeface="+mn-lt"/>
                <a:sym typeface="Arial"/>
              </a:rPr>
              <a:t>, Refactor, Repurchase, Retire, Retain. Migration planning and execution.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672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534389" y="229779"/>
            <a:ext cx="6234545" cy="910238"/>
            <a:chOff x="0" y="-762752"/>
            <a:chExt cx="5580934" cy="1213651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-76275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4281" tIns="54281" rIns="54281" bIns="54281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1900"/>
              </a:pP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537134" y="566456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/>
          <a:p>
            <a:pPr algn="just">
              <a:buNone/>
            </a:pPr>
            <a:r>
              <a:rPr lang="en-US" sz="1400" dirty="0">
                <a:ea typeface="+mn-lt"/>
                <a:cs typeface="+mn-lt"/>
                <a:sym typeface="Times New Roman"/>
              </a:rPr>
              <a:t>1. What is the purpose of cloud monitoring?</a:t>
            </a:r>
            <a:endParaRPr lang="en-US" sz="1400">
              <a:ea typeface="Calibri"/>
              <a:cs typeface="Calibri"/>
            </a:endParaRPr>
          </a:p>
          <a:p>
            <a:pPr algn="just">
              <a:buNone/>
            </a:pPr>
            <a:r>
              <a:rPr lang="en-US" sz="1400" dirty="0">
                <a:ea typeface="+mn-lt"/>
                <a:cs typeface="+mn-lt"/>
                <a:sym typeface="Times New Roman"/>
              </a:rPr>
              <a:t>Cloud monitoring tracks performance and health of resources to detect issues and ensure reliability.</a:t>
            </a:r>
            <a:endParaRPr lang="en-US" sz="1400">
              <a:ea typeface="Calibri"/>
              <a:cs typeface="Calibri"/>
            </a:endParaRPr>
          </a:p>
          <a:p>
            <a:pPr algn="just">
              <a:buNone/>
            </a:pPr>
            <a:r>
              <a:rPr lang="en-US" sz="1400" dirty="0">
                <a:ea typeface="+mn-lt"/>
                <a:cs typeface="+mn-lt"/>
                <a:sym typeface="Times New Roman"/>
              </a:rPr>
              <a:t>2. What does CloudWatch primarily provide?</a:t>
            </a:r>
            <a:endParaRPr lang="en-US" sz="1400">
              <a:ea typeface="Calibri"/>
              <a:cs typeface="Calibri"/>
            </a:endParaRPr>
          </a:p>
          <a:p>
            <a:pPr algn="just">
              <a:buNone/>
            </a:pPr>
            <a:r>
              <a:rPr lang="en-US" sz="1400" dirty="0">
                <a:ea typeface="+mn-lt"/>
                <a:cs typeface="+mn-lt"/>
                <a:sym typeface="Times New Roman"/>
              </a:rPr>
              <a:t>CloudWatch provides metrics, logs, alarms, and dashboards for monitoring AWS resources.</a:t>
            </a:r>
            <a:endParaRPr lang="en-US" sz="1400">
              <a:ea typeface="Calibri"/>
              <a:cs typeface="Calibri"/>
            </a:endParaRPr>
          </a:p>
          <a:p>
            <a:pPr algn="just">
              <a:buNone/>
            </a:pPr>
            <a:r>
              <a:rPr lang="en-US" sz="1400" dirty="0">
                <a:ea typeface="+mn-lt"/>
                <a:cs typeface="+mn-lt"/>
                <a:sym typeface="Times New Roman"/>
              </a:rPr>
              <a:t>3. Why are logging strategies important?</a:t>
            </a:r>
            <a:endParaRPr lang="en-US" sz="1400">
              <a:ea typeface="Calibri"/>
              <a:cs typeface="Calibri"/>
            </a:endParaRPr>
          </a:p>
          <a:p>
            <a:pPr algn="just">
              <a:buNone/>
            </a:pPr>
            <a:r>
              <a:rPr lang="en-US" sz="1400" dirty="0">
                <a:ea typeface="+mn-lt"/>
                <a:cs typeface="+mn-lt"/>
                <a:sym typeface="Times New Roman"/>
              </a:rPr>
              <a:t>They ensure logs are useful, secure, and cost-effective for debugging and auditing.</a:t>
            </a:r>
            <a:endParaRPr lang="en-US" sz="1400">
              <a:ea typeface="Calibri"/>
              <a:cs typeface="Calibri"/>
            </a:endParaRPr>
          </a:p>
          <a:p>
            <a:pPr algn="just">
              <a:buNone/>
            </a:pPr>
            <a:r>
              <a:rPr lang="en-US" sz="1400" dirty="0">
                <a:ea typeface="+mn-lt"/>
                <a:cs typeface="+mn-lt"/>
                <a:sym typeface="Times New Roman"/>
              </a:rPr>
              <a:t>4. What is FinOps in cloud computing?</a:t>
            </a:r>
            <a:endParaRPr lang="en-US" sz="1400">
              <a:ea typeface="Calibri"/>
              <a:cs typeface="Calibri"/>
            </a:endParaRPr>
          </a:p>
          <a:p>
            <a:pPr algn="just">
              <a:buNone/>
            </a:pPr>
            <a:r>
              <a:rPr lang="en-US" sz="1400" dirty="0">
                <a:ea typeface="+mn-lt"/>
                <a:cs typeface="+mn-lt"/>
                <a:sym typeface="Times New Roman"/>
              </a:rPr>
              <a:t>FinOps is a practice that helps organizations manage and optimize cloud costs collaboratively.</a:t>
            </a:r>
            <a:endParaRPr lang="en-US" sz="1400">
              <a:ea typeface="Calibri"/>
              <a:cs typeface="Calibri"/>
            </a:endParaRPr>
          </a:p>
          <a:p>
            <a:pPr algn="just">
              <a:buNone/>
            </a:pPr>
            <a:r>
              <a:rPr lang="en-US" sz="1400" dirty="0">
                <a:ea typeface="+mn-lt"/>
                <a:cs typeface="+mn-lt"/>
                <a:sym typeface="Times New Roman"/>
              </a:rPr>
              <a:t>5. Why is cost optimization critical in cloud environments?</a:t>
            </a:r>
            <a:endParaRPr lang="en-US" sz="1400">
              <a:ea typeface="Calibri"/>
              <a:cs typeface="Calibri"/>
            </a:endParaRPr>
          </a:p>
          <a:p>
            <a:pPr marL="257175" indent="-257175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ea typeface="+mn-lt"/>
                <a:cs typeface="+mn-lt"/>
                <a:sym typeface="Times New Roman"/>
              </a:rPr>
              <a:t>Because cloud pricing is usage-based, inefficient resource usage can quickly increase costs.</a:t>
            </a:r>
            <a:endParaRPr lang="en-US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6921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552901" y="186647"/>
            <a:ext cx="6216033" cy="953370"/>
            <a:chOff x="-7378" y="-820261"/>
            <a:chExt cx="5588312" cy="127116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-7378" y="-820261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4281" tIns="54281" rIns="54281" bIns="54281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1900"/>
              </a:pP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289125" y="1709456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/>
          </a:bodyPr>
          <a:lstStyle/>
          <a:p>
            <a:pPr marL="257175" indent="-257175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180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indent="-257175" algn="just">
              <a:lnSpc>
                <a:spcPct val="100000"/>
              </a:lnSpc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73129" y="1102355"/>
            <a:ext cx="6706589" cy="294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  <a:sym typeface="Arial"/>
                <a:hlinkClick r:id="rId3"/>
              </a:rPr>
              <a:t>https://aws.amazon.com/cloudwatch/</a:t>
            </a:r>
            <a:endParaRPr lang="en-US">
              <a:sym typeface="Arial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  <a:sym typeface="Arial"/>
                <a:hlinkClick r:id="rId4"/>
              </a:rPr>
              <a:t>https://docs.aws.amazon.com/AmazonCloudWatch/latest/monitoring/WhatIsCloudWatch.html</a:t>
            </a:r>
            <a:endParaRPr lang="en-US">
              <a:sym typeface="Arial"/>
            </a:endParaRPr>
          </a:p>
          <a:p>
            <a:pPr marL="285750" lvl="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  <a:sym typeface="Arial"/>
                <a:hlinkClick r:id="rId5"/>
              </a:rPr>
              <a:t>https://www.finops</a:t>
            </a:r>
            <a:r>
              <a:rPr lang="en-US" sz="2100" dirty="0">
                <a:ea typeface="+mn-lt"/>
                <a:cs typeface="+mn-lt"/>
                <a:hlinkClick r:id="rId5"/>
              </a:rPr>
              <a:t>.org/introduction/what-is-finops/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  <a:sym typeface="Arial"/>
                <a:hlinkClick r:id="rId6"/>
              </a:rPr>
              <a:t>https://cloud.google.com/architecture/logging-monitoring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 sz="2100" dirty="0">
                <a:ea typeface="+mn-lt"/>
                <a:cs typeface="+mn-lt"/>
                <a:sym typeface="Arial"/>
                <a:hlinkClick r:id="rId7"/>
              </a:rPr>
              <a:t>https://learn.microsoft.com/en-us/azure/cost-management-billing/</a:t>
            </a:r>
            <a:endParaRPr lang="en-US"/>
          </a:p>
          <a:p>
            <a:pPr algn="just">
              <a:lnSpc>
                <a:spcPct val="90000"/>
              </a:lnSpc>
            </a:pPr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61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534389" y="806567"/>
            <a:ext cx="6234545" cy="33345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4281" tIns="54281" rIns="54281" bIns="54281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457143" y="707428"/>
            <a:ext cx="335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050" dirty="0"/>
              <a:t>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AF3EB-4640-211E-3594-A86D4F88D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354" y="1156295"/>
            <a:ext cx="2909292" cy="290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289125" y="1709456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/>
          </a:bodyPr>
          <a:lstStyle/>
          <a:p>
            <a:pPr marL="257175" indent="-257175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indent="-257175" algn="just">
              <a:lnSpc>
                <a:spcPct val="100000"/>
              </a:lnSpc>
              <a:spcBef>
                <a:spcPts val="360"/>
              </a:spcBef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289126" y="2270562"/>
            <a:ext cx="6353669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6000" b="1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289125" y="3604081"/>
            <a:ext cx="3429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sanjay.e18823@cumail.in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143" y="707428"/>
            <a:ext cx="335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05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677</TotalTime>
  <Words>245</Words>
  <Application>Microsoft Office PowerPoint</Application>
  <PresentationFormat>Custom</PresentationFormat>
  <Paragraphs>59</Paragraphs>
  <Slides>22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LENOVO</cp:lastModifiedBy>
  <cp:revision>147</cp:revision>
  <dcterms:modified xsi:type="dcterms:W3CDTF">2025-12-18T18:05:00Z</dcterms:modified>
</cp:coreProperties>
</file>