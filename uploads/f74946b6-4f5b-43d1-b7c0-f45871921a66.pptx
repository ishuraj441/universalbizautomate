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49" r:id="rId1"/>
  </p:sldMasterIdLst>
  <p:notesMasterIdLst>
    <p:notesMasterId r:id="rId26"/>
  </p:notesMasterIdLst>
  <p:sldIdLst>
    <p:sldId id="256" r:id="rId2"/>
    <p:sldId id="309" r:id="rId3"/>
    <p:sldId id="283" r:id="rId4"/>
    <p:sldId id="311" r:id="rId5"/>
    <p:sldId id="328" r:id="rId6"/>
    <p:sldId id="312" r:id="rId7"/>
    <p:sldId id="329" r:id="rId8"/>
    <p:sldId id="330" r:id="rId9"/>
    <p:sldId id="313" r:id="rId10"/>
    <p:sldId id="314" r:id="rId11"/>
    <p:sldId id="331" r:id="rId12"/>
    <p:sldId id="333" r:id="rId13"/>
    <p:sldId id="332" r:id="rId14"/>
    <p:sldId id="315" r:id="rId15"/>
    <p:sldId id="334" r:id="rId16"/>
    <p:sldId id="316" r:id="rId17"/>
    <p:sldId id="317" r:id="rId18"/>
    <p:sldId id="292" r:id="rId19"/>
    <p:sldId id="322" r:id="rId20"/>
    <p:sldId id="287" r:id="rId21"/>
    <p:sldId id="288" r:id="rId22"/>
    <p:sldId id="300" r:id="rId23"/>
    <p:sldId id="307" r:id="rId24"/>
    <p:sldId id="305" r:id="rId25"/>
  </p:sldIdLst>
  <p:sldSz cx="9144000" cy="6858000" type="screen4x3"/>
  <p:notesSz cx="6858000" cy="9144000"/>
  <p:embeddedFontLst>
    <p:embeddedFont>
      <p:font typeface="Vladimir Script" panose="03050402040407070305" pitchFamily="66" charset="0"/>
      <p:regular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747775"/>
          </p15:clr>
        </p15:guide>
        <p15:guide id="2" pos="2880" userDrawn="1">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04E6E6-B2DA-6101-6AA7-9AA97FDF321E}" v="7" dt="2025-12-15T18:56:11.911"/>
    <p1510:client id="{67D89A0B-6DB3-4038-6A80-84AFF35A99FB}" v="2" dt="2025-12-15T13:47:13.198"/>
    <p1510:client id="{6F8DD2FA-E4E0-49CB-97E4-9A808382BD77}" v="169" dt="2025-12-15T09:23:18.081"/>
    <p1510:client id="{781CABB7-16B8-438D-8BC2-BE5C79A197BB}" v="36" dt="2025-12-15T07:36:13.739"/>
  </p1510:revLst>
</p1510:revInfo>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102" d="100"/>
          <a:sy n="102" d="100"/>
        </p:scale>
        <p:origin x="180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89BB20D-1518-9F15-1CCE-CE578D87076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2C4164-46C2-3D2D-CC97-C7EB21B410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45A4AC1-BC45-B230-13DC-073DE8430FC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590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9874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4386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7370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87544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54724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953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917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dirty="0"/>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2/14/2026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90931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2/14/2026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1018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17443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5148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8352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09941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2/14/2026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78062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7" y="29379"/>
            <a:ext cx="652311" cy="1398605"/>
          </a:xfrm>
          <a:prstGeom prst="rect">
            <a:avLst/>
          </a:prstGeom>
        </p:spPr>
      </p:pic>
      <p:sp>
        <p:nvSpPr>
          <p:cNvPr id="4" name="Text Placeholder 3">
            <a:extLst>
              <a:ext uri="{FF2B5EF4-FFF2-40B4-BE49-F238E27FC236}">
                <a16:creationId xmlns:a16="http://schemas.microsoft.com/office/drawing/2014/main" id="{0E950913-C93A-1C70-E5AF-C3A406E963F0}"/>
              </a:ext>
            </a:extLst>
          </p:cNvPr>
          <p:cNvSpPr>
            <a:spLocks noGrp="1"/>
          </p:cNvSpPr>
          <p:nvPr>
            <p:ph type="body" sz="quarter" idx="10"/>
          </p:nvPr>
        </p:nvSpPr>
        <p:spPr>
          <a:xfrm>
            <a:off x="903288" y="447361"/>
            <a:ext cx="7239000" cy="914400"/>
          </a:xfrm>
        </p:spPr>
        <p:txBody>
          <a:bodyPr/>
          <a:lstStyle>
            <a:lvl1pPr>
              <a:buNone/>
              <a:defRPr sz="3200">
                <a:solidFill>
                  <a:schemeClr val="tx1"/>
                </a:solidFill>
              </a:defRPr>
            </a:lvl1pPr>
          </a:lstStyle>
          <a:p>
            <a:pPr lvl="0"/>
            <a:r>
              <a:rPr lang="en-US" dirty="0"/>
              <a:t>Click to edit Master text styles</a:t>
            </a:r>
          </a:p>
        </p:txBody>
      </p:sp>
      <p:sp>
        <p:nvSpPr>
          <p:cNvPr id="6" name="Text Placeholder 5">
            <a:extLst>
              <a:ext uri="{FF2B5EF4-FFF2-40B4-BE49-F238E27FC236}">
                <a16:creationId xmlns:a16="http://schemas.microsoft.com/office/drawing/2014/main" id="{E602F07A-366A-9ED8-5F53-3E63225FEECF}"/>
              </a:ext>
            </a:extLst>
          </p:cNvPr>
          <p:cNvSpPr>
            <a:spLocks noGrp="1"/>
          </p:cNvSpPr>
          <p:nvPr>
            <p:ph type="body" sz="quarter" idx="11"/>
          </p:nvPr>
        </p:nvSpPr>
        <p:spPr>
          <a:xfrm>
            <a:off x="903289" y="2076451"/>
            <a:ext cx="3842883" cy="3048000"/>
          </a:xfrm>
        </p:spPr>
        <p:txBody>
          <a:bodyPr/>
          <a:lstStyle>
            <a:lvl1pPr>
              <a:defRPr sz="1400">
                <a:solidFill>
                  <a:schemeClr val="tx1"/>
                </a:solidFill>
              </a:defRPr>
            </a:lvl1pPr>
          </a:lstStyle>
          <a:p>
            <a:pPr lvl="0"/>
            <a:r>
              <a:rPr lang="en-US" dirty="0"/>
              <a:t>Click to edit Master text styles</a:t>
            </a:r>
          </a:p>
        </p:txBody>
      </p:sp>
      <p:sp>
        <p:nvSpPr>
          <p:cNvPr id="8" name="Picture Placeholder 7">
            <a:extLst>
              <a:ext uri="{FF2B5EF4-FFF2-40B4-BE49-F238E27FC236}">
                <a16:creationId xmlns:a16="http://schemas.microsoft.com/office/drawing/2014/main" id="{C9F03728-5998-E64B-10FD-60D85009370D}"/>
              </a:ext>
            </a:extLst>
          </p:cNvPr>
          <p:cNvSpPr>
            <a:spLocks noGrp="1"/>
          </p:cNvSpPr>
          <p:nvPr>
            <p:ph type="pic" sz="quarter" idx="12"/>
          </p:nvPr>
        </p:nvSpPr>
        <p:spPr>
          <a:xfrm>
            <a:off x="5681663" y="2076451"/>
            <a:ext cx="3244850" cy="3454400"/>
          </a:xfrm>
        </p:spPr>
        <p:txBody>
          <a:bodyPr/>
          <a:lstStyle/>
          <a:p>
            <a:endParaRPr lang="en-US"/>
          </a:p>
        </p:txBody>
      </p:sp>
      <p:sp>
        <p:nvSpPr>
          <p:cNvPr id="10" name="Text Placeholder 9">
            <a:extLst>
              <a:ext uri="{FF2B5EF4-FFF2-40B4-BE49-F238E27FC236}">
                <a16:creationId xmlns:a16="http://schemas.microsoft.com/office/drawing/2014/main" id="{7336B1AD-2445-9EF4-3525-AF309F3302FE}"/>
              </a:ext>
            </a:extLst>
          </p:cNvPr>
          <p:cNvSpPr>
            <a:spLocks noGrp="1"/>
          </p:cNvSpPr>
          <p:nvPr>
            <p:ph type="body" sz="quarter" idx="13"/>
          </p:nvPr>
        </p:nvSpPr>
        <p:spPr>
          <a:xfrm>
            <a:off x="5768975" y="5791200"/>
            <a:ext cx="3157538" cy="626533"/>
          </a:xfrm>
        </p:spPr>
        <p:txBody>
          <a:bodyPr/>
          <a:lstStyle/>
          <a:p>
            <a:pPr lvl="0"/>
            <a:r>
              <a:rPr lang="en-US" dirty="0"/>
              <a:t>Click to edit Master text styles</a:t>
            </a:r>
          </a:p>
          <a:p>
            <a:pPr lvl="4"/>
            <a:r>
              <a:rPr lang="en-US" dirty="0"/>
              <a:t>Second level</a:t>
            </a:r>
          </a:p>
          <a:p>
            <a:pPr lvl="5"/>
            <a:r>
              <a:rPr lang="en-US" dirty="0"/>
              <a:t>Third level</a:t>
            </a:r>
          </a:p>
          <a:p>
            <a:pPr lvl="6"/>
            <a:r>
              <a:rPr lang="en-US" dirty="0"/>
              <a:t>Fourth level</a:t>
            </a:r>
          </a:p>
          <a:p>
            <a:pPr lvl="7"/>
            <a:r>
              <a:rPr lang="en-US" dirty="0"/>
              <a:t>Fifth level</a:t>
            </a:r>
          </a:p>
        </p:txBody>
      </p:sp>
    </p:spTree>
    <p:extLst>
      <p:ext uri="{BB962C8B-B14F-4D97-AF65-F5344CB8AC3E}">
        <p14:creationId xmlns:p14="http://schemas.microsoft.com/office/powerpoint/2010/main" val="2782642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7" y="29379"/>
            <a:ext cx="652311" cy="1398605"/>
          </a:xfrm>
          <a:prstGeom prst="rect">
            <a:avLst/>
          </a:prstGeom>
        </p:spPr>
      </p:pic>
      <p:sp>
        <p:nvSpPr>
          <p:cNvPr id="4" name="Text Placeholder 3">
            <a:extLst>
              <a:ext uri="{FF2B5EF4-FFF2-40B4-BE49-F238E27FC236}">
                <a16:creationId xmlns:a16="http://schemas.microsoft.com/office/drawing/2014/main" id="{4BA13BD4-9A3C-4AF3-1874-CCFFFAA1ECCC}"/>
              </a:ext>
            </a:extLst>
          </p:cNvPr>
          <p:cNvSpPr>
            <a:spLocks noGrp="1"/>
          </p:cNvSpPr>
          <p:nvPr>
            <p:ph type="body" sz="quarter" idx="10"/>
          </p:nvPr>
        </p:nvSpPr>
        <p:spPr>
          <a:xfrm>
            <a:off x="884238" y="1905001"/>
            <a:ext cx="7827962" cy="3520017"/>
          </a:xfrm>
        </p:spPr>
        <p:txBody>
          <a:bodyPr/>
          <a:lstStyle>
            <a:lvl1pPr>
              <a:defRPr sz="20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59209FEA-0916-1EDA-EB31-F2DE83AA9096}"/>
              </a:ext>
            </a:extLst>
          </p:cNvPr>
          <p:cNvSpPr>
            <a:spLocks noGrp="1"/>
          </p:cNvSpPr>
          <p:nvPr>
            <p:ph type="body" sz="quarter" idx="11"/>
          </p:nvPr>
        </p:nvSpPr>
        <p:spPr>
          <a:xfrm>
            <a:off x="884238" y="383118"/>
            <a:ext cx="7827962" cy="1206500"/>
          </a:xfrm>
        </p:spPr>
        <p:txBody>
          <a:bodyPr/>
          <a:lstStyle>
            <a:lvl1pPr algn="ctr">
              <a:buNone/>
              <a:defRPr sz="3200" b="1"/>
            </a:lvl1pPr>
            <a:lvl2pPr>
              <a:buNone/>
              <a:defRPr/>
            </a:lvl2pPr>
          </a:lstStyle>
          <a:p>
            <a:pPr lvl="0"/>
            <a:r>
              <a:rPr lang="en-US" dirty="0"/>
              <a:t>Click to edit Master text styles</a:t>
            </a:r>
          </a:p>
        </p:txBody>
      </p:sp>
    </p:spTree>
    <p:extLst>
      <p:ext uri="{BB962C8B-B14F-4D97-AF65-F5344CB8AC3E}">
        <p14:creationId xmlns:p14="http://schemas.microsoft.com/office/powerpoint/2010/main" val="1267527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2/14/2026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182457556"/>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onlinecourses.nptel.ac.in/noc21_cs14/preview"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onlinecourses.nptel.ac.in/noc24_cs131/preview" TargetMode="External"/><Relationship Id="rId5" Type="http://schemas.openxmlformats.org/officeDocument/2006/relationships/hyperlink" Target="https://onlinecourses.nptel.ac.in/noc20_cs55/preview" TargetMode="External"/><Relationship Id="rId4" Type="http://schemas.openxmlformats.org/officeDocument/2006/relationships/hyperlink" Target="https://onlinecourses.nptel.ac.in/noc26_cs55/preview"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martinfowler.com/articles/microservices.html"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www.redhat.com/en/topics/microservices/what-is-an-api-gateway" TargetMode="External"/><Relationship Id="rId5" Type="http://schemas.openxmlformats.org/officeDocument/2006/relationships/hyperlink" Target="https://docs.aws.amazon.com/cloud-map/latest/dg/what-is-cloud-map.html" TargetMode="External"/><Relationship Id="rId4" Type="http://schemas.openxmlformats.org/officeDocument/2006/relationships/hyperlink" Target="https://learn.microsoft.com/en-us/azure/architecture/patterns/api-gateway"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8" y="2074768"/>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573881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514481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80843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237639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478650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56740" y="898883"/>
            <a:ext cx="8213400" cy="5410672"/>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dirty="0">
                <a:latin typeface="Calibri"/>
                <a:ea typeface="Calibri"/>
                <a:cs typeface="Calibri"/>
                <a:sym typeface="Arial Black"/>
              </a:rPr>
              <a:t>UNIVERSITY INSTITUTE OF ENGINEERING</a:t>
            </a:r>
            <a:endParaRPr lang="en-US" sz="1050" dirty="0">
              <a:latin typeface="Calibri"/>
              <a:ea typeface="Calibri"/>
              <a:cs typeface="Calibri"/>
            </a:endParaRPr>
          </a:p>
          <a:p>
            <a:pPr lvl="0" algn="ctr">
              <a:lnSpc>
                <a:spcPct val="90000"/>
              </a:lnSpc>
              <a:spcBef>
                <a:spcPts val="1120"/>
              </a:spcBef>
              <a:buClr>
                <a:schemeClr val="dk1"/>
              </a:buClr>
              <a:buSzPts val="3200"/>
            </a:pPr>
            <a:r>
              <a:rPr lang="en-US" sz="3200" b="1" dirty="0">
                <a:latin typeface="Calibri"/>
                <a:ea typeface="Calibri"/>
                <a:cs typeface="Calibri"/>
                <a:sym typeface="Arial Black"/>
              </a:rPr>
              <a:t>DEPARTMENT OF COMPUTER SCIENCE AND ENGINEERING</a:t>
            </a:r>
            <a:endParaRPr lang="en-US" sz="1050" dirty="0">
              <a:latin typeface="Calibri"/>
              <a:ea typeface="Calibri"/>
              <a:cs typeface="Calibri"/>
            </a:endParaRPr>
          </a:p>
          <a:p>
            <a:pPr lvl="0" algn="ctr">
              <a:lnSpc>
                <a:spcPct val="90000"/>
              </a:lnSpc>
              <a:spcBef>
                <a:spcPts val="1120"/>
              </a:spcBef>
              <a:buClr>
                <a:schemeClr val="dk1"/>
              </a:buClr>
              <a:buSzPts val="2800"/>
            </a:pPr>
            <a:r>
              <a:rPr lang="en-US" sz="2000" dirty="0">
                <a:latin typeface="Calibri"/>
                <a:ea typeface="Calibri"/>
                <a:cs typeface="Calibri"/>
                <a:sym typeface="Times New Roman"/>
              </a:rPr>
              <a:t>BTECH CSE – CS 201</a:t>
            </a:r>
            <a:endParaRPr lang="en-US" sz="2000" dirty="0">
              <a:latin typeface="Calibri"/>
              <a:ea typeface="Calibri"/>
              <a:cs typeface="Calibri"/>
            </a:endParaRPr>
          </a:p>
          <a:p>
            <a:pPr lvl="0" algn="ctr">
              <a:lnSpc>
                <a:spcPct val="90000"/>
              </a:lnSpc>
              <a:spcBef>
                <a:spcPts val="1120"/>
              </a:spcBef>
              <a:buClr>
                <a:schemeClr val="dk1"/>
              </a:buClr>
              <a:buSzPts val="2800"/>
            </a:pPr>
            <a:r>
              <a:rPr lang="en-US" sz="2000" dirty="0">
                <a:latin typeface="Calibri"/>
                <a:ea typeface="Calibri"/>
                <a:cs typeface="Calibri"/>
                <a:sym typeface="Times New Roman"/>
              </a:rPr>
              <a:t>SEMESTER: 6TH</a:t>
            </a:r>
            <a:endParaRPr lang="en-US" sz="2000" dirty="0">
              <a:latin typeface="Calibri"/>
              <a:ea typeface="Calibri"/>
              <a:cs typeface="Calibri"/>
            </a:endParaRPr>
          </a:p>
          <a:p>
            <a:pPr lvl="0" algn="ctr">
              <a:lnSpc>
                <a:spcPct val="90000"/>
              </a:lnSpc>
              <a:spcBef>
                <a:spcPts val="980"/>
              </a:spcBef>
              <a:buClr>
                <a:schemeClr val="dk1"/>
              </a:buClr>
              <a:buSzPts val="2800"/>
            </a:pPr>
            <a:r>
              <a:rPr lang="en-US" sz="2400" b="1" dirty="0">
                <a:latin typeface="Calibri"/>
                <a:ea typeface="Calibri"/>
                <a:cs typeface="Calibri"/>
              </a:rPr>
              <a:t>CLOUD COMPUTING</a:t>
            </a:r>
            <a:endParaRPr lang="en-US" sz="1600" dirty="0">
              <a:latin typeface="Calibri"/>
              <a:ea typeface="Calibri"/>
              <a:cs typeface="Calibri"/>
            </a:endParaRPr>
          </a:p>
          <a:p>
            <a:pPr lvl="0" algn="ctr">
              <a:lnSpc>
                <a:spcPct val="90000"/>
              </a:lnSpc>
              <a:spcBef>
                <a:spcPts val="980"/>
              </a:spcBef>
              <a:buClr>
                <a:schemeClr val="dk1"/>
              </a:buClr>
              <a:buSzPts val="2800"/>
            </a:pPr>
            <a:r>
              <a:rPr lang="en-US" sz="2400" dirty="0">
                <a:latin typeface="Calibri"/>
                <a:ea typeface="Calibri"/>
                <a:cs typeface="Calibri"/>
              </a:rPr>
              <a:t>(23CSH-307)</a:t>
            </a:r>
            <a:endParaRPr lang="en-US" sz="1600" dirty="0">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2                      Chapter No. </a:t>
            </a:r>
            <a:r>
              <a:rPr lang="en-US" b="1" dirty="0">
                <a:latin typeface="Calibri" panose="020F0502020204030204" pitchFamily="34" charset="0"/>
                <a:ea typeface="Calibri" panose="020F0502020204030204" pitchFamily="34" charset="0"/>
                <a:cs typeface="Calibri" panose="020F0502020204030204" pitchFamily="34" charset="0"/>
              </a:rPr>
              <a:t>2</a:t>
            </a:r>
            <a:r>
              <a:rPr lang="en-US" sz="1800" b="1" dirty="0">
                <a:latin typeface="Calibri" panose="020F0502020204030204" pitchFamily="34" charset="0"/>
                <a:ea typeface="Calibri" panose="020F0502020204030204" pitchFamily="34" charset="0"/>
                <a:cs typeface="Calibri" panose="020F0502020204030204" pitchFamily="34" charset="0"/>
              </a:rPr>
              <a:t>                    Lecture No. 17</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b="1" u="sng" dirty="0"/>
              <a:t>Service registry patterns, client- side vs. server-side discovery,</a:t>
            </a:r>
          </a:p>
          <a:p>
            <a:pPr>
              <a:spcBef>
                <a:spcPts val="1120"/>
              </a:spcBef>
              <a:buSzPts val="3200"/>
            </a:pPr>
            <a:r>
              <a:rPr lang="en-US" b="1" u="sng" dirty="0"/>
              <a:t>role of API Gateway in microservices (routing, security,</a:t>
            </a:r>
          </a:p>
          <a:p>
            <a:pPr>
              <a:spcBef>
                <a:spcPts val="1120"/>
              </a:spcBef>
              <a:buSzPts val="3200"/>
            </a:pPr>
            <a:r>
              <a:rPr lang="en-US" b="1" u="sng" dirty="0"/>
              <a:t>throttling).</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Sanjay Tiwari, E18823                                                        Senior Technical Trainer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1" y="354331"/>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8E0751-EA9B-FE86-30A9-698B705354D1}"/>
              </a:ext>
            </a:extLst>
          </p:cNvPr>
          <p:cNvSpPr>
            <a:spLocks noGrp="1"/>
          </p:cNvSpPr>
          <p:nvPr>
            <p:ph type="body" sz="quarter" idx="10"/>
          </p:nvPr>
        </p:nvSpPr>
        <p:spPr>
          <a:xfrm>
            <a:off x="884238" y="1414808"/>
            <a:ext cx="7827962" cy="3520017"/>
          </a:xfrm>
        </p:spPr>
        <p:txBody>
          <a:bodyPr vert="horz" lIns="91440" tIns="45720" rIns="91440" bIns="45720" rtlCol="0" anchor="t">
            <a:normAutofit/>
          </a:bodyPr>
          <a:lstStyle/>
          <a:p>
            <a:r>
              <a:rPr lang="en-US" b="1" dirty="0">
                <a:ea typeface="Calibri"/>
                <a:cs typeface="Calibri"/>
              </a:rPr>
              <a:t>Application Packaging: </a:t>
            </a:r>
            <a:r>
              <a:rPr lang="en-US" dirty="0">
                <a:ea typeface="Calibri"/>
                <a:cs typeface="Calibri"/>
              </a:rPr>
              <a:t>Containers provide lightweight and efficient packaging by bundling applications with their dependencies for consistent execution.</a:t>
            </a:r>
          </a:p>
          <a:p>
            <a:r>
              <a:rPr lang="en-US" b="1" dirty="0">
                <a:ea typeface="Calibri"/>
                <a:cs typeface="Calibri"/>
              </a:rPr>
              <a:t>The Orchestration Imperative: </a:t>
            </a:r>
            <a:r>
              <a:rPr lang="en-US" dirty="0">
                <a:ea typeface="Calibri"/>
                <a:cs typeface="Calibri"/>
              </a:rPr>
              <a:t>While Docker standardizes container usage, orchestration is necessary when managing containers at scale.</a:t>
            </a:r>
          </a:p>
          <a:p>
            <a:r>
              <a:rPr lang="en-US" b="1" dirty="0">
                <a:ea typeface="Calibri"/>
                <a:cs typeface="Calibri"/>
              </a:rPr>
              <a:t>Platform Trade-offs: </a:t>
            </a:r>
            <a:r>
              <a:rPr lang="en-US" dirty="0">
                <a:ea typeface="Calibri"/>
                <a:cs typeface="Calibri"/>
              </a:rPr>
              <a:t>Kubernetes offers powerful orchestration features, whereas ECS provides a simplified approach to container management.</a:t>
            </a:r>
          </a:p>
          <a:p>
            <a:r>
              <a:rPr lang="en-US" b="1" dirty="0">
                <a:ea typeface="Calibri"/>
                <a:cs typeface="Calibri"/>
              </a:rPr>
              <a:t>System Reliability: </a:t>
            </a:r>
            <a:r>
              <a:rPr lang="en-US" dirty="0">
                <a:ea typeface="Calibri"/>
                <a:cs typeface="Calibri"/>
              </a:rPr>
              <a:t>These technologies support distributed architectures and ensure the reliability, scalability, and availability of cloud-native systems.</a:t>
            </a:r>
          </a:p>
        </p:txBody>
      </p:sp>
      <p:sp>
        <p:nvSpPr>
          <p:cNvPr id="3" name="Text Placeholder 2">
            <a:extLst>
              <a:ext uri="{FF2B5EF4-FFF2-40B4-BE49-F238E27FC236}">
                <a16:creationId xmlns:a16="http://schemas.microsoft.com/office/drawing/2014/main" id="{7FB671DB-3B12-16D8-7E5C-6F4207F16FF4}"/>
              </a:ext>
            </a:extLst>
          </p:cNvPr>
          <p:cNvSpPr>
            <a:spLocks noGrp="1"/>
          </p:cNvSpPr>
          <p:nvPr>
            <p:ph type="body" sz="quarter" idx="11"/>
          </p:nvPr>
        </p:nvSpPr>
        <p:spPr/>
        <p:txBody>
          <a:bodyPr vert="horz" lIns="91440" tIns="45720" rIns="91440" bIns="45720" rtlCol="0" anchor="t">
            <a:normAutofit/>
          </a:bodyPr>
          <a:lstStyle/>
          <a:p>
            <a:r>
              <a:rPr lang="en-US" dirty="0">
                <a:ea typeface="Calibri"/>
                <a:cs typeface="Calibri"/>
              </a:rPr>
              <a:t>Recap</a:t>
            </a:r>
          </a:p>
        </p:txBody>
      </p:sp>
    </p:spTree>
    <p:extLst>
      <p:ext uri="{BB962C8B-B14F-4D97-AF65-F5344CB8AC3E}">
        <p14:creationId xmlns:p14="http://schemas.microsoft.com/office/powerpoint/2010/main" val="2749985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5" y="107542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111" name="Google Shape;111;p2">
            <a:extLst>
              <a:ext uri="{FF2B5EF4-FFF2-40B4-BE49-F238E27FC236}">
                <a16:creationId xmlns:a16="http://schemas.microsoft.com/office/drawing/2014/main" id="{C2BF4C75-B6D5-0F71-7046-B3B05669B5D8}"/>
              </a:ext>
            </a:extLst>
          </p:cNvPr>
          <p:cNvSpPr txBox="1">
            <a:spLocks noGrp="1"/>
          </p:cNvSpPr>
          <p:nvPr>
            <p:ph type="body" sz="quarter" idx="10"/>
          </p:nvPr>
        </p:nvSpPr>
        <p:spPr>
          <a:xfrm>
            <a:off x="385500" y="2279275"/>
            <a:ext cx="8001000" cy="2914800"/>
          </a:xfrm>
          <a:prstGeom prst="rect">
            <a:avLst/>
          </a:prstGeom>
          <a:noFill/>
          <a:ln>
            <a:noFill/>
          </a:ln>
        </p:spPr>
        <p:txBody>
          <a:bodyPr spcFirstLastPara="1" wrap="square" lIns="91425" tIns="45700" rIns="91425" bIns="45700" anchor="t" anchorCtr="0">
            <a:normAutofit/>
          </a:bodyPr>
          <a:lstStyle/>
          <a:p>
            <a:r>
              <a:rPr lang="en-US" dirty="0">
                <a:latin typeface="Arial"/>
                <a:ea typeface="+mn-lt"/>
                <a:cs typeface="+mn-lt"/>
                <a:sym typeface="Times New Roman"/>
              </a:rPr>
              <a:t>Service</a:t>
            </a:r>
            <a:r>
              <a:rPr lang="en-US" dirty="0">
                <a:latin typeface="Arial"/>
                <a:ea typeface="+mn-lt"/>
                <a:cs typeface="+mn-lt"/>
              </a:rPr>
              <a:t> Registry Concepts</a:t>
            </a:r>
            <a:endParaRPr lang="en-US" dirty="0">
              <a:latin typeface="Arial"/>
              <a:cs typeface="Arial"/>
            </a:endParaRPr>
          </a:p>
          <a:p>
            <a:r>
              <a:rPr lang="en-US" dirty="0">
                <a:latin typeface="Arial"/>
                <a:ea typeface="+mn-lt"/>
                <a:cs typeface="+mn-lt"/>
              </a:rPr>
              <a:t>Service Discovery Mechanisms</a:t>
            </a:r>
            <a:endParaRPr lang="en-US" dirty="0">
              <a:latin typeface="Arial"/>
              <a:cs typeface="Arial"/>
            </a:endParaRPr>
          </a:p>
          <a:p>
            <a:r>
              <a:rPr lang="en-US" dirty="0">
                <a:latin typeface="Arial"/>
                <a:ea typeface="+mn-lt"/>
                <a:cs typeface="+mn-lt"/>
              </a:rPr>
              <a:t>Client-Side vs Server-Side Discovery</a:t>
            </a:r>
            <a:endParaRPr lang="en-US" dirty="0">
              <a:latin typeface="Arial"/>
              <a:cs typeface="Arial"/>
            </a:endParaRPr>
          </a:p>
          <a:p>
            <a:r>
              <a:rPr lang="en-US" dirty="0">
                <a:latin typeface="Arial"/>
                <a:ea typeface="+mn-lt"/>
                <a:cs typeface="+mn-lt"/>
              </a:rPr>
              <a:t>Role of API Gateway</a:t>
            </a:r>
            <a:endParaRPr dirty="0">
              <a:latin typeface="Arial"/>
              <a:cs typeface="Arial"/>
            </a:endParaRPr>
          </a:p>
          <a:p>
            <a:pPr marL="0" marR="0" lvl="0" indent="0">
              <a:lnSpc>
                <a:spcPct val="100000"/>
              </a:lnSpc>
              <a:spcBef>
                <a:spcPct val="0"/>
              </a:spcBef>
              <a:spcAft>
                <a:spcPct val="0"/>
              </a:spcAft>
              <a:buNone/>
            </a:pPr>
            <a:endParaRPr lang="en-US" altLang="en-US" b="0" i="0" u="none" dirty="0">
              <a:latin typeface="Arial"/>
              <a:ea typeface="Times New Roman"/>
              <a:cs typeface="Arial"/>
            </a:endParaRPr>
          </a:p>
        </p:txBody>
      </p:sp>
      <p:sp>
        <p:nvSpPr>
          <p:cNvPr id="7" name="TextBox 6"/>
          <p:cNvSpPr txBox="1"/>
          <p:nvPr/>
        </p:nvSpPr>
        <p:spPr>
          <a:xfrm>
            <a:off x="8609524" y="943238"/>
            <a:ext cx="284052" cy="30777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400" dirty="0"/>
              <a:t>1</a:t>
            </a:r>
          </a:p>
        </p:txBody>
      </p:sp>
    </p:spTree>
    <p:extLst>
      <p:ext uri="{BB962C8B-B14F-4D97-AF65-F5344CB8AC3E}">
        <p14:creationId xmlns:p14="http://schemas.microsoft.com/office/powerpoint/2010/main" val="163975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F068CC-CE91-18B0-15D4-70AD6C5F5DDD}"/>
              </a:ext>
            </a:extLst>
          </p:cNvPr>
          <p:cNvSpPr>
            <a:spLocks noGrp="1"/>
          </p:cNvSpPr>
          <p:nvPr>
            <p:ph type="body" sz="quarter" idx="10"/>
          </p:nvPr>
        </p:nvSpPr>
        <p:spPr>
          <a:xfrm>
            <a:off x="884238" y="1668991"/>
            <a:ext cx="7827962" cy="3520017"/>
          </a:xfrm>
        </p:spPr>
        <p:txBody>
          <a:bodyPr vert="horz" lIns="91440" tIns="45720" rIns="91440" bIns="45720" rtlCol="0" anchor="t">
            <a:normAutofit/>
          </a:bodyPr>
          <a:lstStyle/>
          <a:p>
            <a:r>
              <a:rPr lang="en-US" b="1" dirty="0">
                <a:ea typeface="Calibri"/>
                <a:cs typeface="Calibri"/>
              </a:rPr>
              <a:t>The Central Directory: </a:t>
            </a:r>
            <a:r>
              <a:rPr lang="en-US" dirty="0">
                <a:ea typeface="Calibri"/>
                <a:cs typeface="Calibri"/>
              </a:rPr>
              <a:t>A service registry acts as a central directory that stores the names and locations of all service instances.</a:t>
            </a:r>
          </a:p>
          <a:p>
            <a:r>
              <a:rPr lang="en-US" b="1" dirty="0">
                <a:ea typeface="Calibri"/>
                <a:cs typeface="Calibri"/>
              </a:rPr>
              <a:t>Dynamic Adaptation: </a:t>
            </a:r>
            <a:r>
              <a:rPr lang="en-US" dirty="0">
                <a:ea typeface="Calibri"/>
                <a:cs typeface="Calibri"/>
              </a:rPr>
              <a:t>It handles dynamic IP and port changes, making it essential in dynamic environments where services scale frequently.</a:t>
            </a:r>
          </a:p>
          <a:p>
            <a:r>
              <a:rPr lang="en-US" b="1" dirty="0">
                <a:ea typeface="Calibri"/>
                <a:cs typeface="Calibri"/>
              </a:rPr>
              <a:t>Health and State: </a:t>
            </a:r>
            <a:r>
              <a:rPr lang="en-US" dirty="0">
                <a:ea typeface="Calibri"/>
                <a:cs typeface="Calibri"/>
              </a:rPr>
              <a:t>The registry supports service registration, handles deregistration, and actively keeps track of healthy services.</a:t>
            </a:r>
          </a:p>
          <a:p>
            <a:r>
              <a:rPr lang="en-US" b="1" dirty="0">
                <a:ea typeface="Calibri"/>
                <a:cs typeface="Calibri"/>
              </a:rPr>
              <a:t>Architectural Decoupling: </a:t>
            </a:r>
            <a:r>
              <a:rPr lang="en-US" dirty="0">
                <a:ea typeface="Calibri"/>
                <a:cs typeface="Calibri"/>
              </a:rPr>
              <a:t>By centralizing service metadata, it reduces hard-coded dependencies and enables loose coupling across the system.</a:t>
            </a:r>
          </a:p>
        </p:txBody>
      </p:sp>
      <p:sp>
        <p:nvSpPr>
          <p:cNvPr id="3" name="Text Placeholder 2">
            <a:extLst>
              <a:ext uri="{FF2B5EF4-FFF2-40B4-BE49-F238E27FC236}">
                <a16:creationId xmlns:a16="http://schemas.microsoft.com/office/drawing/2014/main" id="{2F926132-752F-A16D-8D3F-6FD5DB71C0EA}"/>
              </a:ext>
            </a:extLst>
          </p:cNvPr>
          <p:cNvSpPr>
            <a:spLocks noGrp="1"/>
          </p:cNvSpPr>
          <p:nvPr>
            <p:ph type="body" sz="quarter" idx="11"/>
          </p:nvPr>
        </p:nvSpPr>
        <p:spPr/>
        <p:txBody>
          <a:bodyPr vert="horz" lIns="91440" tIns="45720" rIns="91440" bIns="45720" rtlCol="0" anchor="t">
            <a:normAutofit/>
          </a:bodyPr>
          <a:lstStyle/>
          <a:p>
            <a:r>
              <a:rPr lang="en-US" dirty="0">
                <a:ea typeface="+mn-lt"/>
                <a:cs typeface="+mn-lt"/>
              </a:rPr>
              <a:t>Service Registry Overview</a:t>
            </a:r>
          </a:p>
        </p:txBody>
      </p:sp>
    </p:spTree>
    <p:extLst>
      <p:ext uri="{BB962C8B-B14F-4D97-AF65-F5344CB8AC3E}">
        <p14:creationId xmlns:p14="http://schemas.microsoft.com/office/powerpoint/2010/main" val="711614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FB7DE-5A23-6368-20B6-9407FE26F3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6C6A80-D409-A173-76F1-F85A481ACDD6}"/>
              </a:ext>
            </a:extLst>
          </p:cNvPr>
          <p:cNvSpPr>
            <a:spLocks noGrp="1"/>
          </p:cNvSpPr>
          <p:nvPr>
            <p:ph type="body" sz="quarter" idx="10"/>
          </p:nvPr>
        </p:nvSpPr>
        <p:spPr>
          <a:xfrm>
            <a:off x="1797404" y="5755555"/>
            <a:ext cx="5384500" cy="493884"/>
          </a:xfrm>
        </p:spPr>
        <p:txBody>
          <a:bodyPr vert="horz" lIns="91440" tIns="45720" rIns="91440" bIns="45720" rtlCol="0" anchor="t">
            <a:normAutofit/>
          </a:bodyPr>
          <a:lstStyle/>
          <a:p>
            <a:pPr marL="0" indent="0">
              <a:buNone/>
            </a:pPr>
            <a:r>
              <a:rPr lang="en-US" dirty="0">
                <a:ea typeface="Calibri" panose="020F0502020204030204"/>
                <a:cs typeface="Calibri" panose="020F0502020204030204"/>
              </a:rPr>
              <a:t>Source: </a:t>
            </a:r>
            <a:r>
              <a:rPr lang="en-US" dirty="0">
                <a:ea typeface="+mn-lt"/>
                <a:cs typeface="+mn-lt"/>
              </a:rPr>
              <a:t>Scalable Thread</a:t>
            </a:r>
          </a:p>
        </p:txBody>
      </p:sp>
      <p:sp>
        <p:nvSpPr>
          <p:cNvPr id="3" name="Text Placeholder 2">
            <a:extLst>
              <a:ext uri="{FF2B5EF4-FFF2-40B4-BE49-F238E27FC236}">
                <a16:creationId xmlns:a16="http://schemas.microsoft.com/office/drawing/2014/main" id="{E87F65E1-AB9D-DACC-A723-E9B88D568CF1}"/>
              </a:ext>
            </a:extLst>
          </p:cNvPr>
          <p:cNvSpPr>
            <a:spLocks noGrp="1"/>
          </p:cNvSpPr>
          <p:nvPr>
            <p:ph type="body" sz="quarter" idx="11"/>
          </p:nvPr>
        </p:nvSpPr>
        <p:spPr>
          <a:xfrm>
            <a:off x="654049" y="265691"/>
            <a:ext cx="7827962" cy="904875"/>
          </a:xfrm>
        </p:spPr>
        <p:txBody>
          <a:bodyPr vert="horz" lIns="91440" tIns="45720" rIns="91440" bIns="45720" rtlCol="0" anchor="t">
            <a:normAutofit/>
          </a:bodyPr>
          <a:lstStyle/>
          <a:p>
            <a:r>
              <a:rPr lang="en-US" dirty="0"/>
              <a:t>Service Registry Overview</a:t>
            </a:r>
          </a:p>
        </p:txBody>
      </p:sp>
      <p:pic>
        <p:nvPicPr>
          <p:cNvPr id="2050" name="Picture 2" descr="What is Service Discovery? - by Sid - The Scalable Thread">
            <a:extLst>
              <a:ext uri="{FF2B5EF4-FFF2-40B4-BE49-F238E27FC236}">
                <a16:creationId xmlns:a16="http://schemas.microsoft.com/office/drawing/2014/main" id="{1B8F24F6-9DEB-FDB2-47E1-07F972D89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291" y="995658"/>
            <a:ext cx="7478725" cy="4759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213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AFB4AD-2D68-5B81-8FB5-6D0D3F9F1526}"/>
              </a:ext>
            </a:extLst>
          </p:cNvPr>
          <p:cNvSpPr>
            <a:spLocks noGrp="1"/>
          </p:cNvSpPr>
          <p:nvPr>
            <p:ph type="body" sz="quarter" idx="10"/>
          </p:nvPr>
        </p:nvSpPr>
        <p:spPr>
          <a:xfrm>
            <a:off x="780544" y="1329966"/>
            <a:ext cx="7827962" cy="3520017"/>
          </a:xfrm>
        </p:spPr>
        <p:txBody>
          <a:bodyPr vert="horz" lIns="91440" tIns="45720" rIns="91440" bIns="45720" rtlCol="0" anchor="t">
            <a:normAutofit/>
          </a:bodyPr>
          <a:lstStyle/>
          <a:p>
            <a:r>
              <a:rPr lang="en-US" b="1" dirty="0">
                <a:ea typeface="Calibri"/>
                <a:cs typeface="Calibri"/>
              </a:rPr>
              <a:t>Self-Registration Pattern: </a:t>
            </a:r>
            <a:r>
              <a:rPr lang="en-US" dirty="0">
                <a:ea typeface="Calibri"/>
                <a:cs typeface="Calibri"/>
              </a:rPr>
              <a:t>A service provides its own metadata and registers itself at startup. It sends periodic health updates and deregisters on shutdown. This requires service-side logic but directly reflects the service state.</a:t>
            </a:r>
          </a:p>
          <a:p>
            <a:r>
              <a:rPr lang="en-US" b="1" dirty="0">
                <a:ea typeface="Calibri"/>
                <a:cs typeface="Calibri"/>
              </a:rPr>
              <a:t>Third-Party Registration Pattern: </a:t>
            </a:r>
            <a:r>
              <a:rPr lang="en-US" dirty="0">
                <a:ea typeface="Calibri"/>
                <a:cs typeface="Calibri"/>
              </a:rPr>
              <a:t>An external component handles registration centrally, and services remain completely unaware of the registry. Health checks are performed externally. This is useful when services cannot modify code, though it requires additional infrastructure.</a:t>
            </a:r>
          </a:p>
        </p:txBody>
      </p:sp>
      <p:sp>
        <p:nvSpPr>
          <p:cNvPr id="3" name="Text Placeholder 2">
            <a:extLst>
              <a:ext uri="{FF2B5EF4-FFF2-40B4-BE49-F238E27FC236}">
                <a16:creationId xmlns:a16="http://schemas.microsoft.com/office/drawing/2014/main" id="{846C25BD-3F1B-A5D8-A523-EAE9AD935262}"/>
              </a:ext>
            </a:extLst>
          </p:cNvPr>
          <p:cNvSpPr>
            <a:spLocks noGrp="1"/>
          </p:cNvSpPr>
          <p:nvPr>
            <p:ph type="body" sz="quarter" idx="11"/>
          </p:nvPr>
        </p:nvSpPr>
        <p:spPr/>
        <p:txBody>
          <a:bodyPr vert="horz" lIns="91440" tIns="45720" rIns="91440" bIns="45720" rtlCol="0" anchor="t">
            <a:normAutofit/>
          </a:bodyPr>
          <a:lstStyle/>
          <a:p>
            <a:r>
              <a:rPr lang="en-US" dirty="0">
                <a:ea typeface="+mn-lt"/>
                <a:cs typeface="+mn-lt"/>
              </a:rPr>
              <a:t>Service Registration Patterns</a:t>
            </a:r>
          </a:p>
        </p:txBody>
      </p:sp>
    </p:spTree>
    <p:extLst>
      <p:ext uri="{BB962C8B-B14F-4D97-AF65-F5344CB8AC3E}">
        <p14:creationId xmlns:p14="http://schemas.microsoft.com/office/powerpoint/2010/main" val="594758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94549-0A34-8CA8-8BEE-690E15398EF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DD4BE9D-2952-893B-0077-043929619344}"/>
              </a:ext>
            </a:extLst>
          </p:cNvPr>
          <p:cNvSpPr>
            <a:spLocks noGrp="1"/>
          </p:cNvSpPr>
          <p:nvPr>
            <p:ph type="body" sz="quarter" idx="10"/>
          </p:nvPr>
        </p:nvSpPr>
        <p:spPr>
          <a:xfrm>
            <a:off x="1797404" y="5755555"/>
            <a:ext cx="5384500" cy="493884"/>
          </a:xfrm>
        </p:spPr>
        <p:txBody>
          <a:bodyPr vert="horz" lIns="91440" tIns="45720" rIns="91440" bIns="45720" rtlCol="0" anchor="t">
            <a:normAutofit/>
          </a:bodyPr>
          <a:lstStyle/>
          <a:p>
            <a:pPr marL="0" indent="0">
              <a:buNone/>
            </a:pPr>
            <a:r>
              <a:rPr lang="en-US" dirty="0">
                <a:ea typeface="Calibri" panose="020F0502020204030204"/>
                <a:cs typeface="Calibri" panose="020F0502020204030204"/>
              </a:rPr>
              <a:t>Source</a:t>
            </a:r>
            <a:r>
              <a:rPr lang="en-US">
                <a:ea typeface="Calibri" panose="020F0502020204030204"/>
                <a:cs typeface="Calibri" panose="020F0502020204030204"/>
              </a:rPr>
              <a:t>: </a:t>
            </a:r>
            <a:r>
              <a:rPr lang="en-US">
                <a:ea typeface="+mn-lt"/>
                <a:cs typeface="+mn-lt"/>
              </a:rPr>
              <a:t>O’Reilly</a:t>
            </a:r>
            <a:endParaRPr lang="en-US" dirty="0">
              <a:ea typeface="+mn-lt"/>
              <a:cs typeface="+mn-lt"/>
            </a:endParaRPr>
          </a:p>
        </p:txBody>
      </p:sp>
      <p:sp>
        <p:nvSpPr>
          <p:cNvPr id="3" name="Text Placeholder 2">
            <a:extLst>
              <a:ext uri="{FF2B5EF4-FFF2-40B4-BE49-F238E27FC236}">
                <a16:creationId xmlns:a16="http://schemas.microsoft.com/office/drawing/2014/main" id="{F082A1AD-D55E-5E3B-782B-28F55C595441}"/>
              </a:ext>
            </a:extLst>
          </p:cNvPr>
          <p:cNvSpPr>
            <a:spLocks noGrp="1"/>
          </p:cNvSpPr>
          <p:nvPr>
            <p:ph type="body" sz="quarter" idx="11"/>
          </p:nvPr>
        </p:nvSpPr>
        <p:spPr>
          <a:xfrm>
            <a:off x="654049" y="265691"/>
            <a:ext cx="7827962" cy="904875"/>
          </a:xfrm>
        </p:spPr>
        <p:txBody>
          <a:bodyPr vert="horz" lIns="91440" tIns="45720" rIns="91440" bIns="45720" rtlCol="0" anchor="t">
            <a:normAutofit/>
          </a:bodyPr>
          <a:lstStyle/>
          <a:p>
            <a:r>
              <a:rPr lang="en-US" dirty="0"/>
              <a:t>Self Registration Pattern</a:t>
            </a:r>
          </a:p>
        </p:txBody>
      </p:sp>
      <p:pic>
        <p:nvPicPr>
          <p:cNvPr id="3076" name="Picture 4" descr="Self-registration pattern - Software Architect's Handbook [Book]">
            <a:extLst>
              <a:ext uri="{FF2B5EF4-FFF2-40B4-BE49-F238E27FC236}">
                <a16:creationId xmlns:a16="http://schemas.microsoft.com/office/drawing/2014/main" id="{51C8E385-B39C-0943-9611-7B084E05B6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982" y="1792577"/>
            <a:ext cx="5976096" cy="3340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218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8BC0-02EB-0920-FE49-EDD5812DEC6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A653DB-0D93-FEB2-A109-EFB96CD29265}"/>
              </a:ext>
            </a:extLst>
          </p:cNvPr>
          <p:cNvSpPr>
            <a:spLocks noGrp="1"/>
          </p:cNvSpPr>
          <p:nvPr>
            <p:ph type="body" sz="quarter" idx="10"/>
          </p:nvPr>
        </p:nvSpPr>
        <p:spPr>
          <a:xfrm>
            <a:off x="1797404" y="5755555"/>
            <a:ext cx="5384500" cy="493884"/>
          </a:xfrm>
        </p:spPr>
        <p:txBody>
          <a:bodyPr vert="horz" lIns="91440" tIns="45720" rIns="91440" bIns="45720" rtlCol="0" anchor="t">
            <a:normAutofit/>
          </a:bodyPr>
          <a:lstStyle/>
          <a:p>
            <a:pPr marL="0" indent="0">
              <a:buNone/>
            </a:pPr>
            <a:r>
              <a:rPr lang="en-US" dirty="0">
                <a:ea typeface="Calibri" panose="020F0502020204030204"/>
                <a:cs typeface="Calibri" panose="020F0502020204030204"/>
              </a:rPr>
              <a:t>Source</a:t>
            </a:r>
            <a:r>
              <a:rPr lang="en-US">
                <a:ea typeface="Calibri" panose="020F0502020204030204"/>
                <a:cs typeface="Calibri" panose="020F0502020204030204"/>
              </a:rPr>
              <a:t>: </a:t>
            </a:r>
            <a:r>
              <a:rPr lang="en-US">
                <a:ea typeface="+mn-lt"/>
                <a:cs typeface="+mn-lt"/>
              </a:rPr>
              <a:t>O’Reilly</a:t>
            </a:r>
            <a:endParaRPr lang="en-US" dirty="0">
              <a:ea typeface="+mn-lt"/>
              <a:cs typeface="+mn-lt"/>
            </a:endParaRPr>
          </a:p>
        </p:txBody>
      </p:sp>
      <p:sp>
        <p:nvSpPr>
          <p:cNvPr id="3" name="Text Placeholder 2">
            <a:extLst>
              <a:ext uri="{FF2B5EF4-FFF2-40B4-BE49-F238E27FC236}">
                <a16:creationId xmlns:a16="http://schemas.microsoft.com/office/drawing/2014/main" id="{032DD29D-DF5D-61E4-099A-B32B031D971C}"/>
              </a:ext>
            </a:extLst>
          </p:cNvPr>
          <p:cNvSpPr>
            <a:spLocks noGrp="1"/>
          </p:cNvSpPr>
          <p:nvPr>
            <p:ph type="body" sz="quarter" idx="11"/>
          </p:nvPr>
        </p:nvSpPr>
        <p:spPr>
          <a:xfrm>
            <a:off x="654049" y="265691"/>
            <a:ext cx="7827962" cy="904875"/>
          </a:xfrm>
        </p:spPr>
        <p:txBody>
          <a:bodyPr vert="horz" lIns="91440" tIns="45720" rIns="91440" bIns="45720" rtlCol="0" anchor="t">
            <a:normAutofit/>
          </a:bodyPr>
          <a:lstStyle/>
          <a:p>
            <a:r>
              <a:rPr lang="en-US" dirty="0"/>
              <a:t>Third-Party Registration Pattern</a:t>
            </a:r>
          </a:p>
        </p:txBody>
      </p:sp>
      <p:pic>
        <p:nvPicPr>
          <p:cNvPr id="4098" name="Picture 2" descr="Third-party registration pattern - Software Architect's Handbook [Book]">
            <a:extLst>
              <a:ext uri="{FF2B5EF4-FFF2-40B4-BE49-F238E27FC236}">
                <a16:creationId xmlns:a16="http://schemas.microsoft.com/office/drawing/2014/main" id="{A152F77E-6A36-4AC9-EC30-BB790A57E8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923" y="1792419"/>
            <a:ext cx="7100982" cy="2525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205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6D4FB0-75E7-4A38-873B-606F2586341B}"/>
              </a:ext>
            </a:extLst>
          </p:cNvPr>
          <p:cNvSpPr>
            <a:spLocks noGrp="1"/>
          </p:cNvSpPr>
          <p:nvPr>
            <p:ph type="body" sz="quarter" idx="10"/>
          </p:nvPr>
        </p:nvSpPr>
        <p:spPr/>
        <p:txBody>
          <a:bodyPr vert="horz" lIns="91440" tIns="45720" rIns="91440" bIns="45720" rtlCol="0" anchor="t">
            <a:normAutofit/>
          </a:bodyPr>
          <a:lstStyle/>
          <a:p>
            <a:r>
              <a:rPr lang="en-US" b="1" dirty="0">
                <a:ea typeface="Calibri"/>
                <a:cs typeface="Calibri"/>
              </a:rPr>
              <a:t>The Discovery Process: </a:t>
            </a:r>
            <a:r>
              <a:rPr lang="en-US" dirty="0">
                <a:ea typeface="Calibri"/>
                <a:cs typeface="Calibri"/>
              </a:rPr>
              <a:t>Service discovery is the fundamental process of locating service instances utilizing the registry as an information source.</a:t>
            </a:r>
          </a:p>
          <a:p>
            <a:r>
              <a:rPr lang="en-US" b="1" dirty="0">
                <a:ea typeface="Calibri"/>
                <a:cs typeface="Calibri"/>
              </a:rPr>
              <a:t>Dynamic Communication: </a:t>
            </a:r>
            <a:r>
              <a:rPr lang="en-US" dirty="0">
                <a:ea typeface="Calibri"/>
                <a:cs typeface="Calibri"/>
              </a:rPr>
              <a:t>By avoiding fixed endpoints, it enables fault-tolerant inter-service communication even in highly dynamic scaling scenarios.</a:t>
            </a:r>
          </a:p>
        </p:txBody>
      </p:sp>
      <p:sp>
        <p:nvSpPr>
          <p:cNvPr id="3" name="Text Placeholder 2">
            <a:extLst>
              <a:ext uri="{FF2B5EF4-FFF2-40B4-BE49-F238E27FC236}">
                <a16:creationId xmlns:a16="http://schemas.microsoft.com/office/drawing/2014/main" id="{A2F0053B-C482-1BDB-041C-D04893A1F894}"/>
              </a:ext>
            </a:extLst>
          </p:cNvPr>
          <p:cNvSpPr>
            <a:spLocks noGrp="1"/>
          </p:cNvSpPr>
          <p:nvPr>
            <p:ph type="body" sz="quarter" idx="11"/>
          </p:nvPr>
        </p:nvSpPr>
        <p:spPr/>
        <p:txBody>
          <a:bodyPr vert="horz" lIns="91440" tIns="45720" rIns="91440" bIns="45720" rtlCol="0" anchor="t">
            <a:normAutofit/>
          </a:bodyPr>
          <a:lstStyle/>
          <a:p>
            <a:r>
              <a:rPr lang="en-US" dirty="0"/>
              <a:t>Service Discovery Mechanisms</a:t>
            </a:r>
            <a:endParaRPr lang="en-US" dirty="0">
              <a:ea typeface="+mn-lt"/>
              <a:cs typeface="+mn-lt"/>
            </a:endParaRPr>
          </a:p>
        </p:txBody>
      </p:sp>
    </p:spTree>
    <p:extLst>
      <p:ext uri="{BB962C8B-B14F-4D97-AF65-F5344CB8AC3E}">
        <p14:creationId xmlns:p14="http://schemas.microsoft.com/office/powerpoint/2010/main" val="445933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A027B7-07CD-D4D2-9A59-5CB1173DB0E4}"/>
              </a:ext>
            </a:extLst>
          </p:cNvPr>
          <p:cNvSpPr>
            <a:spLocks noGrp="1"/>
          </p:cNvSpPr>
          <p:nvPr>
            <p:ph type="body" sz="quarter" idx="10"/>
          </p:nvPr>
        </p:nvSpPr>
        <p:spPr>
          <a:xfrm>
            <a:off x="969079" y="1348820"/>
            <a:ext cx="7827962" cy="3520017"/>
          </a:xfrm>
        </p:spPr>
        <p:txBody>
          <a:bodyPr vert="horz" lIns="91440" tIns="45720" rIns="91440" bIns="45720" rtlCol="0" anchor="t">
            <a:normAutofit/>
          </a:bodyPr>
          <a:lstStyle/>
          <a:p>
            <a:r>
              <a:rPr lang="en-US" b="1" dirty="0">
                <a:ea typeface="Calibri"/>
                <a:cs typeface="Calibri"/>
              </a:rPr>
              <a:t>Direct Interaction: </a:t>
            </a:r>
            <a:r>
              <a:rPr lang="en-US" dirty="0">
                <a:ea typeface="Calibri"/>
                <a:cs typeface="Calibri"/>
              </a:rPr>
              <a:t>The client queries the service registry directly and selects the appropriate service instance.</a:t>
            </a:r>
          </a:p>
          <a:p>
            <a:r>
              <a:rPr lang="en-US" b="1" dirty="0">
                <a:ea typeface="Calibri"/>
                <a:cs typeface="Calibri"/>
              </a:rPr>
              <a:t>Client Autonomy: </a:t>
            </a:r>
            <a:r>
              <a:rPr lang="en-US" dirty="0">
                <a:ea typeface="Calibri"/>
                <a:cs typeface="Calibri"/>
              </a:rPr>
              <a:t>Load balancing logic resides within the client, allowing for direct communication with the backend service.</a:t>
            </a:r>
          </a:p>
          <a:p>
            <a:r>
              <a:rPr lang="en-US" b="1" dirty="0">
                <a:ea typeface="Calibri"/>
                <a:cs typeface="Calibri"/>
              </a:rPr>
              <a:t>Trade-offs: </a:t>
            </a:r>
            <a:r>
              <a:rPr lang="en-US" dirty="0">
                <a:ea typeface="Calibri"/>
                <a:cs typeface="Calibri"/>
              </a:rPr>
              <a:t>This approach provides more control and flexibility for the client. However, it requires client-side intelligence and custom libraries, which increases client complexity and system coupling.</a:t>
            </a:r>
          </a:p>
        </p:txBody>
      </p:sp>
      <p:sp>
        <p:nvSpPr>
          <p:cNvPr id="3" name="Text Placeholder 2">
            <a:extLst>
              <a:ext uri="{FF2B5EF4-FFF2-40B4-BE49-F238E27FC236}">
                <a16:creationId xmlns:a16="http://schemas.microsoft.com/office/drawing/2014/main" id="{534CB2DB-D027-7EFD-D535-29A8DE0C45B9}"/>
              </a:ext>
            </a:extLst>
          </p:cNvPr>
          <p:cNvSpPr>
            <a:spLocks noGrp="1"/>
          </p:cNvSpPr>
          <p:nvPr>
            <p:ph type="body" sz="quarter" idx="11"/>
          </p:nvPr>
        </p:nvSpPr>
        <p:spPr/>
        <p:txBody>
          <a:bodyPr vert="horz" lIns="91440" tIns="45720" rIns="91440" bIns="45720" rtlCol="0" anchor="t">
            <a:normAutofit/>
          </a:bodyPr>
          <a:lstStyle/>
          <a:p>
            <a:r>
              <a:rPr lang="en-US" dirty="0"/>
              <a:t>Client-Side Service Discovery</a:t>
            </a:r>
            <a:endParaRPr lang="en-US" dirty="0">
              <a:ea typeface="+mn-lt"/>
              <a:cs typeface="+mn-lt"/>
            </a:endParaRPr>
          </a:p>
        </p:txBody>
      </p:sp>
    </p:spTree>
    <p:extLst>
      <p:ext uri="{BB962C8B-B14F-4D97-AF65-F5344CB8AC3E}">
        <p14:creationId xmlns:p14="http://schemas.microsoft.com/office/powerpoint/2010/main" val="857217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CE047-C5FF-2B5E-7619-8741283D7F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E53E9C5-7EA7-BC22-0C66-08B32942F687}"/>
              </a:ext>
            </a:extLst>
          </p:cNvPr>
          <p:cNvSpPr>
            <a:spLocks noGrp="1"/>
          </p:cNvSpPr>
          <p:nvPr>
            <p:ph type="body" sz="quarter" idx="10"/>
          </p:nvPr>
        </p:nvSpPr>
        <p:spPr>
          <a:xfrm>
            <a:off x="1797404" y="5755555"/>
            <a:ext cx="5384500" cy="493884"/>
          </a:xfrm>
        </p:spPr>
        <p:txBody>
          <a:bodyPr vert="horz" lIns="91440" tIns="45720" rIns="91440" bIns="45720" rtlCol="0" anchor="t">
            <a:normAutofit/>
          </a:bodyPr>
          <a:lstStyle/>
          <a:p>
            <a:pPr marL="0" indent="0">
              <a:buNone/>
            </a:pPr>
            <a:r>
              <a:rPr lang="en-US" dirty="0">
                <a:ea typeface="Calibri" panose="020F0502020204030204"/>
                <a:cs typeface="Calibri" panose="020F0502020204030204"/>
              </a:rPr>
              <a:t>Source: </a:t>
            </a:r>
            <a:r>
              <a:rPr lang="en-US" dirty="0">
                <a:ea typeface="+mn-lt"/>
                <a:cs typeface="+mn-lt"/>
              </a:rPr>
              <a:t>Microservices.io</a:t>
            </a:r>
          </a:p>
        </p:txBody>
      </p:sp>
      <p:sp>
        <p:nvSpPr>
          <p:cNvPr id="3" name="Text Placeholder 2">
            <a:extLst>
              <a:ext uri="{FF2B5EF4-FFF2-40B4-BE49-F238E27FC236}">
                <a16:creationId xmlns:a16="http://schemas.microsoft.com/office/drawing/2014/main" id="{374924CE-2416-5140-F263-E924BB752B10}"/>
              </a:ext>
            </a:extLst>
          </p:cNvPr>
          <p:cNvSpPr>
            <a:spLocks noGrp="1"/>
          </p:cNvSpPr>
          <p:nvPr>
            <p:ph type="body" sz="quarter" idx="11"/>
          </p:nvPr>
        </p:nvSpPr>
        <p:spPr>
          <a:xfrm>
            <a:off x="654049" y="265691"/>
            <a:ext cx="7827962" cy="904875"/>
          </a:xfrm>
        </p:spPr>
        <p:txBody>
          <a:bodyPr vert="horz" lIns="91440" tIns="45720" rIns="91440" bIns="45720" rtlCol="0" anchor="t">
            <a:normAutofit/>
          </a:bodyPr>
          <a:lstStyle/>
          <a:p>
            <a:r>
              <a:rPr lang="en-US" dirty="0"/>
              <a:t>Client-Side Service Discovery</a:t>
            </a:r>
            <a:endParaRPr lang="en-US" dirty="0">
              <a:ea typeface="+mn-lt"/>
              <a:cs typeface="+mn-lt"/>
            </a:endParaRPr>
          </a:p>
        </p:txBody>
      </p:sp>
      <p:pic>
        <p:nvPicPr>
          <p:cNvPr id="5122" name="Picture 2" descr="Pattern: Client-side service discovery">
            <a:extLst>
              <a:ext uri="{FF2B5EF4-FFF2-40B4-BE49-F238E27FC236}">
                <a16:creationId xmlns:a16="http://schemas.microsoft.com/office/drawing/2014/main" id="{9F69B46D-A726-C54E-815E-2EDE77FE8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1792" y="755835"/>
            <a:ext cx="6220415" cy="4806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740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EAD1E-448D-72F4-9ACC-36544C4B54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2482C3F-27E2-FCFA-BF11-AEC0F443751B}"/>
              </a:ext>
            </a:extLst>
          </p:cNvPr>
          <p:cNvSpPr>
            <a:spLocks noGrp="1"/>
          </p:cNvSpPr>
          <p:nvPr>
            <p:ph type="body" sz="quarter" idx="10"/>
          </p:nvPr>
        </p:nvSpPr>
        <p:spPr>
          <a:xfrm>
            <a:off x="884238" y="1589618"/>
            <a:ext cx="7827962" cy="3520017"/>
          </a:xfrm>
        </p:spPr>
        <p:txBody>
          <a:bodyPr vert="horz" lIns="91440" tIns="45720" rIns="91440" bIns="45720" rtlCol="0" anchor="t">
            <a:normAutofit/>
          </a:bodyPr>
          <a:lstStyle/>
          <a:p>
            <a:r>
              <a:rPr lang="en-US" b="1" dirty="0">
                <a:ea typeface="Calibri"/>
                <a:cs typeface="Calibri"/>
              </a:rPr>
              <a:t>Intermediary Routing: </a:t>
            </a:r>
            <a:r>
              <a:rPr lang="en-US" dirty="0">
                <a:ea typeface="Calibri"/>
                <a:cs typeface="Calibri"/>
              </a:rPr>
              <a:t>The client sends a request to an intermediary, which then queries the registry and handles routing externally.</a:t>
            </a:r>
          </a:p>
          <a:p>
            <a:r>
              <a:rPr lang="en-US" b="1" dirty="0">
                <a:ea typeface="Calibri"/>
                <a:cs typeface="Calibri"/>
              </a:rPr>
              <a:t>Client Simplicity: </a:t>
            </a:r>
            <a:r>
              <a:rPr lang="en-US" dirty="0">
                <a:ea typeface="Calibri"/>
                <a:cs typeface="Calibri"/>
              </a:rPr>
              <a:t>Because the client is unaware of service locations, this heavily simplifies client implementation and logic.</a:t>
            </a:r>
          </a:p>
          <a:p>
            <a:r>
              <a:rPr lang="en-US" b="1" dirty="0">
                <a:ea typeface="Calibri"/>
                <a:cs typeface="Calibri"/>
              </a:rPr>
              <a:t>Trade-offs: </a:t>
            </a:r>
            <a:r>
              <a:rPr lang="en-US" dirty="0">
                <a:ea typeface="Calibri"/>
                <a:cs typeface="Calibri"/>
              </a:rPr>
              <a:t>It provides centralized load balancing and centralizes routing logic, making changes easier to manage. However, it requires additional infrastructure to operate.</a:t>
            </a:r>
          </a:p>
        </p:txBody>
      </p:sp>
      <p:sp>
        <p:nvSpPr>
          <p:cNvPr id="3" name="Text Placeholder 2">
            <a:extLst>
              <a:ext uri="{FF2B5EF4-FFF2-40B4-BE49-F238E27FC236}">
                <a16:creationId xmlns:a16="http://schemas.microsoft.com/office/drawing/2014/main" id="{AA740D92-D59B-DBB7-8785-9827FD78A09B}"/>
              </a:ext>
            </a:extLst>
          </p:cNvPr>
          <p:cNvSpPr>
            <a:spLocks noGrp="1"/>
          </p:cNvSpPr>
          <p:nvPr>
            <p:ph type="body" sz="quarter" idx="11"/>
          </p:nvPr>
        </p:nvSpPr>
        <p:spPr/>
        <p:txBody>
          <a:bodyPr vert="horz" lIns="91440" tIns="45720" rIns="91440" bIns="45720" rtlCol="0" anchor="t">
            <a:normAutofit/>
          </a:bodyPr>
          <a:lstStyle/>
          <a:p>
            <a:r>
              <a:rPr lang="en-US" dirty="0"/>
              <a:t>Server-Side Service Discovery</a:t>
            </a:r>
            <a:endParaRPr lang="en-US" dirty="0">
              <a:ea typeface="+mn-lt"/>
              <a:cs typeface="+mn-lt"/>
            </a:endParaRPr>
          </a:p>
        </p:txBody>
      </p:sp>
    </p:spTree>
    <p:extLst>
      <p:ext uri="{BB962C8B-B14F-4D97-AF65-F5344CB8AC3E}">
        <p14:creationId xmlns:p14="http://schemas.microsoft.com/office/powerpoint/2010/main" val="1425132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C5527-ACE6-9C47-21D6-AB997138186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A3962C-A230-7CE7-35F4-14B53C5370AE}"/>
              </a:ext>
            </a:extLst>
          </p:cNvPr>
          <p:cNvSpPr>
            <a:spLocks noGrp="1"/>
          </p:cNvSpPr>
          <p:nvPr>
            <p:ph type="body" sz="quarter" idx="10"/>
          </p:nvPr>
        </p:nvSpPr>
        <p:spPr>
          <a:xfrm>
            <a:off x="1797404" y="5755555"/>
            <a:ext cx="5384500" cy="493884"/>
          </a:xfrm>
        </p:spPr>
        <p:txBody>
          <a:bodyPr vert="horz" lIns="91440" tIns="45720" rIns="91440" bIns="45720" rtlCol="0" anchor="t">
            <a:normAutofit/>
          </a:bodyPr>
          <a:lstStyle/>
          <a:p>
            <a:pPr marL="0" indent="0">
              <a:buNone/>
            </a:pPr>
            <a:r>
              <a:rPr lang="en-US" dirty="0">
                <a:ea typeface="Calibri" panose="020F0502020204030204"/>
                <a:cs typeface="Calibri" panose="020F0502020204030204"/>
              </a:rPr>
              <a:t>Source: </a:t>
            </a:r>
            <a:r>
              <a:rPr lang="en-US" dirty="0">
                <a:ea typeface="+mn-lt"/>
                <a:cs typeface="+mn-lt"/>
              </a:rPr>
              <a:t>Microservices.io</a:t>
            </a:r>
          </a:p>
        </p:txBody>
      </p:sp>
      <p:sp>
        <p:nvSpPr>
          <p:cNvPr id="3" name="Text Placeholder 2">
            <a:extLst>
              <a:ext uri="{FF2B5EF4-FFF2-40B4-BE49-F238E27FC236}">
                <a16:creationId xmlns:a16="http://schemas.microsoft.com/office/drawing/2014/main" id="{6BFD4DD9-7BFE-7872-EBED-5C9FE4FC7C9B}"/>
              </a:ext>
            </a:extLst>
          </p:cNvPr>
          <p:cNvSpPr>
            <a:spLocks noGrp="1"/>
          </p:cNvSpPr>
          <p:nvPr>
            <p:ph type="body" sz="quarter" idx="11"/>
          </p:nvPr>
        </p:nvSpPr>
        <p:spPr>
          <a:xfrm>
            <a:off x="654049" y="265691"/>
            <a:ext cx="7827962" cy="904875"/>
          </a:xfrm>
        </p:spPr>
        <p:txBody>
          <a:bodyPr vert="horz" lIns="91440" tIns="45720" rIns="91440" bIns="45720" rtlCol="0" anchor="t">
            <a:normAutofit/>
          </a:bodyPr>
          <a:lstStyle/>
          <a:p>
            <a:r>
              <a:rPr lang="en-US" dirty="0"/>
              <a:t>Server-Side Service Discovery</a:t>
            </a:r>
            <a:endParaRPr lang="en-US" dirty="0">
              <a:ea typeface="+mn-lt"/>
              <a:cs typeface="+mn-lt"/>
            </a:endParaRPr>
          </a:p>
        </p:txBody>
      </p:sp>
      <p:pic>
        <p:nvPicPr>
          <p:cNvPr id="6146" name="Picture 2" descr="Pattern: Server-side service discovery">
            <a:extLst>
              <a:ext uri="{FF2B5EF4-FFF2-40B4-BE49-F238E27FC236}">
                <a16:creationId xmlns:a16="http://schemas.microsoft.com/office/drawing/2014/main" id="{20277C5C-0103-AC84-1BB6-55A944BE4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2408" y="718128"/>
            <a:ext cx="6519024" cy="5037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671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A53FEB-1BC8-25AF-4EBB-704C1352963A}"/>
              </a:ext>
            </a:extLst>
          </p:cNvPr>
          <p:cNvSpPr>
            <a:spLocks noGrp="1"/>
          </p:cNvSpPr>
          <p:nvPr>
            <p:ph type="body" sz="quarter" idx="10"/>
          </p:nvPr>
        </p:nvSpPr>
        <p:spPr>
          <a:xfrm>
            <a:off x="818250" y="1471368"/>
            <a:ext cx="7827962" cy="3520017"/>
          </a:xfrm>
        </p:spPr>
        <p:txBody>
          <a:bodyPr vert="horz" lIns="91440" tIns="45720" rIns="91440" bIns="45720" rtlCol="0" anchor="t">
            <a:normAutofit/>
          </a:bodyPr>
          <a:lstStyle/>
          <a:p>
            <a:r>
              <a:rPr lang="en-US" b="1" dirty="0">
                <a:ea typeface="Calibri"/>
                <a:cs typeface="Calibri"/>
              </a:rPr>
              <a:t>The Single Entry Point: </a:t>
            </a:r>
            <a:r>
              <a:rPr lang="en-US" dirty="0">
                <a:ea typeface="Calibri"/>
                <a:cs typeface="Calibri"/>
              </a:rPr>
              <a:t>An API Gateway acts as a single entry point for clients, effectively routing requests to the proper backend services.</a:t>
            </a:r>
          </a:p>
          <a:p>
            <a:r>
              <a:rPr lang="en-US" b="1" dirty="0">
                <a:ea typeface="Calibri"/>
                <a:cs typeface="Calibri"/>
              </a:rPr>
              <a:t>Topological Abstraction: </a:t>
            </a:r>
            <a:r>
              <a:rPr lang="en-US" dirty="0">
                <a:ea typeface="Calibri"/>
                <a:cs typeface="Calibri"/>
              </a:rPr>
              <a:t>It abstracts the internal service structure and hides the internal service topology from the outside world.</a:t>
            </a:r>
          </a:p>
          <a:p>
            <a:r>
              <a:rPr lang="en-US" b="1" dirty="0">
                <a:ea typeface="Calibri"/>
                <a:cs typeface="Calibri"/>
              </a:rPr>
              <a:t>Security &amp; Simplicity: </a:t>
            </a:r>
            <a:r>
              <a:rPr lang="en-US" dirty="0">
                <a:ea typeface="Calibri"/>
                <a:cs typeface="Calibri"/>
              </a:rPr>
              <a:t>This pattern reduces direct service exposure, centralizes cross-cutting concerns, and significantly simplifies client interaction.</a:t>
            </a:r>
          </a:p>
        </p:txBody>
      </p:sp>
      <p:sp>
        <p:nvSpPr>
          <p:cNvPr id="3" name="Text Placeholder 2">
            <a:extLst>
              <a:ext uri="{FF2B5EF4-FFF2-40B4-BE49-F238E27FC236}">
                <a16:creationId xmlns:a16="http://schemas.microsoft.com/office/drawing/2014/main" id="{AD39E229-68FE-7E1F-D2B8-8047B28D9454}"/>
              </a:ext>
            </a:extLst>
          </p:cNvPr>
          <p:cNvSpPr>
            <a:spLocks noGrp="1"/>
          </p:cNvSpPr>
          <p:nvPr>
            <p:ph type="body" sz="quarter" idx="11"/>
          </p:nvPr>
        </p:nvSpPr>
        <p:spPr/>
        <p:txBody>
          <a:bodyPr vert="horz" lIns="91440" tIns="45720" rIns="91440" bIns="45720" rtlCol="0" anchor="t">
            <a:normAutofit/>
          </a:bodyPr>
          <a:lstStyle/>
          <a:p>
            <a:pPr marL="0" indent="0"/>
            <a:r>
              <a:rPr lang="en-US" dirty="0"/>
              <a:t>Introduction to API Gateways</a:t>
            </a:r>
            <a:endParaRPr lang="en-US" dirty="0">
              <a:ea typeface="+mn-lt"/>
              <a:cs typeface="+mn-lt"/>
            </a:endParaRPr>
          </a:p>
        </p:txBody>
      </p:sp>
    </p:spTree>
    <p:extLst>
      <p:ext uri="{BB962C8B-B14F-4D97-AF65-F5344CB8AC3E}">
        <p14:creationId xmlns:p14="http://schemas.microsoft.com/office/powerpoint/2010/main" val="3949059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CC033-8A07-EC40-A4B6-7D303EADD62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B58C45E-AE9F-1E34-73DD-A75B80028E8B}"/>
              </a:ext>
            </a:extLst>
          </p:cNvPr>
          <p:cNvSpPr>
            <a:spLocks noGrp="1"/>
          </p:cNvSpPr>
          <p:nvPr>
            <p:ph type="body" sz="quarter" idx="10"/>
          </p:nvPr>
        </p:nvSpPr>
        <p:spPr>
          <a:xfrm>
            <a:off x="1797404" y="5755555"/>
            <a:ext cx="5384500" cy="493884"/>
          </a:xfrm>
        </p:spPr>
        <p:txBody>
          <a:bodyPr vert="horz" lIns="91440" tIns="45720" rIns="91440" bIns="45720" rtlCol="0" anchor="t">
            <a:normAutofit/>
          </a:bodyPr>
          <a:lstStyle/>
          <a:p>
            <a:pPr marL="0" indent="0">
              <a:buNone/>
            </a:pPr>
            <a:r>
              <a:rPr lang="en-US" dirty="0">
                <a:ea typeface="Calibri" panose="020F0502020204030204"/>
                <a:cs typeface="Calibri" panose="020F0502020204030204"/>
              </a:rPr>
              <a:t>Source: </a:t>
            </a:r>
            <a:r>
              <a:rPr lang="en-US" dirty="0" err="1">
                <a:ea typeface="+mn-lt"/>
                <a:cs typeface="+mn-lt"/>
              </a:rPr>
              <a:t>ByteByteGo</a:t>
            </a:r>
            <a:endParaRPr lang="en-US" dirty="0">
              <a:ea typeface="+mn-lt"/>
              <a:cs typeface="+mn-lt"/>
            </a:endParaRPr>
          </a:p>
        </p:txBody>
      </p:sp>
      <p:sp>
        <p:nvSpPr>
          <p:cNvPr id="3" name="Text Placeholder 2">
            <a:extLst>
              <a:ext uri="{FF2B5EF4-FFF2-40B4-BE49-F238E27FC236}">
                <a16:creationId xmlns:a16="http://schemas.microsoft.com/office/drawing/2014/main" id="{DC0B434F-0B8F-AE87-31D0-0C8714E9CC34}"/>
              </a:ext>
            </a:extLst>
          </p:cNvPr>
          <p:cNvSpPr>
            <a:spLocks noGrp="1"/>
          </p:cNvSpPr>
          <p:nvPr>
            <p:ph type="body" sz="quarter" idx="11"/>
          </p:nvPr>
        </p:nvSpPr>
        <p:spPr>
          <a:xfrm>
            <a:off x="654049" y="265691"/>
            <a:ext cx="7827962" cy="904875"/>
          </a:xfrm>
        </p:spPr>
        <p:txBody>
          <a:bodyPr vert="horz" lIns="91440" tIns="45720" rIns="91440" bIns="45720" rtlCol="0" anchor="t">
            <a:normAutofit/>
          </a:bodyPr>
          <a:lstStyle/>
          <a:p>
            <a:r>
              <a:rPr lang="en-US" dirty="0"/>
              <a:t>API Gateways</a:t>
            </a:r>
            <a:endParaRPr lang="en-US" dirty="0">
              <a:ea typeface="+mn-lt"/>
              <a:cs typeface="+mn-lt"/>
            </a:endParaRPr>
          </a:p>
        </p:txBody>
      </p:sp>
      <p:pic>
        <p:nvPicPr>
          <p:cNvPr id="7170" name="Picture 2" descr="API Gateways 101: The Core of Modern API Management &amp; Security">
            <a:extLst>
              <a:ext uri="{FF2B5EF4-FFF2-40B4-BE49-F238E27FC236}">
                <a16:creationId xmlns:a16="http://schemas.microsoft.com/office/drawing/2014/main" id="{B79FA1A0-86AD-C895-8275-D61F35B7A1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032" y="855303"/>
            <a:ext cx="7209244" cy="4593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318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29C73A-50D8-69B7-3604-7A46E128E0CF}"/>
              </a:ext>
            </a:extLst>
          </p:cNvPr>
          <p:cNvSpPr>
            <a:spLocks noGrp="1"/>
          </p:cNvSpPr>
          <p:nvPr>
            <p:ph type="body" sz="quarter" idx="10"/>
          </p:nvPr>
        </p:nvSpPr>
        <p:spPr>
          <a:xfrm>
            <a:off x="884238" y="1480795"/>
            <a:ext cx="7827962" cy="3520017"/>
          </a:xfrm>
        </p:spPr>
        <p:txBody>
          <a:bodyPr vert="horz" lIns="91440" tIns="45720" rIns="91440" bIns="45720" rtlCol="0" anchor="t">
            <a:normAutofit/>
          </a:bodyPr>
          <a:lstStyle/>
          <a:p>
            <a:r>
              <a:rPr lang="en-US" b="1" dirty="0">
                <a:ea typeface="Calibri"/>
                <a:cs typeface="Calibri"/>
              </a:rPr>
              <a:t>Traffic Direction: </a:t>
            </a:r>
            <a:r>
              <a:rPr lang="en-US" dirty="0">
                <a:ea typeface="Calibri"/>
                <a:cs typeface="Calibri"/>
              </a:rPr>
              <a:t>The gateway intelligently directs requests to the correct service.</a:t>
            </a:r>
          </a:p>
          <a:p>
            <a:r>
              <a:rPr lang="en-US" b="1" dirty="0">
                <a:ea typeface="Calibri"/>
                <a:cs typeface="Calibri"/>
              </a:rPr>
              <a:t>Advanced Routing Protocols: </a:t>
            </a:r>
            <a:r>
              <a:rPr lang="en-US" dirty="0">
                <a:ea typeface="Calibri"/>
                <a:cs typeface="Calibri"/>
              </a:rPr>
              <a:t>It supports advanced techniques like path-based routing and version-based routing.</a:t>
            </a:r>
          </a:p>
          <a:p>
            <a:r>
              <a:rPr lang="en-US" b="1" dirty="0">
                <a:ea typeface="Calibri"/>
                <a:cs typeface="Calibri"/>
              </a:rPr>
              <a:t>Network Optimization: </a:t>
            </a:r>
            <a:r>
              <a:rPr lang="en-US" dirty="0">
                <a:ea typeface="Calibri"/>
                <a:cs typeface="Calibri"/>
              </a:rPr>
              <a:t>It enables request aggregation to combine multiple internal calls into one, which simplifies client communication.</a:t>
            </a:r>
          </a:p>
          <a:p>
            <a:r>
              <a:rPr lang="en-US" b="1" dirty="0">
                <a:ea typeface="Calibri"/>
                <a:cs typeface="Calibri"/>
              </a:rPr>
              <a:t>Adaptability: </a:t>
            </a:r>
            <a:r>
              <a:rPr lang="en-US" dirty="0">
                <a:ea typeface="Calibri"/>
                <a:cs typeface="Calibri"/>
              </a:rPr>
              <a:t>The gateway supports dynamic service changes and significantly improves request management.</a:t>
            </a:r>
          </a:p>
        </p:txBody>
      </p:sp>
      <p:sp>
        <p:nvSpPr>
          <p:cNvPr id="3" name="Text Placeholder 2">
            <a:extLst>
              <a:ext uri="{FF2B5EF4-FFF2-40B4-BE49-F238E27FC236}">
                <a16:creationId xmlns:a16="http://schemas.microsoft.com/office/drawing/2014/main" id="{4ABC883F-B8BD-21C0-328F-1E3BE62A328B}"/>
              </a:ext>
            </a:extLst>
          </p:cNvPr>
          <p:cNvSpPr>
            <a:spLocks noGrp="1"/>
          </p:cNvSpPr>
          <p:nvPr>
            <p:ph type="body" sz="quarter" idx="11"/>
          </p:nvPr>
        </p:nvSpPr>
        <p:spPr/>
        <p:txBody>
          <a:bodyPr vert="horz" lIns="91440" tIns="45720" rIns="91440" bIns="45720" rtlCol="0" anchor="t">
            <a:normAutofit/>
          </a:bodyPr>
          <a:lstStyle/>
          <a:p>
            <a:r>
              <a:rPr lang="en-US" dirty="0"/>
              <a:t>API Gateway Capabilities: Routing</a:t>
            </a:r>
            <a:endParaRPr lang="en-US" dirty="0">
              <a:ea typeface="+mn-lt"/>
              <a:cs typeface="+mn-lt"/>
            </a:endParaRPr>
          </a:p>
        </p:txBody>
      </p:sp>
    </p:spTree>
    <p:extLst>
      <p:ext uri="{BB962C8B-B14F-4D97-AF65-F5344CB8AC3E}">
        <p14:creationId xmlns:p14="http://schemas.microsoft.com/office/powerpoint/2010/main" val="3604064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D934DC-EFC4-885B-7754-05485F77C7F6}"/>
              </a:ext>
            </a:extLst>
          </p:cNvPr>
          <p:cNvSpPr>
            <a:spLocks noGrp="1"/>
          </p:cNvSpPr>
          <p:nvPr>
            <p:ph type="body" sz="quarter" idx="10"/>
          </p:nvPr>
        </p:nvSpPr>
        <p:spPr>
          <a:xfrm>
            <a:off x="884238" y="1668991"/>
            <a:ext cx="7827962" cy="3520017"/>
          </a:xfrm>
        </p:spPr>
        <p:txBody>
          <a:bodyPr vert="horz" lIns="91440" tIns="45720" rIns="91440" bIns="45720" rtlCol="0" anchor="t">
            <a:normAutofit/>
          </a:bodyPr>
          <a:lstStyle/>
          <a:p>
            <a:r>
              <a:rPr lang="en-US" b="1" dirty="0">
                <a:ea typeface="Calibri"/>
                <a:cs typeface="Calibri"/>
              </a:rPr>
              <a:t>Access Control: </a:t>
            </a:r>
            <a:r>
              <a:rPr lang="en-US" dirty="0">
                <a:ea typeface="Calibri"/>
                <a:cs typeface="Calibri"/>
              </a:rPr>
              <a:t>The gateway acts as a security shield, handling authentication and authorization while enforcing access control policies.</a:t>
            </a:r>
          </a:p>
          <a:p>
            <a:r>
              <a:rPr lang="en-US" b="1" dirty="0">
                <a:ea typeface="Calibri"/>
                <a:cs typeface="Calibri"/>
              </a:rPr>
              <a:t>Backend Protection: </a:t>
            </a:r>
            <a:r>
              <a:rPr lang="en-US" dirty="0">
                <a:ea typeface="Calibri"/>
                <a:cs typeface="Calibri"/>
              </a:rPr>
              <a:t>It protects backend services by preventing abuse and overload.</a:t>
            </a:r>
          </a:p>
          <a:p>
            <a:r>
              <a:rPr lang="en-US" b="1" dirty="0">
                <a:ea typeface="Calibri"/>
                <a:cs typeface="Calibri"/>
              </a:rPr>
              <a:t>Traffic Management: </a:t>
            </a:r>
            <a:r>
              <a:rPr lang="en-US" dirty="0">
                <a:ea typeface="Calibri"/>
                <a:cs typeface="Calibri"/>
              </a:rPr>
              <a:t>It limits request rates (throttling), enables API key management, and supports traffic shaping.</a:t>
            </a:r>
          </a:p>
          <a:p>
            <a:r>
              <a:rPr lang="en-US" b="1" dirty="0">
                <a:ea typeface="Calibri"/>
                <a:cs typeface="Calibri"/>
              </a:rPr>
              <a:t>System Integrity: </a:t>
            </a:r>
            <a:r>
              <a:rPr lang="en-US" dirty="0">
                <a:ea typeface="Calibri"/>
                <a:cs typeface="Calibri"/>
              </a:rPr>
              <a:t>Collectively, these measures drastically improve overall system stability.</a:t>
            </a:r>
          </a:p>
        </p:txBody>
      </p:sp>
      <p:sp>
        <p:nvSpPr>
          <p:cNvPr id="3" name="Text Placeholder 2">
            <a:extLst>
              <a:ext uri="{FF2B5EF4-FFF2-40B4-BE49-F238E27FC236}">
                <a16:creationId xmlns:a16="http://schemas.microsoft.com/office/drawing/2014/main" id="{6AB10269-E246-9EF4-C9EA-4ADB9DDEBA43}"/>
              </a:ext>
            </a:extLst>
          </p:cNvPr>
          <p:cNvSpPr>
            <a:spLocks noGrp="1"/>
          </p:cNvSpPr>
          <p:nvPr>
            <p:ph type="body" sz="quarter" idx="11"/>
          </p:nvPr>
        </p:nvSpPr>
        <p:spPr/>
        <p:txBody>
          <a:bodyPr vert="horz" lIns="91440" tIns="45720" rIns="91440" bIns="45720" rtlCol="0" anchor="t">
            <a:normAutofit/>
          </a:bodyPr>
          <a:lstStyle/>
          <a:p>
            <a:r>
              <a:rPr lang="en-US" dirty="0"/>
              <a:t>API Gateway Capabilities: Security &amp; Throttling</a:t>
            </a:r>
            <a:endParaRPr lang="en-US" dirty="0">
              <a:ea typeface="+mn-lt"/>
              <a:cs typeface="+mn-lt"/>
            </a:endParaRPr>
          </a:p>
        </p:txBody>
      </p:sp>
    </p:spTree>
    <p:extLst>
      <p:ext uri="{BB962C8B-B14F-4D97-AF65-F5344CB8AC3E}">
        <p14:creationId xmlns:p14="http://schemas.microsoft.com/office/powerpoint/2010/main" val="3128171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0069C43-A6C1-2A5A-FF86-50FF7E8322D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8E7EC62-47A6-0446-A91D-ECD79632D1B7}"/>
              </a:ext>
            </a:extLst>
          </p:cNvPr>
          <p:cNvGrpSpPr/>
          <p:nvPr/>
        </p:nvGrpSpPr>
        <p:grpSpPr>
          <a:xfrm>
            <a:off x="736270" y="394490"/>
            <a:ext cx="8288976" cy="1125532"/>
            <a:chOff x="0" y="-674633"/>
            <a:chExt cx="5580934" cy="1125532"/>
          </a:xfrm>
          <a:noFill/>
        </p:grpSpPr>
        <p:sp>
          <p:nvSpPr>
            <p:cNvPr id="109" name="Google Shape;109;p2">
              <a:extLst>
                <a:ext uri="{FF2B5EF4-FFF2-40B4-BE49-F238E27FC236}">
                  <a16:creationId xmlns:a16="http://schemas.microsoft.com/office/drawing/2014/main" id="{C4C941DB-8239-E100-09AC-A9EFDD1997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bg2"/>
                </a:solidFill>
              </a:endParaRPr>
            </a:p>
          </p:txBody>
        </p:sp>
        <p:sp>
          <p:nvSpPr>
            <p:cNvPr id="110" name="Google Shape;110;p2">
              <a:extLst>
                <a:ext uri="{FF2B5EF4-FFF2-40B4-BE49-F238E27FC236}">
                  <a16:creationId xmlns:a16="http://schemas.microsoft.com/office/drawing/2014/main" id="{76925805-914E-BA70-5D3C-8341ECCFCA44}"/>
                </a:ext>
              </a:extLst>
            </p:cNvPr>
            <p:cNvSpPr txBox="1"/>
            <p:nvPr/>
          </p:nvSpPr>
          <p:spPr>
            <a:xfrm>
              <a:off x="21704" y="-67463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latin typeface="Calibri" panose="020F0502020204030204" pitchFamily="34" charset="0"/>
                  <a:ea typeface="Calibri" panose="020F0502020204030204" pitchFamily="34" charset="0"/>
                  <a:cs typeface="Calibri" panose="020F0502020204030204" pitchFamily="34" charset="0"/>
                  <a:sym typeface="Arial"/>
                </a:rPr>
                <a:t>Summary of the Lecture</a:t>
              </a:r>
            </a:p>
          </p:txBody>
        </p:sp>
      </p:grpSp>
      <p:sp>
        <p:nvSpPr>
          <p:cNvPr id="111" name="Google Shape;111;p2">
            <a:extLst>
              <a:ext uri="{FF2B5EF4-FFF2-40B4-BE49-F238E27FC236}">
                <a16:creationId xmlns:a16="http://schemas.microsoft.com/office/drawing/2014/main" id="{DA8A9E1A-C5D3-C012-9EAF-104944754B4B}"/>
              </a:ext>
            </a:extLst>
          </p:cNvPr>
          <p:cNvSpPr txBox="1">
            <a:spLocks noGrp="1"/>
          </p:cNvSpPr>
          <p:nvPr>
            <p:ph type="body" sz="quarter" idx="10"/>
          </p:nvPr>
        </p:nvSpPr>
        <p:spPr>
          <a:xfrm>
            <a:off x="385500" y="227927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F2DF282-8D00-4EFA-4D08-6B9ABBAA7A52}"/>
              </a:ext>
            </a:extLst>
          </p:cNvPr>
          <p:cNvSpPr txBox="1"/>
          <p:nvPr/>
        </p:nvSpPr>
        <p:spPr>
          <a:xfrm>
            <a:off x="83128" y="1958638"/>
            <a:ext cx="8942119" cy="2554505"/>
          </a:xfrm>
          <a:prstGeom prst="rect">
            <a:avLst/>
          </a:prstGeom>
          <a:noFill/>
          <a:ln>
            <a:noFill/>
          </a:ln>
        </p:spPr>
        <p:txBody>
          <a:bodyPr spcFirstLastPara="1" wrap="square" lIns="91425" tIns="45700" rIns="91425" bIns="45700" anchor="t" anchorCtr="0">
            <a:spAutoFit/>
          </a:bodyPr>
          <a:lstStyle/>
          <a:p>
            <a:pPr marL="285750" indent="-285750" algn="just">
              <a:buFont typeface="Arial"/>
              <a:buChar char="•"/>
            </a:pPr>
            <a:r>
              <a:rPr lang="en-US" sz="2000" b="1" dirty="0">
                <a:ea typeface="Calibri"/>
                <a:cs typeface="Calibri"/>
              </a:rPr>
              <a:t>Dynamic Environments: </a:t>
            </a:r>
            <a:r>
              <a:rPr lang="en-US" sz="2000" dirty="0">
                <a:ea typeface="Calibri"/>
                <a:cs typeface="Calibri"/>
              </a:rPr>
              <a:t>Service registries enable dynamic discovery, which fundamentally removes hard-coded dependencies and supports scalability.</a:t>
            </a:r>
          </a:p>
          <a:p>
            <a:pPr marL="285750" indent="-285750" algn="just">
              <a:buFont typeface="Arial"/>
              <a:buChar char="•"/>
            </a:pPr>
            <a:r>
              <a:rPr lang="en-US" sz="2000" b="1" dirty="0">
                <a:ea typeface="Calibri"/>
                <a:cs typeface="Calibri"/>
              </a:rPr>
              <a:t>Discovery Trade-offs: </a:t>
            </a:r>
            <a:r>
              <a:rPr lang="en-US" sz="2000" dirty="0">
                <a:ea typeface="Calibri"/>
                <a:cs typeface="Calibri"/>
              </a:rPr>
              <a:t>Client-side and server-side discovery offer distinct architectural trade-offs regarding complexity and flexibility.</a:t>
            </a:r>
          </a:p>
          <a:p>
            <a:pPr marL="285750" indent="-285750" algn="just">
              <a:buFont typeface="Arial"/>
              <a:buChar char="•"/>
            </a:pPr>
            <a:r>
              <a:rPr lang="en-US" sz="2000" b="1" dirty="0">
                <a:ea typeface="Calibri"/>
                <a:cs typeface="Calibri"/>
              </a:rPr>
              <a:t>Centralized Access: </a:t>
            </a:r>
            <a:r>
              <a:rPr lang="en-US" sz="2000" dirty="0">
                <a:ea typeface="Calibri"/>
                <a:cs typeface="Calibri"/>
              </a:rPr>
              <a:t>The API Gateway centralizes access, utilizing advanced routing to simplify client interaction.</a:t>
            </a:r>
          </a:p>
          <a:p>
            <a:pPr marL="285750" indent="-285750" algn="just">
              <a:buFont typeface="Arial"/>
              <a:buChar char="•"/>
            </a:pPr>
            <a:r>
              <a:rPr lang="en-US" sz="2000" b="1" dirty="0">
                <a:ea typeface="Calibri"/>
                <a:cs typeface="Calibri"/>
              </a:rPr>
              <a:t>System Reliability: </a:t>
            </a:r>
            <a:r>
              <a:rPr lang="en-US" sz="2000" dirty="0">
                <a:ea typeface="Calibri"/>
                <a:cs typeface="Calibri"/>
              </a:rPr>
              <a:t>Implementing security and throttling at the gateway protects internal services, making these patterns essential for scalable microservices.</a:t>
            </a:r>
          </a:p>
        </p:txBody>
      </p:sp>
      <p:sp>
        <p:nvSpPr>
          <p:cNvPr id="7" name="TextBox 6"/>
          <p:cNvSpPr txBox="1"/>
          <p:nvPr/>
        </p:nvSpPr>
        <p:spPr>
          <a:xfrm>
            <a:off x="8609524" y="943238"/>
            <a:ext cx="284052" cy="30777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400" dirty="0"/>
              <a:t>6</a:t>
            </a:r>
          </a:p>
        </p:txBody>
      </p:sp>
    </p:spTree>
    <p:extLst>
      <p:ext uri="{BB962C8B-B14F-4D97-AF65-F5344CB8AC3E}">
        <p14:creationId xmlns:p14="http://schemas.microsoft.com/office/powerpoint/2010/main" val="1833566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15862" y="814380"/>
            <a:ext cx="8277101" cy="685761"/>
            <a:chOff x="0" y="6299"/>
            <a:chExt cx="5580934" cy="685761"/>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290868"/>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2400" b="1" dirty="0">
                  <a:latin typeface="Calibri"/>
                  <a:ea typeface="Calibri"/>
                  <a:cs typeface="Calibri"/>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sz="quarter" idx="10"/>
          </p:nvPr>
        </p:nvSpPr>
        <p:spPr>
          <a:xfrm>
            <a:off x="374989" y="2142494"/>
            <a:ext cx="8001000" cy="2914800"/>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pPr>
            <a:r>
              <a:rPr lang="en-US" sz="2400" dirty="0">
                <a:solidFill>
                  <a:schemeClr val="bg2"/>
                </a:solidFill>
                <a:latin typeface="Times New Roman"/>
                <a:ea typeface="Times New Roman"/>
                <a:cs typeface="Times New Roman"/>
                <a:sym typeface="Times New Roman"/>
              </a:rPr>
              <a:t> </a:t>
            </a:r>
            <a:endParaRPr sz="2400" b="1" dirty="0">
              <a:solidFill>
                <a:schemeClr val="bg2"/>
              </a:solidFill>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pPr>
            <a:r>
              <a:rPr lang="en-US" sz="2400" dirty="0">
                <a:solidFill>
                  <a:schemeClr val="bg2"/>
                </a:solidFill>
                <a:latin typeface="Times New Roman"/>
                <a:ea typeface="Times New Roman"/>
                <a:cs typeface="Times New Roman"/>
                <a:sym typeface="Times New Roman"/>
              </a:rPr>
              <a:t> </a:t>
            </a:r>
            <a:endParaRPr sz="2400"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59C2B9C-619B-7F1D-73C8-04AA5F67C4ED}"/>
              </a:ext>
            </a:extLst>
          </p:cNvPr>
          <p:cNvSpPr txBox="1"/>
          <p:nvPr/>
        </p:nvSpPr>
        <p:spPr>
          <a:xfrm>
            <a:off x="27674" y="2134530"/>
            <a:ext cx="8965288" cy="1794297"/>
          </a:xfrm>
          <a:prstGeom prst="rect">
            <a:avLst/>
          </a:prstGeom>
          <a:noFill/>
          <a:ln>
            <a:noFill/>
          </a:ln>
        </p:spPr>
        <p:txBody>
          <a:bodyPr spcFirstLastPara="1" wrap="square" lIns="91425" tIns="45700" rIns="91425" bIns="45700" anchor="t" anchorCtr="0">
            <a:spAutoFit/>
          </a:bodyPr>
          <a:lstStyle/>
          <a:p>
            <a:pPr marL="457200" indent="-457200" algn="just">
              <a:buFont typeface="Arial"/>
              <a:buChar char="•"/>
            </a:pPr>
            <a:r>
              <a:rPr lang="en-US" sz="1400" dirty="0">
                <a:ea typeface="+mn-lt"/>
                <a:cs typeface="+mn-lt"/>
                <a:sym typeface="Arial"/>
              </a:rPr>
              <a:t>Cloud Computing: </a:t>
            </a:r>
            <a:r>
              <a:rPr lang="en-US" sz="1400" dirty="0">
                <a:ea typeface="+mn-lt"/>
                <a:cs typeface="+mn-lt"/>
                <a:sym typeface="Arial"/>
                <a:hlinkClick r:id="rId3">
                  <a:extLst>
                    <a:ext uri="{A12FA001-AC4F-418D-AE19-62706E023703}">
                      <ahyp:hlinkClr xmlns:ahyp="http://schemas.microsoft.com/office/drawing/2018/hyperlinkcolor" val="tx"/>
                    </a:ext>
                  </a:extLst>
                </a:hlinkClick>
              </a:rPr>
              <a:t>https://onlinecourses.nptel.ac.in/noc21_cs14/preview</a:t>
            </a:r>
            <a:endParaRPr lang="en-US" sz="1400" dirty="0">
              <a:ea typeface="Calibri"/>
              <a:cs typeface="Calibri"/>
              <a:hlinkClick r:id="" action="ppaction://noaction">
                <a:extLst>
                  <a:ext uri="{A12FA001-AC4F-418D-AE19-62706E023703}">
                    <ahyp:hlinkClr xmlns:ahyp="http://schemas.microsoft.com/office/drawing/2018/hyperlinkcolor" val="tx"/>
                  </a:ext>
                </a:extLst>
              </a:hlinkClick>
            </a:endParaRPr>
          </a:p>
          <a:p>
            <a:pPr marL="285750" indent="-285750" algn="just">
              <a:buFont typeface="Arial"/>
              <a:buChar char="•"/>
            </a:pPr>
            <a:endParaRPr lang="en-US" sz="1400" dirty="0">
              <a:ea typeface="Calibri"/>
              <a:cs typeface="Calibri"/>
            </a:endParaRPr>
          </a:p>
          <a:p>
            <a:pPr marL="457200" indent="-457200" algn="just">
              <a:buFont typeface="Arial"/>
              <a:buChar char="•"/>
            </a:pPr>
            <a:r>
              <a:rPr lang="en-US" sz="1400" dirty="0">
                <a:ea typeface="+mn-lt"/>
                <a:cs typeface="+mn-lt"/>
                <a:sym typeface="Arial"/>
              </a:rPr>
              <a:t>Cloud Computing: </a:t>
            </a:r>
            <a:r>
              <a:rPr lang="en-US" sz="1400" dirty="0">
                <a:ea typeface="+mn-lt"/>
                <a:cs typeface="+mn-lt"/>
                <a:sym typeface="Arial"/>
                <a:hlinkClick r:id="rId4">
                  <a:extLst>
                    <a:ext uri="{A12FA001-AC4F-418D-AE19-62706E023703}">
                      <ahyp:hlinkClr xmlns:ahyp="http://schemas.microsoft.com/office/drawing/2018/hyperlinkcolor" val="tx"/>
                    </a:ext>
                  </a:extLst>
                </a:hlinkClick>
              </a:rPr>
              <a:t>https://onlinecourses.nptel.ac.in/noc26_cs55/preview</a:t>
            </a:r>
            <a:endParaRPr lang="en-US" sz="1400" dirty="0">
              <a:ea typeface="Calibri" panose="020F0502020204030204"/>
              <a:cs typeface="Calibri" panose="020F0502020204030204"/>
              <a:hlinkClick r:id="" action="ppaction://noaction">
                <a:extLst>
                  <a:ext uri="{A12FA001-AC4F-418D-AE19-62706E023703}">
                    <ahyp:hlinkClr xmlns:ahyp="http://schemas.microsoft.com/office/drawing/2018/hyperlinkcolor" val="tx"/>
                  </a:ext>
                </a:extLst>
              </a:hlinkClick>
            </a:endParaRPr>
          </a:p>
          <a:p>
            <a:pPr marL="285750" indent="-285750" algn="just">
              <a:buFont typeface="Arial"/>
              <a:buChar char="•"/>
            </a:pPr>
            <a:endParaRPr lang="en-US" sz="1400" dirty="0">
              <a:ea typeface="Calibri"/>
              <a:cs typeface="Calibri"/>
            </a:endParaRPr>
          </a:p>
          <a:p>
            <a:pPr marL="457200" indent="-457200" algn="just">
              <a:buFont typeface="Arial"/>
              <a:buChar char="•"/>
            </a:pPr>
            <a:r>
              <a:rPr lang="en-US" sz="1400" dirty="0">
                <a:ea typeface="+mn-lt"/>
                <a:cs typeface="+mn-lt"/>
                <a:sym typeface="Arial"/>
              </a:rPr>
              <a:t>Google Cloud Computing Foundations: </a:t>
            </a:r>
            <a:r>
              <a:rPr lang="en-US" sz="1400" dirty="0">
                <a:ea typeface="+mn-lt"/>
                <a:cs typeface="+mn-lt"/>
                <a:sym typeface="Arial"/>
                <a:hlinkClick r:id="rId5">
                  <a:extLst>
                    <a:ext uri="{A12FA001-AC4F-418D-AE19-62706E023703}">
                      <ahyp:hlinkClr xmlns:ahyp="http://schemas.microsoft.com/office/drawing/2018/hyperlinkcolor" val="tx"/>
                    </a:ext>
                  </a:extLst>
                </a:hlinkClick>
              </a:rPr>
              <a:t>https://onlinecourses.nptel.ac.in/noc20_cs55/preview</a:t>
            </a:r>
            <a:endParaRPr lang="en-US" sz="1400" dirty="0">
              <a:ea typeface="Calibri" panose="020F0502020204030204"/>
              <a:cs typeface="Calibri" panose="020F0502020204030204"/>
              <a:hlinkClick r:id="" action="ppaction://noaction">
                <a:extLst>
                  <a:ext uri="{A12FA001-AC4F-418D-AE19-62706E023703}">
                    <ahyp:hlinkClr xmlns:ahyp="http://schemas.microsoft.com/office/drawing/2018/hyperlinkcolor" val="tx"/>
                  </a:ext>
                </a:extLst>
              </a:hlinkClick>
            </a:endParaRPr>
          </a:p>
          <a:p>
            <a:pPr marL="285750" indent="-285750" algn="just">
              <a:buFont typeface="Arial"/>
              <a:buChar char="•"/>
            </a:pPr>
            <a:endParaRPr lang="en-US" sz="1400" dirty="0">
              <a:ea typeface="Calibri"/>
              <a:cs typeface="Calibri"/>
            </a:endParaRPr>
          </a:p>
          <a:p>
            <a:pPr marL="457200" indent="-457200" algn="just">
              <a:buFont typeface="Arial"/>
              <a:buChar char="•"/>
            </a:pPr>
            <a:r>
              <a:rPr lang="en-US" sz="1400" dirty="0">
                <a:ea typeface="+mn-lt"/>
                <a:cs typeface="+mn-lt"/>
              </a:rPr>
              <a:t>Google Cloud Computing Foundations: </a:t>
            </a:r>
            <a:r>
              <a:rPr lang="en-US" sz="1400" dirty="0">
                <a:ea typeface="+mn-lt"/>
                <a:cs typeface="+mn-lt"/>
                <a:hlinkClick r:id="rId6">
                  <a:extLst>
                    <a:ext uri="{A12FA001-AC4F-418D-AE19-62706E023703}">
                      <ahyp:hlinkClr xmlns:ahyp="http://schemas.microsoft.com/office/drawing/2018/hyperlinkcolor" val="tx"/>
                    </a:ext>
                  </a:extLst>
                </a:hlinkClick>
              </a:rPr>
              <a:t>https://onlinecourses.nptel.ac.in/noc24_cs131/preview</a:t>
            </a:r>
            <a:endParaRPr lang="en-US" sz="1400" dirty="0">
              <a:ea typeface="Calibri"/>
              <a:cs typeface="Calibri"/>
            </a:endParaRPr>
          </a:p>
          <a:p>
            <a:pPr marL="457200" indent="-457200" algn="just">
              <a:lnSpc>
                <a:spcPct val="90000"/>
              </a:lnSpc>
              <a:buFont typeface="Arial"/>
              <a:buChar char="•"/>
            </a:pP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8609524" y="943238"/>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Tree>
    <p:extLst>
      <p:ext uri="{BB962C8B-B14F-4D97-AF65-F5344CB8AC3E}">
        <p14:creationId xmlns:p14="http://schemas.microsoft.com/office/powerpoint/2010/main" val="3645693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0218A6-9BF1-9083-EB88-7F511EEA18C0}"/>
              </a:ext>
            </a:extLst>
          </p:cNvPr>
          <p:cNvGrpSpPr/>
          <p:nvPr/>
        </p:nvGrpSpPr>
        <p:grpSpPr>
          <a:xfrm>
            <a:off x="736270" y="1075422"/>
            <a:ext cx="8288976" cy="444600"/>
            <a:chOff x="0" y="6299"/>
            <a:chExt cx="5580934" cy="444600"/>
          </a:xfrm>
          <a:noFill/>
        </p:grpSpPr>
        <p:sp>
          <p:nvSpPr>
            <p:cNvPr id="109" name="Google Shape;109;p2">
              <a:extLst>
                <a:ext uri="{FF2B5EF4-FFF2-40B4-BE49-F238E27FC236}">
                  <a16:creationId xmlns:a16="http://schemas.microsoft.com/office/drawing/2014/main"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bg2"/>
                </a:solidFill>
              </a:endParaRPr>
            </a:p>
          </p:txBody>
        </p:sp>
        <p:sp>
          <p:nvSpPr>
            <p:cNvPr id="110" name="Google Shape;110;p2">
              <a:extLst>
                <a:ext uri="{FF2B5EF4-FFF2-40B4-BE49-F238E27FC236}">
                  <a16:creationId xmlns:a16="http://schemas.microsoft.com/office/drawing/2014/main" id="{37989E15-3DCD-C8F4-3603-7387C0C582C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latin typeface="Calibri" panose="020F0502020204030204" pitchFamily="34" charset="0"/>
                  <a:ea typeface="Calibri" panose="020F0502020204030204" pitchFamily="34" charset="0"/>
                  <a:cs typeface="Calibri" panose="020F0502020204030204" pitchFamily="34" charset="0"/>
                  <a:sym typeface="Arial"/>
                </a:rPr>
                <a:t>Next Lecture</a:t>
              </a:r>
            </a:p>
          </p:txBody>
        </p:sp>
      </p:gr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sz="quarter" idx="10"/>
          </p:nvPr>
        </p:nvSpPr>
        <p:spPr>
          <a:xfrm>
            <a:off x="385500" y="227927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EC51C08-00CA-303F-88CF-6761C177812F}"/>
              </a:ext>
            </a:extLst>
          </p:cNvPr>
          <p:cNvSpPr txBox="1"/>
          <p:nvPr/>
        </p:nvSpPr>
        <p:spPr>
          <a:xfrm>
            <a:off x="83128" y="1958637"/>
            <a:ext cx="8942119" cy="1255688"/>
          </a:xfrm>
          <a:prstGeom prst="rect">
            <a:avLst/>
          </a:prstGeom>
          <a:noFill/>
          <a:ln>
            <a:noFill/>
          </a:ln>
        </p:spPr>
        <p:txBody>
          <a:bodyPr spcFirstLastPara="1" wrap="square" lIns="91425" tIns="45700" rIns="91425" bIns="45700" anchor="t" anchorCtr="0">
            <a:spAutoFit/>
          </a:bodyPr>
          <a:lstStyle/>
          <a:p>
            <a:pPr algn="just">
              <a:lnSpc>
                <a:spcPct val="90000"/>
              </a:lnSpc>
            </a:pPr>
            <a:r>
              <a:rPr lang="en-US" sz="2800" dirty="0">
                <a:ea typeface="+mn-lt"/>
                <a:cs typeface="+mn-lt"/>
              </a:rPr>
              <a:t>Introduction to serverless (</a:t>
            </a:r>
            <a:r>
              <a:rPr lang="en-US" sz="2800" dirty="0" err="1">
                <a:ea typeface="+mn-lt"/>
                <a:cs typeface="+mn-lt"/>
              </a:rPr>
              <a:t>FaaS</a:t>
            </a:r>
            <a:r>
              <a:rPr lang="en-US" sz="2800" dirty="0">
                <a:ea typeface="+mn-lt"/>
                <a:cs typeface="+mn-lt"/>
              </a:rPr>
              <a:t>), benefits (no ops, cost efficiency), limitations </a:t>
            </a:r>
            <a:r>
              <a:rPr lang="en-US" sz="2800" i="0" u="none" strike="noStrike" cap="none" dirty="0">
                <a:ea typeface="+mn-lt"/>
                <a:cs typeface="+mn-lt"/>
                <a:sym typeface="Arial"/>
              </a:rPr>
              <a:t>(</a:t>
            </a:r>
            <a:r>
              <a:rPr lang="en-US" sz="2800" dirty="0">
                <a:ea typeface="+mn-lt"/>
                <a:cs typeface="+mn-lt"/>
                <a:sym typeface="Arial"/>
              </a:rPr>
              <a:t>cold starts, execution limits), use cases</a:t>
            </a:r>
            <a:endParaRPr lang="en-US" sz="1800" dirty="0"/>
          </a:p>
        </p:txBody>
      </p:sp>
      <p:sp>
        <p:nvSpPr>
          <p:cNvPr id="7" name="TextBox 6"/>
          <p:cNvSpPr txBox="1"/>
          <p:nvPr/>
        </p:nvSpPr>
        <p:spPr>
          <a:xfrm>
            <a:off x="8609524" y="943238"/>
            <a:ext cx="284052" cy="30777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400" dirty="0"/>
              <a:t>7</a:t>
            </a:r>
          </a:p>
        </p:txBody>
      </p:sp>
    </p:spTree>
    <p:extLst>
      <p:ext uri="{BB962C8B-B14F-4D97-AF65-F5344CB8AC3E}">
        <p14:creationId xmlns:p14="http://schemas.microsoft.com/office/powerpoint/2010/main" val="1412672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9" y="107542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sz="quarter" idx="10"/>
          </p:nvPr>
        </p:nvSpPr>
        <p:spPr>
          <a:xfrm>
            <a:off x="366646" y="2062459"/>
            <a:ext cx="8001000" cy="2914800"/>
          </a:xfrm>
          <a:prstGeom prst="rect">
            <a:avLst/>
          </a:prstGeom>
          <a:noFill/>
          <a:ln>
            <a:noFill/>
          </a:ln>
        </p:spPr>
        <p:txBody>
          <a:bodyPr spcFirstLastPara="1" wrap="square" lIns="91425" tIns="45700" rIns="91425" bIns="45700" anchor="t" anchorCtr="0">
            <a:normAutofit/>
          </a:bodyPr>
          <a:lstStyle/>
          <a:p>
            <a:pPr>
              <a:buNone/>
            </a:pPr>
            <a:r>
              <a:rPr lang="en-US" dirty="0">
                <a:ea typeface="+mn-lt"/>
                <a:cs typeface="+mn-lt"/>
                <a:sym typeface="Times New Roman"/>
              </a:rPr>
              <a:t>1. What is a service registry in microservices?</a:t>
            </a:r>
            <a:endParaRPr lang="en-US" dirty="0">
              <a:ea typeface="+mn-lt"/>
              <a:cs typeface="+mn-lt"/>
            </a:endParaRPr>
          </a:p>
          <a:p>
            <a:pPr>
              <a:buNone/>
            </a:pPr>
            <a:r>
              <a:rPr lang="en-US" dirty="0">
                <a:ea typeface="+mn-lt"/>
                <a:cs typeface="+mn-lt"/>
                <a:sym typeface="Times New Roman"/>
              </a:rPr>
              <a:t>2. What is the difference between client-side and server-side service discovery?</a:t>
            </a:r>
            <a:endParaRPr lang="en-US" dirty="0">
              <a:ea typeface="+mn-lt"/>
              <a:cs typeface="+mn-lt"/>
            </a:endParaRPr>
          </a:p>
          <a:p>
            <a:pPr>
              <a:buNone/>
            </a:pPr>
            <a:r>
              <a:rPr lang="en-US" dirty="0">
                <a:ea typeface="+mn-lt"/>
                <a:cs typeface="+mn-lt"/>
                <a:sym typeface="Times New Roman"/>
              </a:rPr>
              <a:t>3. Why is service discovery important in microservices?</a:t>
            </a:r>
            <a:endParaRPr lang="en-US" dirty="0">
              <a:ea typeface="+mn-lt"/>
              <a:cs typeface="+mn-lt"/>
            </a:endParaRPr>
          </a:p>
          <a:p>
            <a:pPr>
              <a:buNone/>
            </a:pPr>
            <a:r>
              <a:rPr lang="en-US" dirty="0">
                <a:ea typeface="+mn-lt"/>
                <a:cs typeface="+mn-lt"/>
                <a:sym typeface="Times New Roman"/>
              </a:rPr>
              <a:t>4. What is the main role of an API Gateway?</a:t>
            </a:r>
            <a:endParaRPr lang="en-US" dirty="0">
              <a:ea typeface="+mn-lt"/>
              <a:cs typeface="+mn-lt"/>
            </a:endParaRPr>
          </a:p>
          <a:p>
            <a:pPr>
              <a:buNone/>
            </a:pPr>
            <a:r>
              <a:rPr lang="en-US" dirty="0">
                <a:ea typeface="+mn-lt"/>
                <a:cs typeface="+mn-lt"/>
                <a:sym typeface="Times New Roman"/>
              </a:rPr>
              <a:t>5. Why is throttling implemented at the API Gateway?</a:t>
            </a:r>
            <a:endParaRPr lang="en-US" dirty="0">
              <a:ea typeface="+mn-lt"/>
              <a:cs typeface="+mn-lt"/>
            </a:endParaRPr>
          </a:p>
        </p:txBody>
      </p:sp>
      <p:sp>
        <p:nvSpPr>
          <p:cNvPr id="6" name="TextBox 5"/>
          <p:cNvSpPr txBox="1"/>
          <p:nvPr/>
        </p:nvSpPr>
        <p:spPr>
          <a:xfrm>
            <a:off x="8609524" y="943238"/>
            <a:ext cx="284052" cy="30777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400" dirty="0"/>
              <a:t>8</a:t>
            </a:r>
          </a:p>
        </p:txBody>
      </p:sp>
    </p:spTree>
    <p:extLst>
      <p:ext uri="{BB962C8B-B14F-4D97-AF65-F5344CB8AC3E}">
        <p14:creationId xmlns:p14="http://schemas.microsoft.com/office/powerpoint/2010/main" val="4266921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5" y="107542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latin typeface="Calibri" panose="020F0502020204030204" pitchFamily="34" charset="0"/>
                  <a:ea typeface="Calibri" panose="020F0502020204030204" pitchFamily="34" charset="0"/>
                  <a:cs typeface="Calibri" panose="020F0502020204030204" pitchFamily="34" charset="0"/>
                </a:rPr>
                <a:t>R</a:t>
              </a:r>
              <a:r>
                <a:rPr lang="en-US" sz="4000" b="1" i="0" u="none" strike="noStrike" cap="none" dirty="0">
                  <a:latin typeface="Calibri" panose="020F0502020204030204" pitchFamily="34" charset="0"/>
                  <a:ea typeface="Calibri" panose="020F0502020204030204" pitchFamily="34" charset="0"/>
                  <a:cs typeface="Calibri" panose="020F0502020204030204" pitchFamily="34" charset="0"/>
                  <a:sym typeface="Arial"/>
                </a:rPr>
                <a:t>eferences/ Articles/ Videos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sz="quarter" idx="10"/>
          </p:nvPr>
        </p:nvSpPr>
        <p:spPr>
          <a:xfrm>
            <a:off x="385500" y="227927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83128" y="1958637"/>
            <a:ext cx="8942119" cy="2831504"/>
          </a:xfrm>
          <a:prstGeom prst="rect">
            <a:avLst/>
          </a:prstGeom>
          <a:noFill/>
          <a:ln>
            <a:noFill/>
          </a:ln>
        </p:spPr>
        <p:txBody>
          <a:bodyPr spcFirstLastPara="1" wrap="square" lIns="91425" tIns="45700" rIns="91425" bIns="45700" anchor="t" anchorCtr="0">
            <a:spAutoFit/>
          </a:bodyPr>
          <a:lstStyle/>
          <a:p>
            <a:pPr marL="285750" indent="-285750">
              <a:buFont typeface="Arial"/>
              <a:buChar char="•"/>
            </a:pPr>
            <a:r>
              <a:rPr lang="en-US" sz="2000" b="1" dirty="0">
                <a:ea typeface="+mn-lt"/>
                <a:cs typeface="+mn-lt"/>
                <a:sym typeface="Arial"/>
              </a:rPr>
              <a:t>Martin Fowler – Service Registry and Discovery</a:t>
            </a:r>
            <a:br>
              <a:rPr lang="en-US" sz="2000" b="1" dirty="0">
                <a:ea typeface="+mn-lt"/>
                <a:cs typeface="+mn-lt"/>
              </a:rPr>
            </a:br>
            <a:r>
              <a:rPr lang="en-US" sz="2000" b="1" dirty="0">
                <a:ea typeface="+mn-lt"/>
                <a:cs typeface="+mn-lt"/>
                <a:sym typeface="Arial"/>
              </a:rPr>
              <a:t> </a:t>
            </a:r>
            <a:r>
              <a:rPr lang="en-US" sz="2000" dirty="0">
                <a:ea typeface="+mn-lt"/>
                <a:cs typeface="+mn-lt"/>
                <a:sym typeface="Arial"/>
                <a:hlinkClick r:id="rId3"/>
              </a:rPr>
              <a:t>https://martinfowler.com/articles/microservices.html</a:t>
            </a:r>
            <a:endParaRPr lang="en-US" sz="1400">
              <a:ea typeface="Calibri"/>
              <a:cs typeface="Calibri"/>
            </a:endParaRPr>
          </a:p>
          <a:p>
            <a:pPr marL="285750" indent="-285750">
              <a:buFont typeface="Arial"/>
              <a:buChar char="•"/>
            </a:pPr>
            <a:r>
              <a:rPr lang="en-US" sz="2000" b="1" dirty="0">
                <a:ea typeface="+mn-lt"/>
                <a:cs typeface="+mn-lt"/>
                <a:sym typeface="Arial"/>
              </a:rPr>
              <a:t>Microsoft – API Gateway Pattern</a:t>
            </a:r>
            <a:br>
              <a:rPr lang="en-US" sz="2000" b="1" dirty="0">
                <a:ea typeface="+mn-lt"/>
                <a:cs typeface="+mn-lt"/>
              </a:rPr>
            </a:br>
            <a:r>
              <a:rPr lang="en-US" sz="2000" b="1" dirty="0">
                <a:ea typeface="+mn-lt"/>
                <a:cs typeface="+mn-lt"/>
                <a:sym typeface="Arial"/>
              </a:rPr>
              <a:t> </a:t>
            </a:r>
            <a:r>
              <a:rPr lang="en-US" sz="2000" dirty="0">
                <a:ea typeface="+mn-lt"/>
                <a:cs typeface="+mn-lt"/>
                <a:sym typeface="Arial"/>
                <a:hlinkClick r:id="rId4"/>
              </a:rPr>
              <a:t>https://learn.microsoft</a:t>
            </a:r>
            <a:r>
              <a:rPr lang="en-US" sz="2000" dirty="0">
                <a:ea typeface="+mn-lt"/>
                <a:cs typeface="+mn-lt"/>
                <a:hlinkClick r:id="rId4"/>
              </a:rPr>
              <a:t>.com/en-us/azure/architecture/patterns/api-gateway</a:t>
            </a:r>
            <a:endParaRPr lang="en-US" sz="1400">
              <a:ea typeface="Calibri"/>
              <a:cs typeface="Calibri"/>
            </a:endParaRPr>
          </a:p>
          <a:p>
            <a:pPr marL="285750" indent="-285750">
              <a:buFont typeface="Arial"/>
              <a:buChar char="•"/>
            </a:pPr>
            <a:r>
              <a:rPr lang="en-US" sz="2000" b="1" dirty="0">
                <a:ea typeface="+mn-lt"/>
                <a:cs typeface="+mn-lt"/>
                <a:sym typeface="Arial"/>
              </a:rPr>
              <a:t>AWS – Service Discovery Overview</a:t>
            </a:r>
            <a:br>
              <a:rPr lang="en-US" sz="2000" b="1" dirty="0">
                <a:ea typeface="+mn-lt"/>
                <a:cs typeface="+mn-lt"/>
              </a:rPr>
            </a:br>
            <a:r>
              <a:rPr lang="en-US" sz="2000" b="1" dirty="0">
                <a:ea typeface="+mn-lt"/>
                <a:cs typeface="+mn-lt"/>
                <a:sym typeface="Arial"/>
              </a:rPr>
              <a:t> </a:t>
            </a:r>
            <a:r>
              <a:rPr lang="en-US" sz="2000" dirty="0">
                <a:ea typeface="+mn-lt"/>
                <a:cs typeface="+mn-lt"/>
                <a:sym typeface="Arial"/>
                <a:hlinkClick r:id="rId5">
                  <a:extLst>
                    <a:ext uri="{A12FA001-AC4F-418D-AE19-62706E023703}">
                      <ahyp:hlinkClr xmlns:ahyp="http://schemas.microsoft.com/office/drawing/2018/hyperlinkcolor" val="tx"/>
                    </a:ext>
                  </a:extLst>
                </a:hlinkClick>
              </a:rPr>
              <a:t>https://docs.aws.amazon.com/cloud-map/latest/dg/what-is-cloud-map</a:t>
            </a:r>
            <a:r>
              <a:rPr lang="en-US" sz="2000" b="0" i="0" u="none" strike="noStrike" cap="none" dirty="0">
                <a:ea typeface="+mn-lt"/>
                <a:cs typeface="+mn-lt"/>
                <a:sym typeface="Arial"/>
                <a:hlinkClick r:id="rId5">
                  <a:extLst>
                    <a:ext uri="{A12FA001-AC4F-418D-AE19-62706E023703}">
                      <ahyp:hlinkClr xmlns:ahyp="http://schemas.microsoft.com/office/drawing/2018/hyperlinkcolor" val="tx"/>
                    </a:ext>
                  </a:extLst>
                </a:hlinkClick>
              </a:rPr>
              <a:t>.</a:t>
            </a:r>
            <a:r>
              <a:rPr lang="en-US" sz="2000" dirty="0">
                <a:ea typeface="+mn-lt"/>
                <a:cs typeface="+mn-lt"/>
                <a:sym typeface="Arial"/>
                <a:hlinkClick r:id="rId5">
                  <a:extLst>
                    <a:ext uri="{A12FA001-AC4F-418D-AE19-62706E023703}">
                      <ahyp:hlinkClr xmlns:ahyp="http://schemas.microsoft.com/office/drawing/2018/hyperlinkcolor" val="tx"/>
                    </a:ext>
                  </a:extLst>
                </a:hlinkClick>
              </a:rPr>
              <a:t>html</a:t>
            </a:r>
            <a:endParaRPr lang="en-US" sz="1400">
              <a:ea typeface="Calibri"/>
              <a:cs typeface="Calibri"/>
              <a:hlinkClick r:id="rId5">
                <a:extLst>
                  <a:ext uri="{A12FA001-AC4F-418D-AE19-62706E023703}">
                    <ahyp:hlinkClr xmlns:ahyp="http://schemas.microsoft.com/office/drawing/2018/hyperlinkcolor" val="tx"/>
                  </a:ext>
                </a:extLst>
              </a:hlinkClick>
            </a:endParaRPr>
          </a:p>
          <a:p>
            <a:pPr marL="285750" indent="-285750">
              <a:buFont typeface="Arial"/>
              <a:buChar char="•"/>
            </a:pPr>
            <a:r>
              <a:rPr lang="en-US" sz="2000" b="1" dirty="0">
                <a:ea typeface="+mn-lt"/>
                <a:cs typeface="+mn-lt"/>
                <a:sym typeface="Arial"/>
              </a:rPr>
              <a:t>Red Hat – API Gateway in Microservices</a:t>
            </a:r>
            <a:br>
              <a:rPr lang="en-US" sz="2000" b="1" dirty="0">
                <a:ea typeface="+mn-lt"/>
                <a:cs typeface="+mn-lt"/>
              </a:rPr>
            </a:br>
            <a:r>
              <a:rPr lang="en-US" sz="2000" b="1" dirty="0">
                <a:ea typeface="+mn-lt"/>
                <a:cs typeface="+mn-lt"/>
                <a:sym typeface="Arial"/>
              </a:rPr>
              <a:t> </a:t>
            </a:r>
            <a:r>
              <a:rPr lang="en-US" sz="2000" dirty="0">
                <a:ea typeface="+mn-lt"/>
                <a:cs typeface="+mn-lt"/>
                <a:sym typeface="Arial"/>
                <a:hlinkClick r:id="rId6"/>
              </a:rPr>
              <a:t>https://www.redhat.com/en/topics/microservices/what-is-an-api-gateway</a:t>
            </a:r>
            <a:endParaRPr lang="en-US" sz="1400">
              <a:ea typeface="Calibri"/>
              <a:cs typeface="Calibri"/>
            </a:endParaRPr>
          </a:p>
          <a:p>
            <a:pPr marL="0" marR="0" lvl="0" indent="0">
              <a:lnSpc>
                <a:spcPct val="90000"/>
              </a:lnSpc>
              <a:spcBef>
                <a:spcPts val="0"/>
              </a:spcBef>
              <a:spcAft>
                <a:spcPts val="0"/>
              </a:spcAft>
              <a:buNone/>
            </a:pPr>
            <a:endParaRPr lang="en-US" sz="2000" b="0" i="0" u="none" strike="noStrike" cap="none"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8609524" y="943238"/>
            <a:ext cx="284052" cy="30777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400" dirty="0"/>
              <a:t>9</a:t>
            </a:r>
          </a:p>
        </p:txBody>
      </p:sp>
    </p:spTree>
    <p:extLst>
      <p:ext uri="{BB962C8B-B14F-4D97-AF65-F5344CB8AC3E}">
        <p14:creationId xmlns:p14="http://schemas.microsoft.com/office/powerpoint/2010/main" val="170161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9" y="107542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6" name="TextBox 5"/>
          <p:cNvSpPr txBox="1"/>
          <p:nvPr/>
        </p:nvSpPr>
        <p:spPr>
          <a:xfrm>
            <a:off x="8609524" y="943238"/>
            <a:ext cx="383438" cy="30777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400" dirty="0"/>
              <a:t>11</a:t>
            </a:r>
          </a:p>
        </p:txBody>
      </p:sp>
      <p:pic>
        <p:nvPicPr>
          <p:cNvPr id="5" name="Picture 4">
            <a:extLst>
              <a:ext uri="{FF2B5EF4-FFF2-40B4-BE49-F238E27FC236}">
                <a16:creationId xmlns:a16="http://schemas.microsoft.com/office/drawing/2014/main" id="{FE6AF3EB-4640-211E-3594-A86D4F88D988}"/>
              </a:ext>
            </a:extLst>
          </p:cNvPr>
          <p:cNvPicPr>
            <a:picLocks noChangeAspect="1"/>
          </p:cNvPicPr>
          <p:nvPr/>
        </p:nvPicPr>
        <p:blipFill>
          <a:blip r:embed="rId3"/>
          <a:stretch>
            <a:fillRect/>
          </a:stretch>
        </p:blipFill>
        <p:spPr>
          <a:xfrm>
            <a:off x="2632472" y="1541726"/>
            <a:ext cx="3879056" cy="3879056"/>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sz="quarter" idx="10"/>
          </p:nvPr>
        </p:nvSpPr>
        <p:spPr>
          <a:xfrm>
            <a:off x="385500" y="227927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1" y="302741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480544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sanjay.e18823@cumail.in</a:t>
            </a:r>
          </a:p>
        </p:txBody>
      </p:sp>
      <p:sp>
        <p:nvSpPr>
          <p:cNvPr id="5" name="TextBox 4"/>
          <p:cNvSpPr txBox="1"/>
          <p:nvPr/>
        </p:nvSpPr>
        <p:spPr>
          <a:xfrm>
            <a:off x="8609524" y="943238"/>
            <a:ext cx="383438" cy="307777"/>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400" dirty="0"/>
              <a:t>12</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693</TotalTime>
  <Words>1163</Words>
  <Application>Microsoft Office PowerPoint</Application>
  <PresentationFormat>On-screen Show (4:3)</PresentationFormat>
  <Paragraphs>116</Paragraphs>
  <Slides>24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Calibri</vt:lpstr>
      <vt:lpstr>Vladimir Script</vt:lpstr>
      <vt:lpstr>Calibri Light</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SRIJAN TRIPATHI</cp:lastModifiedBy>
  <cp:revision>166</cp:revision>
  <dcterms:modified xsi:type="dcterms:W3CDTF">2026-02-14T13:41:00Z</dcterms:modified>
</cp:coreProperties>
</file>