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3" r:id="rId3"/>
    <p:sldId id="306" r:id="rId4"/>
    <p:sldId id="285" r:id="rId5"/>
    <p:sldId id="348" r:id="rId6"/>
    <p:sldId id="309" r:id="rId7"/>
    <p:sldId id="312" r:id="rId8"/>
    <p:sldId id="349" r:id="rId9"/>
    <p:sldId id="350" r:id="rId10"/>
    <p:sldId id="351" r:id="rId11"/>
    <p:sldId id="343" r:id="rId12"/>
    <p:sldId id="339" r:id="rId13"/>
    <p:sldId id="344" r:id="rId14"/>
    <p:sldId id="352" r:id="rId15"/>
    <p:sldId id="353" r:id="rId16"/>
    <p:sldId id="354" r:id="rId17"/>
    <p:sldId id="355" r:id="rId18"/>
    <p:sldId id="356" r:id="rId19"/>
    <p:sldId id="288" r:id="rId20"/>
    <p:sldId id="300" r:id="rId21"/>
    <p:sldId id="305" r:id="rId22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Vladimir Script" panose="03050402040407070305" pitchFamily="66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 varScale="1">
        <p:scale>
          <a:sx n="103" d="100"/>
          <a:sy n="103" d="100"/>
        </p:scale>
        <p:origin x="811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38598D8-F9DC-2791-D1B6-C11ACAFD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089061A-6020-F864-9B29-5E767CCBC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81A7D94-8E91-5F15-E086-3A9E715F2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442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4E6E191-7A3F-DDE5-9BE0-7C231839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214E21D-CF7D-5069-DDED-FD92C1908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916B821-9BB8-4C7C-D798-8C8AC1714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59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93D42F-A578-35C8-4DE2-AFBF6F7B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B0AE6F-9BF3-05DC-A9E3-C4AEA6BC7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C5276FB-61A1-1D7F-1C2B-F453FE277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14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E411EC3-B559-FA09-BFB0-5444ED97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4977695-8636-6C94-F6D3-F6F0D55D2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DBC33F6-90AD-84D0-BFBF-785E0C097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791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6B742CE-53F7-0C72-D49F-F3F5BCEB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0FCF948-A899-04AF-6333-67250A0EC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F879B48-C7D0-1E70-A2E7-0D0342291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34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C5E689F-EFB2-F9EB-54F2-7AA681EE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2DB4A91-138B-A364-76CE-C45307370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31C083B-6FD0-CDCB-AA94-554195A21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849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2A1AC4F-60AE-1981-DF7B-D7DB4AFB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1F819F7-E62D-CA40-0A77-1BC8D84E7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A521BA9-981D-9F44-4672-09B106D61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677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CF2FD77-3A12-327B-1017-A052503E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8A161CE-9003-05C7-BC6A-E295E288E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D74D3CF-3163-F842-692B-5F05C0C1F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89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EAC0EE6-B05F-CD3F-6A86-2383F60F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28355D-BF49-4685-CC5A-0E9C11996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577BBFA-4A32-5624-D364-A36006083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368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5771426-9A0A-16D5-28AF-B302A9B21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CDCD7DC-C733-E58A-088C-A68BBBD47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0AA03E8-1D84-2E7D-4681-31104643E5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262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5D2F0B1-DD45-82DC-3330-AB0E3BFF7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2C2B160-E1C8-D511-6EE1-0CF9525E29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238E2E2-B8DE-18B3-EC0C-23FF53DAD9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957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EA709F-10E6-78E6-2E35-2998E4BA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1EA647F-6D2D-B5E7-BA7E-2DBF1A874F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FD9C5C1-267C-0BD0-725D-9F5FC121C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247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D89ABC7-454A-369A-81A0-BBADF985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F044577-D6E1-C681-2B21-835F61901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12A410-961A-B825-3A69-48A1A8C9A1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7816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6D321C9-5478-74A7-5D68-A8201EA0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D02FE2-CC03-DC86-7FCC-F4CC26A60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1BFE06D-BCE4-EE19-D91B-FE54F29154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0173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security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wasp.org/" TargetMode="External"/><Relationship Id="rId5" Type="http://schemas.openxmlformats.org/officeDocument/2006/relationships/hyperlink" Target="https://www.baeldung.com/spring-security-filters" TargetMode="External"/><Relationship Id="rId4" Type="http://schemas.openxmlformats.org/officeDocument/2006/relationships/hyperlink" Target="https://docs.spring.io/spring-security/reference/servlet/architecture.html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4350" y="751231"/>
            <a:ext cx="8250688" cy="3985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</a:t>
            </a:r>
            <a:r>
              <a:rPr lang="en-US" sz="3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Of Computer Science &amp;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Computer Science 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6th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</a:t>
            </a:r>
            <a:endParaRPr lang="en-US" baseline="30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dirty="0"/>
              <a:t>Full Stack Development – II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GB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23CSH-309/23ITH-309</a:t>
            </a:r>
            <a:r>
              <a:rPr lang="en-GB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3                     Chapter No. 1                    Lecture No. 1 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Security Filter Chain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Er. Tushar Sood (E18319)                                                       Technical Trainer(CSE)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DFB5912-E799-63B5-2CF1-182A365BA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7893" y="1279089"/>
            <a:ext cx="865568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the concept of Security Filter Chain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how Spring Security processes HTTP requests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the role of filters in authentication and authorization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the importance of filter order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how Security Filter Chain improves application security</a:t>
            </a: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562290" y="258121"/>
            <a:ext cx="8277101" cy="571932"/>
            <a:chOff x="0" y="6299"/>
            <a:chExt cx="5580934" cy="57193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0" y="17703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2800" b="1" dirty="0"/>
                <a:t>Security Filter Chain in Spring Security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538828" y="1215543"/>
            <a:ext cx="8212722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</a:rPr>
              <a:t>Spring Security protects applications by applying a series of security filters to every incoming HTTP request.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</a:rPr>
              <a:t>These filters are organized into a Security Filter Chain, which determines how requests are authenticated, authorized, and processed before reaching application controllers.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</a:rPr>
              <a:t>The Security Filter Chain is the core mechanism through which Spring Security enforces application security.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000" b="1" dirty="0"/>
                <a:t>What is Spring Security? </a:t>
              </a:r>
              <a:endParaRPr lang="en-GB" sz="40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A9B100B-BAD8-99A1-3211-6CBBD09F1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6312" y="1173820"/>
            <a:ext cx="8608933" cy="3751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Spring Security is a powerful framework that provides authentication, authorization, and protection against common security threats.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It integrates seamlessly with Spring Boot applications and follows a filter-based architecture.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Spring Security is highly customizable and suitable for enterprise-grade applications.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56E8FA8-F249-C626-9A2A-5303493A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2AE1993-3560-B405-9A64-1F5441A95187}"/>
              </a:ext>
            </a:extLst>
          </p:cNvPr>
          <p:cNvGrpSpPr/>
          <p:nvPr/>
        </p:nvGrpSpPr>
        <p:grpSpPr>
          <a:xfrm>
            <a:off x="716203" y="218172"/>
            <a:ext cx="8309042" cy="505840"/>
            <a:chOff x="-45755" y="6299"/>
            <a:chExt cx="5626689" cy="5058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EC770A8-F6D2-47B9-8533-6B1C3550D9E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5758EC1-71BF-6F91-2A67-DBAFE801FC4C}"/>
                </a:ext>
              </a:extLst>
            </p:cNvPr>
            <p:cNvSpPr txBox="1"/>
            <p:nvPr/>
          </p:nvSpPr>
          <p:spPr>
            <a:xfrm>
              <a:off x="-45755" y="1109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4000" b="1" dirty="0"/>
                <a:t>What is a Security Filter?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A844D22-2F71-F245-5A5A-3BE72C48A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6203" y="1025138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A security filter is a component that intercepts HTTP requests and responses.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Filters examine, modify, or block requests based on defined security rules.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Each filter performs a specific security task, such as authentication, authorization, or session management.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FB057-F3EB-52F1-A311-94BE471F3AB3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983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178EC9D-3AF2-FF46-AE40-8AADB0C0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4FFF226-09D2-BD23-5ADA-FDF121AE7076}"/>
              </a:ext>
            </a:extLst>
          </p:cNvPr>
          <p:cNvGrpSpPr/>
          <p:nvPr/>
        </p:nvGrpSpPr>
        <p:grpSpPr>
          <a:xfrm>
            <a:off x="751718" y="393764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DBFAAD7-33FB-3AC6-1B1A-504C8E53D5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945FE62-323F-F949-9208-8982D26D5CB9}"/>
                </a:ext>
              </a:extLst>
            </p:cNvPr>
            <p:cNvSpPr txBox="1"/>
            <p:nvPr/>
          </p:nvSpPr>
          <p:spPr>
            <a:xfrm>
              <a:off x="0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GB" sz="3600" b="1" dirty="0"/>
                <a:t>What is Security Filter Chain?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2D43A7-B4AC-7396-B002-904551AF7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73022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The Security Filter Chain is an ordered collection of security filters executed for every incoming request.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Each request passes through the chain before reaching the controller.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If any filter fails (for example, authentication failure), the request is blocked immediately.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59C79-7AC0-4E46-EB54-6E995667A62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964EB89-B350-5658-4193-6D077B5D19AD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96E4E321-561E-07CE-DCD2-94E9FE5C81A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06259B5-2280-84B6-86A6-C84A7685C9D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481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DC29400-89C7-6A6F-FDCC-3A14F135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A1E0372-C71E-C8FF-EA68-B3A001392437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5826B79-33D3-443A-614A-6F6AA9F0633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91F2A5D-F5A3-D823-AC38-7E68C89292D0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GB" sz="3600" b="1" dirty="0"/>
                <a:t>Purpose of Security Filter Chain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E83A1FA8-10FE-2D4E-39EB-872A7BDF5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4C3EC31-8B8F-E5E5-4108-1157654D8404}"/>
              </a:ext>
            </a:extLst>
          </p:cNvPr>
          <p:cNvSpPr txBox="1"/>
          <p:nvPr/>
        </p:nvSpPr>
        <p:spPr>
          <a:xfrm>
            <a:off x="815820" y="1278544"/>
            <a:ext cx="8342867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chemeClr val="bg2"/>
                </a:solidFill>
              </a:rPr>
              <a:t>The Security Filter Chain exists to:</a:t>
            </a:r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Enforce authentication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Apply authorization rules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Prevent unauthorized access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Protect against security attacks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Maintain application integrity</a:t>
            </a:r>
          </a:p>
          <a:p>
            <a:pPr>
              <a:lnSpc>
                <a:spcPct val="150000"/>
              </a:lnSpc>
            </a:pPr>
            <a:endParaRPr lang="en-GB" sz="1600" dirty="0">
              <a:solidFill>
                <a:schemeClr val="bg2"/>
              </a:solidFill>
            </a:endParaRPr>
          </a:p>
          <a:p>
            <a:r>
              <a:rPr lang="en-GB" sz="1600" dirty="0">
                <a:solidFill>
                  <a:schemeClr val="bg2"/>
                </a:solidFill>
              </a:rPr>
              <a:t>It ensures that only valid and authorized requests reach business logic.</a:t>
            </a:r>
            <a:endParaRPr lang="en-IN" sz="1600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1F94B-4381-9960-700F-E0E3150A567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C4CD5BA6-C07A-1DF8-879C-A5E9C3432C02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8EBE040-CA66-B9AA-D219-417CCA8CD72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002F189B-2F78-0FBE-9BE2-5FCCD02BA85A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13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72A88FF-C2A5-683D-561C-EFAF56ECA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5071BEF-D2A7-68A3-5BA7-D6438A23D703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B64E7A8-8EF9-4382-FA8E-C7945FFE7E0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ACA1E50-E05A-204F-D4E4-603E7A29B694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4000" b="1" dirty="0"/>
                <a:t>How Security Filter Chain Works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854232F-5606-3B82-0B77-0706E417A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AECE7E0-D084-E285-0202-F50F4E83611A}"/>
              </a:ext>
            </a:extLst>
          </p:cNvPr>
          <p:cNvSpPr txBox="1"/>
          <p:nvPr/>
        </p:nvSpPr>
        <p:spPr>
          <a:xfrm>
            <a:off x="571500" y="1171387"/>
            <a:ext cx="8001000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1600" b="1" dirty="0">
                <a:solidFill>
                  <a:schemeClr val="bg2"/>
                </a:solidFill>
              </a:rPr>
              <a:t>The request flow is as follows:</a:t>
            </a:r>
          </a:p>
          <a:p>
            <a:endParaRPr lang="en-GB" sz="1600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solidFill>
                  <a:schemeClr val="bg2"/>
                </a:solidFill>
              </a:rPr>
              <a:t>Client sends HTTP request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solidFill>
                  <a:schemeClr val="bg2"/>
                </a:solidFill>
              </a:rPr>
              <a:t>Request enters Security Filter Chain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solidFill>
                  <a:schemeClr val="bg2"/>
                </a:solidFill>
              </a:rPr>
              <a:t>Filters execute sequentially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solidFill>
                  <a:schemeClr val="bg2"/>
                </a:solidFill>
              </a:rPr>
              <a:t>Authentication and authorization are checked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solidFill>
                  <a:schemeClr val="bg2"/>
                </a:solidFill>
              </a:rPr>
              <a:t>Request reaches controller if permitted</a:t>
            </a:r>
          </a:p>
          <a:p>
            <a:endParaRPr lang="en-GB" sz="1600" dirty="0">
              <a:solidFill>
                <a:schemeClr val="bg2"/>
              </a:solidFill>
            </a:endParaRPr>
          </a:p>
          <a:p>
            <a:r>
              <a:rPr lang="en-GB" sz="1600" dirty="0">
                <a:solidFill>
                  <a:schemeClr val="bg2"/>
                </a:solidFill>
              </a:rPr>
              <a:t>This layered approach ensures strong security enforcement.</a:t>
            </a:r>
            <a:endParaRPr lang="en-IN" sz="1600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8FCBC-4440-BCD1-D2BD-8D1B0D8B0DA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9EC5D87B-A270-6DD8-4D46-2B86625EE10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A95BA47-5736-BC82-F4CC-35D51C1BE4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A40291A-0D19-D650-98E9-84EC50205B88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05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A79C876-8596-E374-F632-D96C3C2D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022427D-7469-F8A2-B956-734E55019692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DAC577C-E326-12F9-00BE-7D13441ABB6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358F8D3-40A5-3040-A95E-D1B4BC09296D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Filter Order Importance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974D6E5-4183-16B6-613D-2513664F9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32C02CE-8E7F-C759-06BD-366202BC0548}"/>
              </a:ext>
            </a:extLst>
          </p:cNvPr>
          <p:cNvSpPr txBox="1"/>
          <p:nvPr/>
        </p:nvSpPr>
        <p:spPr>
          <a:xfrm>
            <a:off x="894203" y="1153017"/>
            <a:ext cx="8249797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</a:rPr>
              <a:t>The order of filters in the chain is extremely important.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</a:rPr>
              <a:t>Some filters must run before others to ensure proper security processing.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</a:rPr>
              <a:t>For example, authentication filters must run before authorization filters.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</a:rPr>
              <a:t>Incorrect order can lead to security vulnerabilities or runtime errors.</a:t>
            </a:r>
            <a:endParaRPr lang="en-IN" sz="1600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54E23-92AA-64E2-FB10-68E16949A7E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2F6826A5-78ED-9861-4B61-7E7B76DEC99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EF02D29-70F3-3CA0-420E-6A0F5A4057F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9D885FB-908B-8510-32A9-53D10647CCA7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197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3EE90CA-44A2-145C-4FAE-3CC32C14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E2E8708-715E-5880-FFFB-DA34E4925BD6}"/>
              </a:ext>
            </a:extLst>
          </p:cNvPr>
          <p:cNvGrpSpPr/>
          <p:nvPr/>
        </p:nvGrpSpPr>
        <p:grpSpPr>
          <a:xfrm>
            <a:off x="652101" y="308954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D691364-EFD0-2D9F-5866-4C7B91B20487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805727D-B8EA-DBCD-C854-C2EBCC631473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GB" sz="3200" b="1" dirty="0"/>
                <a:t>Common Filters in Security Filter Chain</a:t>
              </a:r>
              <a:endParaRPr lang="en-IN" sz="32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7A9FDA0-49B6-4954-2D0C-A01F69EF7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5820" y="1295890"/>
            <a:ext cx="8177373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Some commonly used filters include: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Authentication Filter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Authorization Filter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Session Management Filter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CSRF Filter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Exception Translation Filter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Each filter has a specific and well-defined responsibility.</a:t>
            </a:r>
            <a:endParaRPr sz="1600" b="0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84EE9-D937-17F8-8B5E-E50C3BB257F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55CA380-5370-5933-21CC-2E4197E96008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6261BD-C998-8D71-6D28-2AA8554237A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DBD15C4C-4BCE-B2F9-EB24-983A34345AAB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358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5C3FEDA-1C24-D77D-3D76-B501337D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36479E8-4ADB-A2C8-7FFA-3423117946F8}"/>
              </a:ext>
            </a:extLst>
          </p:cNvPr>
          <p:cNvGrpSpPr/>
          <p:nvPr/>
        </p:nvGrpSpPr>
        <p:grpSpPr>
          <a:xfrm>
            <a:off x="593724" y="27836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C096D61-E8CC-BCFF-36D6-E110D615EF3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CFA3818-57F4-A9F3-0325-DF6BD6DE9066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Authentication Filter</a:t>
              </a:r>
              <a:endParaRPr lang="en-GB" sz="36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E3DC9D6-FC96-9049-4400-B750C78D7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503642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5D4BD8-D608-CF84-4402-910908E63E23}"/>
              </a:ext>
            </a:extLst>
          </p:cNvPr>
          <p:cNvSpPr txBox="1"/>
          <p:nvPr/>
        </p:nvSpPr>
        <p:spPr>
          <a:xfrm>
            <a:off x="757500" y="1265298"/>
            <a:ext cx="8318136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Authentication filters verify user identity.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They extract credentials (username, password, token) from requests and validate them.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If authentication fails, the request is rejected immediately.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330D0-2BDA-72C1-1B10-F20D89A6596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07CB556-7321-E168-C4F7-A9452CB089DF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2CEED89F-6A08-93BA-90AA-D633EB496EE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AB85F620-883C-1A9D-10AC-ECD4CCE28151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0790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4881312-8C34-11D8-A0D1-FDC73B35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FB77EF3-ED72-3523-B555-000DAE4F3E3C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413BF18-54E0-F7D8-FB94-DBB30127E4F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A1805F4-1C2C-6914-B520-7BBFCEDC25F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Authorization Filter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71CDE13-0AA7-94B4-A34B-5D2A3CC30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3768" y="1194726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Authorization filters determine what an authenticated user is allowed to do.</a:t>
            </a:r>
          </a:p>
          <a:p>
            <a:pPr marL="285750" lvl="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They check user roles, authorities, and permissions before granting access.</a:t>
            </a:r>
          </a:p>
          <a:p>
            <a:pPr marL="285750" lvl="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Authorization ensures principle of least privilege.</a:t>
            </a:r>
            <a:endParaRPr sz="1600" b="0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459E1-7AF1-A55C-BDB6-D6202C2488A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7B990DCC-ED35-C11B-FB01-016307CF15E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F960A93-B946-DCAB-25E9-3CE87675CE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8EA1C90-A413-9C71-2F44-E4AE3A90F17F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82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C765F80-1F94-ABEF-81ED-5189B8ED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C68C85E-3B9A-0625-434B-8D0553ED39BA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3B8D9BB-BA0C-50F8-7656-D2E6F1C4527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F3A65F1-2E6F-181F-BFD3-555631C3FD8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CSRF Filter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4FFDFD1-FB16-009B-D769-0F031005D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271158"/>
            <a:ext cx="8001000" cy="3065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527CC-6D8D-1A50-603C-0776132DEEB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9DD73EB-9078-80FC-F64B-EAA84B2BFBA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A579B8-D92C-8182-F84F-485D52B7E1D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B19319B-B601-D623-A91F-520A6F2C954D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9534126-9296-5CBF-62E9-0D9A78422F15}"/>
              </a:ext>
            </a:extLst>
          </p:cNvPr>
          <p:cNvSpPr txBox="1"/>
          <p:nvPr/>
        </p:nvSpPr>
        <p:spPr>
          <a:xfrm>
            <a:off x="783768" y="1353015"/>
            <a:ext cx="7974732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CSRF (Cross-Site Request Forgery) filters protect applications from malicious request attacks.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They validate tokens to ensure requests are legitimate.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CSRF protection is essential for stateful web applications.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6100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3F45145-E73B-FD94-CA99-14803F72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3DBCE09-EDB8-6011-2DC0-70F42438823D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6F71F62-3E21-D55A-3312-FF9FBF67618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F7FD72D-8F4B-FD20-94D3-FCC5DBE49AD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Exception Handling in Filter Chain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48CF0B4-3F1A-EC03-4387-21E2E743B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GB"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F2803-4CDF-C481-6798-88D4B004C084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42C23A8A-99EB-10B8-F7A7-4E8F856A7B00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E261A4A-47C5-DE5E-127C-8240ECEF80D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4D7E7EB-8E9E-7840-22A6-3FF10898E1F4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D6CB4AB-F549-56EF-A98C-AF305175D7A1}"/>
              </a:ext>
            </a:extLst>
          </p:cNvPr>
          <p:cNvSpPr txBox="1"/>
          <p:nvPr/>
        </p:nvSpPr>
        <p:spPr>
          <a:xfrm>
            <a:off x="952647" y="1173022"/>
            <a:ext cx="780585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600" b="1" dirty="0"/>
              <a:t>If an error occurs during filter execution: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 exception is intercepted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A proper error response is generated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 request does not reach the controller</a:t>
            </a:r>
          </a:p>
          <a:p>
            <a:pPr>
              <a:lnSpc>
                <a:spcPct val="200000"/>
              </a:lnSpc>
            </a:pPr>
            <a:endParaRPr lang="en-GB" sz="1600" dirty="0"/>
          </a:p>
          <a:p>
            <a:r>
              <a:rPr lang="en-GB" sz="1600" dirty="0"/>
              <a:t>This ensures graceful handling of security errors.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7805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85BD9E5-4609-8B08-90E8-CBF3235E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2D107F1-4BCA-03B7-1690-952B95AF5619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BECDFBB-9018-50AA-3C25-42E9F63B05F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8B6DE5DC-109F-A6E7-C48F-5D9158C9184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Security Filter Chain Configuration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9C40CA9-9EB3-1662-65F1-776A40FFB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GB"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DCDA8C-3135-CDE0-6B35-20ABCBC057B7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99CBA787-F266-BBB6-E9B4-83191659804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D19C1E62-85DE-A107-0534-B2243D688EA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6ABA4DAE-C275-59C5-2318-D900981CFAB2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34164F5-DB65-9375-A8A1-B3E96C4FF8EC}"/>
              </a:ext>
            </a:extLst>
          </p:cNvPr>
          <p:cNvSpPr txBox="1"/>
          <p:nvPr/>
        </p:nvSpPr>
        <p:spPr>
          <a:xfrm>
            <a:off x="669073" y="1194726"/>
            <a:ext cx="7805853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In Spring Boot, the Security Filter Chain is configured using Java-based configuration.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Developers define security rules declaratively, controlling authentication and authorization </a:t>
            </a:r>
            <a:r>
              <a:rPr lang="en-GB" sz="1600" dirty="0" err="1"/>
              <a:t>behavior</a:t>
            </a:r>
            <a:r>
              <a:rPr lang="en-GB" sz="16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This approach provides flexibility and clarity.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47410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EB14687-5CDE-9D79-1382-22ED66A07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97D6A29-2198-F844-92C2-C709A90012C7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9648AE5-9489-356D-D052-2D24C722D27D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F0B7BCB-B0BB-B0ED-BEB5-87DB7DD30A9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GB" sz="3600" b="1" dirty="0"/>
                <a:t>Benefits of Security Filter Chain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16B703A-D62D-C472-258D-4BA41AC9E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GB"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262092-41C8-C142-2FE1-6E852B07B0BB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AD5A2FCE-7E70-F6B0-5A76-3EEDAE8C0054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2502E25-32E1-50C0-613C-86D2963EEB3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4E93DA02-959E-7CD1-58B6-AAFA110E896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1C122D9-BDC6-4AEB-827D-8FBB83FE1E97}"/>
              </a:ext>
            </a:extLst>
          </p:cNvPr>
          <p:cNvSpPr txBox="1"/>
          <p:nvPr/>
        </p:nvSpPr>
        <p:spPr>
          <a:xfrm>
            <a:off x="815818" y="1323746"/>
            <a:ext cx="794268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Security Filter Chain provides: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Centralized security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Strong request-level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Modular and extensible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High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Consistent enforcement of security policies</a:t>
            </a:r>
          </a:p>
          <a:p>
            <a:endParaRPr lang="en-GB" sz="1600" dirty="0"/>
          </a:p>
          <a:p>
            <a:r>
              <a:rPr lang="en-GB" sz="1600" dirty="0"/>
              <a:t>It is essential for secure backend systems.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29635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7003F3B-AC7B-2279-B488-7C216C89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E4212B7-3826-9B25-9781-00FD281464B9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A16F05F-B184-F828-B8F3-5EFBC16B1F1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3B43AF0-BA0D-7009-CC17-2E46F405C85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GB" sz="3600" b="1" dirty="0"/>
                <a:t>Security Filter Chain in REST APIs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8F1A554-BE87-6C3A-8BCA-EC1086CD8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3768" y="1288209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2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In RESTful applications, the Security Filter Chain: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Protects API endpoints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Validates tokens (JWT, OAuth)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Prevents unauthorized access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Ensures stateless security</a:t>
            </a:r>
          </a:p>
          <a:p>
            <a:pPr marL="0" lvl="0" indent="0" algn="just">
              <a:lnSpc>
                <a:spcPct val="2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2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It plays a critical role in modern microservices.</a:t>
            </a:r>
            <a:endParaRPr lang="en-GB" sz="1600" b="0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F8D8D1-AD88-3879-6A28-295E9ECBD8D0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A7271B37-7F92-DB62-988B-AFDC2E15F25B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29ED1E6-759E-8AE1-88F2-192DDA1DE27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91B50411-354C-D52E-66F3-3E10F216A7A6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7429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CF4D93C-86FE-B067-D449-ED35A2840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5C61ECD-7491-191E-06B1-5A9EFC8C6F83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D2A74FE-488E-0C62-3209-4947C2E6E8A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BA4E6EE-A5F5-AF69-E0EC-999F0DF8784D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Real-World Use Cases</a:t>
              </a:r>
              <a:endParaRPr lang="en-GB" sz="3600" b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424213C-54F0-C332-6FA2-A663248655D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FDBE6A88-5191-7881-1730-C89E1DDC959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5DD8AA66-C9C2-5E1A-2A77-266AC85D62D7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A97225F0-DAFB-D2AE-07A6-ED0F93D48966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7A88902-E04D-9570-2EBD-886C26C6B227}"/>
              </a:ext>
            </a:extLst>
          </p:cNvPr>
          <p:cNvSpPr txBox="1"/>
          <p:nvPr/>
        </p:nvSpPr>
        <p:spPr>
          <a:xfrm>
            <a:off x="1193800" y="1457359"/>
            <a:ext cx="7213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Security Filter Chain is widely used in: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Enterprise web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REST APIs and microservices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Banking and financial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Cloud-based applications</a:t>
            </a:r>
          </a:p>
          <a:p>
            <a:endParaRPr lang="en-IN" sz="1600" dirty="0"/>
          </a:p>
          <a:p>
            <a:r>
              <a:rPr lang="en-IN" sz="1600" dirty="0"/>
              <a:t>It forms the backbone of application-level security.</a:t>
            </a:r>
          </a:p>
        </p:txBody>
      </p:sp>
    </p:spTree>
    <p:extLst>
      <p:ext uri="{BB962C8B-B14F-4D97-AF65-F5344CB8AC3E}">
        <p14:creationId xmlns:p14="http://schemas.microsoft.com/office/powerpoint/2010/main" val="1785798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518" y="862360"/>
            <a:ext cx="8280399" cy="385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76200" indent="0">
              <a:buNone/>
            </a:pPr>
            <a:r>
              <a:rPr lang="en-GB" sz="1200" b="1" dirty="0">
                <a:solidFill>
                  <a:schemeClr val="bg2"/>
                </a:solidFill>
                <a:latin typeface="+mj-lt"/>
              </a:rPr>
              <a:t>1. Security Filter Chain is: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A. A database component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B. A collection of security filters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C. A UI framework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D. A REST controller</a:t>
            </a:r>
          </a:p>
          <a:p>
            <a:pPr marL="76200" indent="0">
              <a:buNone/>
            </a:pPr>
            <a:endParaRPr lang="en-GB" sz="1200" b="1" dirty="0">
              <a:solidFill>
                <a:schemeClr val="bg2"/>
              </a:solidFill>
              <a:latin typeface="+mj-lt"/>
            </a:endParaRPr>
          </a:p>
          <a:p>
            <a:pPr marL="76200" indent="0">
              <a:buNone/>
            </a:pPr>
            <a:r>
              <a:rPr lang="en-GB" sz="1200" b="1" dirty="0">
                <a:solidFill>
                  <a:schemeClr val="bg2"/>
                </a:solidFill>
                <a:latin typeface="+mj-lt"/>
              </a:rPr>
              <a:t>Answer: B</a:t>
            </a:r>
          </a:p>
          <a:p>
            <a:pPr marL="76200" indent="0">
              <a:buNone/>
            </a:pPr>
            <a:endParaRPr lang="en-GB" sz="1200" b="1" dirty="0">
              <a:solidFill>
                <a:schemeClr val="bg2"/>
              </a:solidFill>
              <a:latin typeface="+mj-lt"/>
            </a:endParaRPr>
          </a:p>
          <a:p>
            <a:pPr marL="76200" indent="0">
              <a:buNone/>
            </a:pPr>
            <a:r>
              <a:rPr lang="en-GB" sz="1200" b="1" dirty="0">
                <a:solidFill>
                  <a:schemeClr val="bg2"/>
                </a:solidFill>
                <a:latin typeface="+mj-lt"/>
              </a:rPr>
              <a:t>2. Filters are executed: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A. Randomly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B. In parallel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C. In a defined order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D. After controller execution</a:t>
            </a:r>
          </a:p>
          <a:p>
            <a:pPr marL="76200" indent="0">
              <a:buNone/>
            </a:pPr>
            <a:endParaRPr lang="en-GB" sz="1200" b="1" dirty="0">
              <a:solidFill>
                <a:schemeClr val="bg2"/>
              </a:solidFill>
              <a:latin typeface="+mj-lt"/>
            </a:endParaRPr>
          </a:p>
          <a:p>
            <a:pPr marL="76200" indent="0">
              <a:buNone/>
            </a:pPr>
            <a:r>
              <a:rPr lang="en-GB" sz="1200" b="1" dirty="0">
                <a:solidFill>
                  <a:schemeClr val="bg2"/>
                </a:solidFill>
                <a:latin typeface="+mj-lt"/>
              </a:rPr>
              <a:t>Answer: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608525" y="1232942"/>
            <a:ext cx="7606207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dirty="0"/>
              <a:t>• Spring Security Reference Documentation</a:t>
            </a:r>
            <a:br>
              <a:rPr lang="en-GB" dirty="0"/>
            </a:br>
            <a:r>
              <a:rPr lang="en-GB" dirty="0">
                <a:hlinkClick r:id="rId3"/>
              </a:rPr>
              <a:t>https://spring.io/projects/spring-security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Spring Security Filter Chain</a:t>
            </a:r>
            <a:br>
              <a:rPr lang="en-GB" dirty="0"/>
            </a:br>
            <a:r>
              <a:rPr lang="en-GB" dirty="0">
                <a:hlinkClick r:id="rId4"/>
              </a:rPr>
              <a:t>https://docs.spring.io/spring-security/reference/servlet/architecture.html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</a:t>
            </a:r>
            <a:r>
              <a:rPr lang="en-GB" dirty="0" err="1"/>
              <a:t>Baeldung</a:t>
            </a:r>
            <a:r>
              <a:rPr lang="en-GB" dirty="0"/>
              <a:t> – Spring Security Filters</a:t>
            </a:r>
            <a:br>
              <a:rPr lang="en-GB" dirty="0"/>
            </a:br>
            <a:r>
              <a:rPr lang="en-GB" dirty="0">
                <a:hlinkClick r:id="rId5"/>
              </a:rPr>
              <a:t>https://www.baeldung.com/spring-security-filters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OWASP Security Concepts</a:t>
            </a:r>
            <a:br>
              <a:rPr lang="en-GB" dirty="0"/>
            </a:br>
            <a:r>
              <a:rPr lang="en-GB" dirty="0">
                <a:hlinkClick r:id="rId6"/>
              </a:rPr>
              <a:t>https://owasp.org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tushar.e18319@cumail.in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3374</TotalTime>
  <Words>944</Words>
  <Application>Microsoft Office PowerPoint</Application>
  <PresentationFormat>On-screen Show (16:9)</PresentationFormat>
  <Paragraphs>202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Times New Roman</vt:lpstr>
      <vt:lpstr>Cambria</vt:lpstr>
      <vt:lpstr>Lato</vt:lpstr>
      <vt:lpstr>Arial Black</vt:lpstr>
      <vt:lpstr>Calibri</vt:lpstr>
      <vt:lpstr>Arial</vt:lpstr>
      <vt:lpstr>Wingdings</vt:lpstr>
      <vt:lpstr>Vladimir Script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Tushar Sood</dc:creator>
  <cp:lastModifiedBy>Pankaj</cp:lastModifiedBy>
  <cp:revision>108</cp:revision>
  <dcterms:modified xsi:type="dcterms:W3CDTF">2025-12-16T14:47:23Z</dcterms:modified>
</cp:coreProperties>
</file>