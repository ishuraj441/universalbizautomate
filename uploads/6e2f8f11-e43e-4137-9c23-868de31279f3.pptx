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83" r:id="rId3"/>
    <p:sldId id="306" r:id="rId4"/>
    <p:sldId id="285" r:id="rId5"/>
    <p:sldId id="348" r:id="rId6"/>
    <p:sldId id="309" r:id="rId7"/>
    <p:sldId id="312" r:id="rId8"/>
    <p:sldId id="349" r:id="rId9"/>
    <p:sldId id="350" r:id="rId10"/>
    <p:sldId id="351" r:id="rId11"/>
    <p:sldId id="343" r:id="rId12"/>
    <p:sldId id="339" r:id="rId13"/>
    <p:sldId id="344" r:id="rId14"/>
    <p:sldId id="352" r:id="rId15"/>
    <p:sldId id="353" r:id="rId16"/>
    <p:sldId id="354" r:id="rId17"/>
    <p:sldId id="355" r:id="rId18"/>
    <p:sldId id="356" r:id="rId19"/>
    <p:sldId id="357" r:id="rId20"/>
    <p:sldId id="288" r:id="rId21"/>
    <p:sldId id="300" r:id="rId22"/>
    <p:sldId id="305" r:id="rId23"/>
  </p:sldIdLst>
  <p:sldSz cx="9144000" cy="5143500" type="screen16x9"/>
  <p:notesSz cx="6858000" cy="9144000"/>
  <p:embeddedFontLst>
    <p:embeddedFont>
      <p:font typeface="Arial Black" panose="020B0A04020102020204" pitchFamily="34" charset="0"/>
      <p:bold r:id="rId25"/>
    </p:embeddedFont>
    <p:embeddedFont>
      <p:font typeface="Cambria" panose="02040503050406030204" pitchFamily="18" charset="0"/>
      <p:regular r:id="rId26"/>
      <p:bold r:id="rId27"/>
      <p:italic r:id="rId28"/>
      <p:boldItalic r:id="rId29"/>
    </p:embeddedFont>
    <p:embeddedFont>
      <p:font typeface="Lato" panose="020F0502020204030203" pitchFamily="34" charset="0"/>
      <p:regular r:id="rId30"/>
      <p:bold r:id="rId31"/>
      <p:italic r:id="rId32"/>
      <p:boldItalic r:id="rId33"/>
    </p:embeddedFont>
    <p:embeddedFont>
      <p:font typeface="Vladimir Script" panose="03050402040407070305" pitchFamily="66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66"/>
  </p:normalViewPr>
  <p:slideViewPr>
    <p:cSldViewPr snapToGrid="0">
      <p:cViewPr>
        <p:scale>
          <a:sx n="100" d="100"/>
          <a:sy n="100" d="100"/>
        </p:scale>
        <p:origin x="883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238598D8-F9DC-2791-D1B6-C11ACAFDB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089061A-6020-F864-9B29-5E767CCBC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581A7D94-8E91-5F15-E086-3A9E715F2B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4424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F4E6E191-7A3F-DDE5-9BE0-7C2318399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214E21D-CF7D-5069-DDED-FD92C19088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2916B821-9BB8-4C7C-D798-8C8AC1714A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6759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DE93D42F-A578-35C8-4DE2-AFBF6F7B5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5B0AE6F-9BF3-05DC-A9E3-C4AEA6BC74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3C5276FB-61A1-1D7F-1C2B-F453FE2772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146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EE411EC3-B559-FA09-BFB0-5444ED978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94977695-8636-6C94-F6D3-F6F0D55D24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DBC33F6-90AD-84D0-BFBF-785E0C0979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7913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6B742CE-53F7-0C72-D49F-F3F5BCEB5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D0FCF948-A899-04AF-6333-67250A0EC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0F879B48-C7D0-1E70-A2E7-0D0342291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434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C5E689F-EFB2-F9EB-54F2-7AA681EE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2DB4A91-138B-A364-76CE-C45307370B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831C083B-6FD0-CDCB-AA94-554195A217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8490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2A1AC4F-60AE-1981-DF7B-D7DB4AFBB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51F819F7-E62D-CA40-0A77-1BC8D84E7E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DA521BA9-981D-9F44-4672-09B106D61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677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CF2FD77-3A12-327B-1017-A052503EB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8A161CE-9003-05C7-BC6A-E295E288E9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D74D3CF-3163-F842-692B-5F05C0C1F9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07895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EAC0EE6-B05F-CD3F-6A86-2383F60F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28355D-BF49-4685-CC5A-0E9C11996E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7577BBFA-4A32-5624-D364-A36006083F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83687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15771426-9A0A-16D5-28AF-B302A9B21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0CDCD7DC-C733-E58A-088C-A68BBBD477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0AA03E8-1D84-2E7D-4681-31104643E5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726247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5D2F0B1-DD45-82DC-3330-AB0E3BFF7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2C2B160-E1C8-D511-6EE1-0CF9525E29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E238E2E2-B8DE-18B3-EC0C-23FF53DAD9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9579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EA709F-10E6-78E6-2E35-2998E4BAD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1EA647F-6D2D-B5E7-BA7E-2DBF1A874F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FD9C5C1-267C-0BD0-725D-9F5FC121C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62472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D89ABC7-454A-369A-81A0-BBADF985F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EF044577-D6E1-C681-2B21-835F619012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12A410-961A-B825-3A69-48A1A8C9A1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37816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A6D321C9-5478-74A7-5D68-A8201EA00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3ED02FE2-CC03-DC86-7FCC-F4CC26A600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81BFE06D-BCE4-EE19-D91B-FE54F29154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30173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726B77D8-4C82-05D0-C278-BA56295C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A3ED94DB-CCFA-E16A-C370-5E038A0DEB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986789B5-11F8-1220-0589-4CB528C217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41478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9931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ec2" TargetMode="External"/><Relationship Id="rId7" Type="http://schemas.openxmlformats.org/officeDocument/2006/relationships/hyperlink" Target="https://cncf.io/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nginx.org/" TargetMode="External"/><Relationship Id="rId5" Type="http://schemas.openxmlformats.org/officeDocument/2006/relationships/hyperlink" Target="https://netlify.com/" TargetMode="External"/><Relationship Id="rId4" Type="http://schemas.openxmlformats.org/officeDocument/2006/relationships/hyperlink" Target="https://firebase.google.com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514350" y="751231"/>
            <a:ext cx="8250688" cy="3985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2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ENGINEERING</a:t>
            </a:r>
            <a:endParaRPr sz="105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36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Department </a:t>
            </a:r>
            <a:r>
              <a:rPr lang="en-US" sz="36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Of Computer Science &amp; Engineering</a:t>
            </a:r>
            <a:endParaRPr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Bachelor of Computer Science </a:t>
            </a:r>
            <a:r>
              <a:rPr lang="en-US" sz="2000" b="0" i="0" u="none" strike="noStrike" cap="none" baseline="30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6th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Semester</a:t>
            </a:r>
            <a:endParaRPr lang="en-US" baseline="30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1" dirty="0"/>
              <a:t>Full Stack Development – II</a:t>
            </a:r>
          </a:p>
          <a:p>
            <a:pPr lvl="0"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</a:t>
            </a:r>
            <a:r>
              <a:rPr lang="en-GB" sz="24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23CSH-309/23ITH-309</a:t>
            </a:r>
            <a:r>
              <a:rPr lang="en-GB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)</a:t>
            </a:r>
            <a:endParaRPr lang="en-GB" sz="16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3                     Chapter No.3                    Lecture No. 3 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</a:t>
            </a:r>
            <a:r>
              <a:rPr lang="en-GB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Cloud: AWS EC2 deployment, Firebase/Netlify hosting, Load Balancing basics</a:t>
            </a: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Er. Tushar Sood (E18319)                                                       Technical Trainer(CSE)</a:t>
            </a:r>
            <a:endParaRPr lang="en-US" sz="32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2026-27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sp>
        <p:nvSpPr>
          <p:cNvPr id="13" name="Rectangle 10">
            <a:extLst>
              <a:ext uri="{FF2B5EF4-FFF2-40B4-BE49-F238E27FC236}">
                <a16:creationId xmlns:a16="http://schemas.microsoft.com/office/drawing/2014/main" id="{FDFB5912-E799-63B5-2CF1-182A365BA2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37893" y="1002090"/>
            <a:ext cx="8655683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 the role of AWS EC2 as an IaaS compute platform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Describe end-to-end deployment steps on EC2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Explain Firebase/Netlify hosting for front-end apps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Understand continuous hosting and CDN-backed distribution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Explain load balancing principles in distributed systems</a:t>
            </a: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endParaRPr lang="en-GB" altLang="en-US" sz="1800" dirty="0">
              <a:solidFill>
                <a:schemeClr val="bg2"/>
              </a:solidFill>
              <a:latin typeface="+mj-lt"/>
            </a:endParaRPr>
          </a:p>
          <a:p>
            <a:pPr marL="34290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GB" altLang="en-US" sz="1800" dirty="0">
                <a:solidFill>
                  <a:schemeClr val="bg2"/>
                </a:solidFill>
                <a:latin typeface="+mj-lt"/>
              </a:rPr>
              <a:t>Recognize how load balancers support scalability and resilience</a:t>
            </a:r>
          </a:p>
        </p:txBody>
      </p:sp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9A4CEF4-12CF-768B-A34D-158E7C86A758}"/>
              </a:ext>
            </a:extLst>
          </p:cNvPr>
          <p:cNvGrpSpPr/>
          <p:nvPr/>
        </p:nvGrpSpPr>
        <p:grpSpPr>
          <a:xfrm>
            <a:off x="562290" y="258121"/>
            <a:ext cx="8277101" cy="571932"/>
            <a:chOff x="0" y="6299"/>
            <a:chExt cx="5580934" cy="57193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F07FB58-ECE4-103C-FAE0-D4F3B657187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622E3EC-0CED-9721-7595-ED925977BC7E}"/>
                </a:ext>
              </a:extLst>
            </p:cNvPr>
            <p:cNvSpPr txBox="1"/>
            <p:nvPr/>
          </p:nvSpPr>
          <p:spPr>
            <a:xfrm>
              <a:off x="0" y="17703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2800" b="1" dirty="0"/>
                <a:t>Cloud: EC2 Deployment, Firebase/Netlify Hosting, Load Balancing Basics</a:t>
              </a:r>
            </a:p>
          </p:txBody>
        </p:sp>
      </p:grp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BC685EF9-A30D-D2E6-4A85-FB96E46BDA9B}"/>
              </a:ext>
            </a:extLst>
          </p:cNvPr>
          <p:cNvSpPr txBox="1"/>
          <p:nvPr/>
        </p:nvSpPr>
        <p:spPr>
          <a:xfrm>
            <a:off x="538828" y="1215543"/>
            <a:ext cx="8212722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</a:rPr>
              <a:t>Modern software applications increasingly rely on cloud computing platforms to deliver scalable, resilient, and globally available services.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</a:rPr>
              <a:t>AWS EC2 supports infrastructure-level deployment, Firebase/Netlify provide application-level hosting for front-end workloads, and load balancing distributes traffic to ensure availability, performance, and fault tolerance.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4000" b="1" dirty="0"/>
                <a:t>Cloud Computing Context</a:t>
              </a:r>
              <a:endParaRPr lang="en-GB" sz="40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A9B100B-BAD8-99A1-3211-6CBBD09F11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6312" y="1173820"/>
            <a:ext cx="8608933" cy="3751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Cloud computing delivers on-demand virtualized resources—compute, networking, and storage—without owning physical hardware.</a:t>
            </a:r>
          </a:p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It shifts organizations from capital expense to operational expense, enabling elasticity, automation, and global reach.</a:t>
            </a:r>
          </a:p>
          <a:p>
            <a:pPr>
              <a:lnSpc>
                <a:spcPct val="150000"/>
              </a:lnSpc>
              <a:buClr>
                <a:schemeClr val="bg2"/>
              </a:buClr>
              <a:buFont typeface="Wingdings" panose="05000000000000000000" pitchFamily="2" charset="2"/>
              <a:buChar char="Ø"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EC2, Firebase, and Netlify represent different abstraction layers in cloud service delivery.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56E8FA8-F249-C626-9A2A-5303493A7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2AE1993-3560-B405-9A64-1F5441A95187}"/>
              </a:ext>
            </a:extLst>
          </p:cNvPr>
          <p:cNvGrpSpPr/>
          <p:nvPr/>
        </p:nvGrpSpPr>
        <p:grpSpPr>
          <a:xfrm>
            <a:off x="716203" y="218172"/>
            <a:ext cx="8309042" cy="505840"/>
            <a:chOff x="-45755" y="6299"/>
            <a:chExt cx="5626689" cy="5058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5EC770A8-F6D2-47B9-8533-6B1C3550D9E3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5758EC1-71BF-6F91-2A67-DBAFE801FC4C}"/>
                </a:ext>
              </a:extLst>
            </p:cNvPr>
            <p:cNvSpPr txBox="1"/>
            <p:nvPr/>
          </p:nvSpPr>
          <p:spPr>
            <a:xfrm>
              <a:off x="-45755" y="1109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Introduction to AWS EC2</a:t>
              </a:r>
              <a:endParaRPr lang="en-GB" sz="40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A844D22-2F71-F245-5A5A-3BE72C48AB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6203" y="1025138"/>
            <a:ext cx="8001000" cy="3531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indent="0">
              <a:lnSpc>
                <a:spcPct val="100000"/>
              </a:lnSpc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Amazon EC2 is an Infrastructure-as-a-Service (IaaS) platform offering virtual machine instances.</a:t>
            </a:r>
          </a:p>
          <a:p>
            <a:pPr marL="76200" indent="0">
              <a:lnSpc>
                <a:spcPct val="100000"/>
              </a:lnSpc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</a:endParaRPr>
          </a:p>
          <a:p>
            <a:pPr marL="76200" indent="0">
              <a:lnSpc>
                <a:spcPct val="100000"/>
              </a:lnSpc>
              <a:buClr>
                <a:schemeClr val="bg2"/>
              </a:buClr>
              <a:buNone/>
            </a:pPr>
            <a:r>
              <a:rPr lang="en-GB" sz="1600" b="1" dirty="0">
                <a:solidFill>
                  <a:schemeClr val="bg2"/>
                </a:solidFill>
                <a:latin typeface="+mj-lt"/>
              </a:rPr>
              <a:t>It allows users to:</a:t>
            </a:r>
            <a:endParaRPr lang="en-GB" sz="1600" dirty="0">
              <a:solidFill>
                <a:schemeClr val="bg2"/>
              </a:solidFill>
              <a:latin typeface="+mj-lt"/>
            </a:endParaRPr>
          </a:p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Provision compute resources</a:t>
            </a:r>
          </a:p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Choose OS images</a:t>
            </a:r>
          </a:p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Configure networking and firewalls</a:t>
            </a:r>
          </a:p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Deploy workloads with full administrative control</a:t>
            </a:r>
          </a:p>
          <a:p>
            <a:pPr>
              <a:lnSpc>
                <a:spcPct val="100000"/>
              </a:lnSpc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</a:endParaRPr>
          </a:p>
          <a:p>
            <a:pPr marL="76200" indent="0">
              <a:lnSpc>
                <a:spcPct val="100000"/>
              </a:lnSpc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</a:rPr>
              <a:t>EC2 resembles renting a server on-demand in global AWS </a:t>
            </a:r>
            <a:r>
              <a:rPr lang="en-GB" sz="1600" dirty="0" err="1">
                <a:solidFill>
                  <a:schemeClr val="bg2"/>
                </a:solidFill>
                <a:latin typeface="+mj-lt"/>
              </a:rPr>
              <a:t>datacenters</a:t>
            </a:r>
            <a:r>
              <a:rPr lang="en-GB" sz="1600" dirty="0">
                <a:solidFill>
                  <a:schemeClr val="bg2"/>
                </a:solidFill>
                <a:latin typeface="+mj-lt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9FB057-F3EB-52F1-A311-94BE471F3AB3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298368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178EC9D-3AF2-FF46-AE40-8AADB0C03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4FFF226-09D2-BD23-5ADA-FDF121AE7076}"/>
              </a:ext>
            </a:extLst>
          </p:cNvPr>
          <p:cNvGrpSpPr/>
          <p:nvPr/>
        </p:nvGrpSpPr>
        <p:grpSpPr>
          <a:xfrm>
            <a:off x="751718" y="393764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DBFAAD7-33FB-3AC6-1B1A-504C8E53D5E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945FE62-323F-F949-9208-8982D26D5CB9}"/>
                </a:ext>
              </a:extLst>
            </p:cNvPr>
            <p:cNvSpPr txBox="1"/>
            <p:nvPr/>
          </p:nvSpPr>
          <p:spPr>
            <a:xfrm>
              <a:off x="0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3600" b="1" dirty="0"/>
                <a:t>EC2 Instance Lifecycle Concepts</a:t>
              </a:r>
              <a:endParaRPr lang="en-GB" sz="36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AA2D43A7-B4AC-7396-B002-904551AF78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71500" y="1173022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EC2 lifecycle involves: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Selecting AMIs (Amazon Machine Images)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Choosing instance types (CPU/RAM variations)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Key-pair authentication via SSH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Security Groups for inbound/outbound rules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Elastic IP allocation for static addressing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Lifecycle standardization enables repeatable deployments.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159C79-7AC0-4E46-EB54-6E995667A62D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964EB89-B350-5658-4193-6D077B5D19AD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96E4E321-561E-07CE-DCD2-94E9FE5C81A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06259B5-2280-84B6-86A6-C84A7685C9DE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48195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DC29400-89C7-6A6F-FDCC-3A14F1359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A1E0372-C71E-C8FF-EA68-B3A001392437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5826B79-33D3-443A-614A-6F6AA9F0633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91F2A5D-F5A3-D823-AC38-7E68C89292D0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3600" b="1" dirty="0"/>
                <a:t>Steps in EC2 Deployment</a:t>
              </a:r>
              <a:endParaRPr lang="en-GB" sz="36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E83A1FA8-10FE-2D4E-39EB-872A7BDF53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F4C3EC31-8B8F-E5E5-4108-1157654D8404}"/>
              </a:ext>
            </a:extLst>
          </p:cNvPr>
          <p:cNvSpPr txBox="1"/>
          <p:nvPr/>
        </p:nvSpPr>
        <p:spPr>
          <a:xfrm>
            <a:off x="815820" y="1008955"/>
            <a:ext cx="8342867" cy="3785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600" b="1" dirty="0">
                <a:solidFill>
                  <a:schemeClr val="bg2"/>
                </a:solidFill>
              </a:rPr>
              <a:t>A typical EC2 deployment includes:</a:t>
            </a:r>
          </a:p>
          <a:p>
            <a:endParaRPr lang="en-IN" sz="1600" dirty="0">
              <a:solidFill>
                <a:schemeClr val="bg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2"/>
                </a:solidFill>
              </a:rPr>
              <a:t>Provision instance from console</a:t>
            </a:r>
          </a:p>
          <a:p>
            <a:pPr marL="342900" indent="-342900">
              <a:buFont typeface="+mj-lt"/>
              <a:buAutoNum type="arabicPeriod"/>
            </a:pPr>
            <a:endParaRPr lang="en-IN" sz="1600" dirty="0">
              <a:solidFill>
                <a:schemeClr val="bg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2"/>
                </a:solidFill>
              </a:rPr>
              <a:t>Assign networking (VPC/Subnet/Security Groups)</a:t>
            </a:r>
          </a:p>
          <a:p>
            <a:pPr marL="342900" indent="-342900">
              <a:buFont typeface="+mj-lt"/>
              <a:buAutoNum type="arabicPeriod"/>
            </a:pPr>
            <a:endParaRPr lang="en-IN" sz="1600" dirty="0">
              <a:solidFill>
                <a:schemeClr val="bg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2"/>
                </a:solidFill>
              </a:rPr>
              <a:t>Connect via SSH for configuration</a:t>
            </a:r>
          </a:p>
          <a:p>
            <a:pPr marL="342900" indent="-342900">
              <a:buFont typeface="+mj-lt"/>
              <a:buAutoNum type="arabicPeriod"/>
            </a:pPr>
            <a:endParaRPr lang="en-IN" sz="1600" dirty="0">
              <a:solidFill>
                <a:schemeClr val="bg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2"/>
                </a:solidFill>
              </a:rPr>
              <a:t>Install runtime (JDK, Node.js, Python, etc.)</a:t>
            </a:r>
          </a:p>
          <a:p>
            <a:pPr marL="342900" indent="-342900">
              <a:buFont typeface="+mj-lt"/>
              <a:buAutoNum type="arabicPeriod"/>
            </a:pPr>
            <a:endParaRPr lang="en-IN" sz="1600" dirty="0">
              <a:solidFill>
                <a:schemeClr val="bg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2"/>
                </a:solidFill>
              </a:rPr>
              <a:t>Deploy artifact (JAR, static build, container)</a:t>
            </a:r>
          </a:p>
          <a:p>
            <a:pPr marL="342900" indent="-342900">
              <a:buFont typeface="+mj-lt"/>
              <a:buAutoNum type="arabicPeriod"/>
            </a:pPr>
            <a:endParaRPr lang="en-IN" sz="1600" dirty="0">
              <a:solidFill>
                <a:schemeClr val="bg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sz="1600" dirty="0">
                <a:solidFill>
                  <a:schemeClr val="bg2"/>
                </a:solidFill>
              </a:rPr>
              <a:t>Expose HTTP ports and configure DNS</a:t>
            </a:r>
          </a:p>
          <a:p>
            <a:endParaRPr lang="en-IN" sz="1600" dirty="0">
              <a:solidFill>
                <a:schemeClr val="bg2"/>
              </a:solidFill>
            </a:endParaRPr>
          </a:p>
          <a:p>
            <a:r>
              <a:rPr lang="en-IN" sz="1600" dirty="0">
                <a:solidFill>
                  <a:schemeClr val="bg2"/>
                </a:solidFill>
              </a:rPr>
              <a:t>This mirrors traditional server hosting, but fully virtualized.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1F94B-4381-9960-700F-E0E3150A5671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C4CD5BA6-C07A-1DF8-879C-A5E9C3432C02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88EBE040-CA66-B9AA-D219-417CCA8CD72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002F189B-2F78-0FBE-9BE2-5FCCD02BA85A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51312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72A88FF-C2A5-683D-561C-EFAF56ECA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45071BEF-D2A7-68A3-5BA7-D6438A23D703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0B64E7A8-8EF9-4382-FA8E-C7945FFE7E0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FACA1E50-E05A-204F-D4E4-603E7A29B694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GB" sz="3200" b="1" dirty="0"/>
                <a:t>Security Controls in EC2 Deployment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854232F-5606-3B82-0B77-0706E417AA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4AECE7E0-D084-E285-0202-F50F4E83611A}"/>
              </a:ext>
            </a:extLst>
          </p:cNvPr>
          <p:cNvSpPr txBox="1"/>
          <p:nvPr/>
        </p:nvSpPr>
        <p:spPr>
          <a:xfrm>
            <a:off x="571500" y="1171387"/>
            <a:ext cx="80010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1600" b="1" dirty="0">
                <a:solidFill>
                  <a:schemeClr val="bg2"/>
                </a:solidFill>
              </a:rPr>
              <a:t>Security is enforced using:</a:t>
            </a:r>
          </a:p>
          <a:p>
            <a:endParaRPr lang="en-GB" sz="16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</a:rPr>
              <a:t>Security Groups (virtual firewalls)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</a:rPr>
              <a:t>IAM roles restricting machine privileges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</a:rPr>
              <a:t>Least-privilege access policies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bg2"/>
                </a:solidFill>
              </a:rPr>
              <a:t>Key-pair based login replacing passwords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bg2"/>
              </a:solidFill>
            </a:endParaRPr>
          </a:p>
          <a:p>
            <a:r>
              <a:rPr lang="en-GB" sz="1600" dirty="0">
                <a:solidFill>
                  <a:schemeClr val="bg2"/>
                </a:solidFill>
              </a:rPr>
              <a:t>Security governance is crucial because cloud-exposed servers become internet-addressable attack surfaces.</a:t>
            </a:r>
            <a:endParaRPr lang="en-IN" sz="1600" dirty="0">
              <a:solidFill>
                <a:schemeClr val="bg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B8FCBC-4440-BCD1-D2BD-8D1B0D8B0DA4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9EC5D87B-A270-6DD8-4D46-2B86625EE10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0A95BA47-5736-BC82-F4CC-35D51C1BE42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EA40291A-0D19-D650-98E9-84EC50205B88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2050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5A79C876-8596-E374-F632-D96C3C2DA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D022427D-7469-F8A2-B956-734E55019692}"/>
              </a:ext>
            </a:extLst>
          </p:cNvPr>
          <p:cNvGrpSpPr/>
          <p:nvPr/>
        </p:nvGrpSpPr>
        <p:grpSpPr>
          <a:xfrm>
            <a:off x="783770" y="21817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1DAC577C-E326-12F9-00BE-7D13441ABB6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358F8D3-40A5-3040-A95E-D1B4BC09296D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Front-End Hosting in Cloud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2974D6E5-4183-16B6-613D-2513664F9F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832C02CE-8E7F-C759-06BD-366202BC0548}"/>
              </a:ext>
            </a:extLst>
          </p:cNvPr>
          <p:cNvSpPr txBox="1"/>
          <p:nvPr/>
        </p:nvSpPr>
        <p:spPr>
          <a:xfrm>
            <a:off x="894203" y="1153017"/>
            <a:ext cx="8249797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sz="1600" b="1" dirty="0">
                <a:solidFill>
                  <a:schemeClr val="bg2"/>
                </a:solidFill>
              </a:rPr>
              <a:t>Modern SPAs require:</a:t>
            </a:r>
          </a:p>
          <a:p>
            <a:endParaRPr lang="en-IN" sz="16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</a:rPr>
              <a:t>CDN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</a:rPr>
              <a:t>Low-latency global 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</a:rPr>
              <a:t>HTTPS certificates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bg2"/>
                </a:solidFill>
              </a:rPr>
              <a:t>Continuous hosting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>
              <a:solidFill>
                <a:schemeClr val="bg2"/>
              </a:solidFill>
            </a:endParaRPr>
          </a:p>
          <a:p>
            <a:r>
              <a:rPr lang="en-IN" sz="1600" dirty="0">
                <a:solidFill>
                  <a:schemeClr val="bg2"/>
                </a:solidFill>
              </a:rPr>
              <a:t>Platforms like Firebase and Netlify provide fully managed hosting layers eliminating server administration.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754E23-92AA-64E2-FB10-68E16949A7E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2F6826A5-78ED-9861-4B61-7E7B76DEC999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1EF02D29-70F3-3CA0-420E-6A0F5A4057F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9D885FB-908B-8510-32A9-53D10647CCA7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19735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3EE90CA-44A2-145C-4FAE-3CC32C14AF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2E2E8708-715E-5880-FFFB-DA34E4925BD6}"/>
              </a:ext>
            </a:extLst>
          </p:cNvPr>
          <p:cNvGrpSpPr/>
          <p:nvPr/>
        </p:nvGrpSpPr>
        <p:grpSpPr>
          <a:xfrm>
            <a:off x="652101" y="308954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6D691364-EFD0-2D9F-5866-4C7B91B20487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7805727D-B8EA-DBCD-C854-C2EBCC631473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3600" b="1" dirty="0"/>
                <a:t>Firebase Hosting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17A9FDA0-49B6-4954-2D0C-A01F69EF7B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5820" y="1295890"/>
            <a:ext cx="8177373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Firebase Hosting is a Google-backed static and dynamic hosting service designed for front-end frameworks.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Key capabilities: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Automatic HTTPS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CDN-backed edges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Integrated authentication rules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Atomic site deployments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It supports rapid deployment of React, Angular, Vue, and PWAs.</a:t>
            </a:r>
            <a:endParaRPr sz="1600" b="0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A84EE9-D937-17F8-8B5E-E50C3BB257F5}"/>
              </a:ext>
            </a:extLst>
          </p:cNvPr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D55CA380-5370-5933-21CC-2E4197E96008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16261BD-C998-8D71-6D28-2AA8554237A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DBD15C4C-4BCE-B2F9-EB24-983A34345AAB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358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5C3FEDA-1C24-D77D-3D76-B501337D2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336479E8-4ADB-A2C8-7FFA-3423117946F8}"/>
              </a:ext>
            </a:extLst>
          </p:cNvPr>
          <p:cNvGrpSpPr/>
          <p:nvPr/>
        </p:nvGrpSpPr>
        <p:grpSpPr>
          <a:xfrm>
            <a:off x="593724" y="278362"/>
            <a:ext cx="8241475" cy="564040"/>
            <a:chOff x="0" y="6299"/>
            <a:chExt cx="5580934" cy="56404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9C096D61-E8CC-BCFF-36D6-E110D615EF3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CFA3818-57F4-A9F3-0325-DF6BD6DE9066}"/>
                </a:ext>
              </a:extLst>
            </p:cNvPr>
            <p:cNvSpPr txBox="1"/>
            <p:nvPr/>
          </p:nvSpPr>
          <p:spPr>
            <a:xfrm>
              <a:off x="0" y="169147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3600" b="1" dirty="0"/>
                <a:t>Netlify CI-Style Deployment</a:t>
              </a:r>
              <a:endParaRPr lang="en-GB" sz="36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E3DC9D6-FC96-9049-4400-B750C78D7F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503642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85D4BD8-D608-CF84-4402-910908E63E23}"/>
              </a:ext>
            </a:extLst>
          </p:cNvPr>
          <p:cNvSpPr txBox="1"/>
          <p:nvPr/>
        </p:nvSpPr>
        <p:spPr>
          <a:xfrm>
            <a:off x="757500" y="1265298"/>
            <a:ext cx="8318136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1800" b="1" dirty="0"/>
              <a:t>Netlify monitors Git repositories:</a:t>
            </a:r>
          </a:p>
          <a:p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On every push, it rebuilds the 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Applies environment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800" dirty="0"/>
              <a:t>Publishes to CDN edge network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800" dirty="0"/>
          </a:p>
          <a:p>
            <a:r>
              <a:rPr lang="en-GB" sz="1800" dirty="0"/>
              <a:t>This creates transparent CI/CD for front-end deployments without needing Docker or servers.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2330D0-2BDA-72C1-1B10-F20D89A6596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E07CB556-7321-E168-C4F7-A9452CB089DF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2CEED89F-6A08-93BA-90AA-D633EB496EE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AB85F620-883C-1A9D-10AC-ECD4CCE28151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707900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4881312-8C34-11D8-A0D1-FDC73B35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FB77EF3-ED72-3523-B555-000DAE4F3E3C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413BF18-54E0-F7D8-FB94-DBB30127E4F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4A1805F4-1C2C-6914-B520-7BBFCEDC25F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Netlify Hosting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71CDE13-0AA7-94B4-A34B-5D2A3CC300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3768" y="1194726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Netlify provides </a:t>
            </a:r>
            <a:r>
              <a:rPr lang="en-GB" sz="1600" dirty="0" err="1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JAMstack</a:t>
            </a: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 hosting, focusing on decoupled front-ends powered by static files and API backends.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b="1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It offers: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Git-based deployments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Build automation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Domain management and TLS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Instant rollback and preview environments</a:t>
            </a: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Netlify suits iterative UI delivery.</a:t>
            </a:r>
            <a:endParaRPr sz="1600" b="0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1459E1-7AF1-A55C-BDB6-D6202C2488AF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11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7B990DCC-ED35-C11B-FB01-016307CF15E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F960A93-B946-DCAB-25E9-3CE87675CE2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E8EA1C90-A413-9C71-2F44-E4AE3A90F17F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3382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C765F80-1F94-ABEF-81ED-5189B8ED1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C68C85E-3B9A-0625-434B-8D0553ED39BA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93B8D9BB-BA0C-50F8-7656-D2E6F1C45270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3F3A65F1-2E6F-181F-BFD3-555631C3FD86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IN" sz="4000" b="1" dirty="0"/>
                <a:t>Netlify CI-Style Deployment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34FFDFD1-FB16-009B-D769-0F031005D6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271158"/>
            <a:ext cx="8001000" cy="3065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B527CC-6D8D-1A50-603C-0776132DEEB8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12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59DD73EB-9078-80FC-F64B-EAA84B2BFBA9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31A579B8-D92C-8182-F84F-485D52B7E1D8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7B19319B-B601-D623-A91F-520A6F2C954D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9534126-9296-5CBF-62E9-0D9A78422F15}"/>
              </a:ext>
            </a:extLst>
          </p:cNvPr>
          <p:cNvSpPr txBox="1"/>
          <p:nvPr/>
        </p:nvSpPr>
        <p:spPr>
          <a:xfrm>
            <a:off x="783768" y="1353015"/>
            <a:ext cx="7974732" cy="30013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b="1" dirty="0"/>
              <a:t>Netlify monitors Git repositories:</a:t>
            </a:r>
          </a:p>
          <a:p>
            <a:pPr>
              <a:lnSpc>
                <a:spcPct val="150000"/>
              </a:lnSpc>
            </a:pPr>
            <a:endParaRPr lang="en-GB" sz="16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On every push, it rebuilds the site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Applies environment configuration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/>
              <a:t>Publishes to CDN edge network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1600" dirty="0"/>
          </a:p>
          <a:p>
            <a:pPr>
              <a:lnSpc>
                <a:spcPct val="150000"/>
              </a:lnSpc>
            </a:pPr>
            <a:r>
              <a:rPr lang="en-GB" sz="1600" dirty="0"/>
              <a:t>This creates transparent CI/CD for front-end deployments without needing Docker or servers.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7610055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3F45145-E73B-FD94-CA99-14803F72A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13DBCE09-EDB8-6011-2DC0-70F42438823D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B6F71F62-3E21-D55A-3312-FF9FBF676185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0F7FD72D-8F4B-FD20-94D3-FCC5DBE49AD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GB" sz="3600" b="1" dirty="0"/>
                <a:t>Why Use Managed Front-End Hosting?</a:t>
              </a:r>
              <a:endParaRPr lang="en-IN" sz="36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548CF0B4-3F1A-EC03-4387-21E2E743BC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GB"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CF2803-4CDF-C481-6798-88D4B004C084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13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42C23A8A-99EB-10B8-F7A7-4E8F856A7B00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1E261A4A-47C5-DE5E-127C-8240ECEF80D6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24D7E7EB-8E9E-7840-22A6-3FF10898E1F4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D6CB4AB-F549-56EF-A98C-AF305175D7A1}"/>
              </a:ext>
            </a:extLst>
          </p:cNvPr>
          <p:cNvSpPr txBox="1"/>
          <p:nvPr/>
        </p:nvSpPr>
        <p:spPr>
          <a:xfrm>
            <a:off x="952647" y="1173022"/>
            <a:ext cx="780585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Advantages include: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No operating system patching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Content delivered from global POPs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Inherent DDoS-resistant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SSL without manual provisioning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Speed improvements due to edge caching</a:t>
            </a:r>
          </a:p>
          <a:p>
            <a:endParaRPr lang="en-IN" sz="1600" dirty="0"/>
          </a:p>
          <a:p>
            <a:r>
              <a:rPr lang="en-IN" sz="1600" dirty="0"/>
              <a:t>These platforms embody cloud-native delivery acceleration.</a:t>
            </a:r>
          </a:p>
        </p:txBody>
      </p:sp>
    </p:spTree>
    <p:extLst>
      <p:ext uri="{BB962C8B-B14F-4D97-AF65-F5344CB8AC3E}">
        <p14:creationId xmlns:p14="http://schemas.microsoft.com/office/powerpoint/2010/main" val="397805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385BD9E5-4609-8B08-90E8-CBF3235EC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02D107F1-4BCA-03B7-1690-952B95AF5619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FBECDFBB-9018-50AA-3C25-42E9F63B05F0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8B6DE5DC-109F-A6E7-C48F-5D9158C91846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4000" b="1" dirty="0"/>
                <a:t>Load Balancing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29C40CA9-9EB3-1662-65F1-776A40FFBF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GB"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DCDA8C-3135-CDE0-6B35-20ABCBC057B7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14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99CBA787-F266-BBB6-E9B4-83191659804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D19C1E62-85DE-A107-0534-B2243D688EAC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6ABA4DAE-C275-59C5-2318-D900981CFAB2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34164F5-DB65-9375-A8A1-B3E96C4FF8EC}"/>
              </a:ext>
            </a:extLst>
          </p:cNvPr>
          <p:cNvSpPr txBox="1"/>
          <p:nvPr/>
        </p:nvSpPr>
        <p:spPr>
          <a:xfrm>
            <a:off x="669073" y="1194726"/>
            <a:ext cx="7805853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Load balancing distributes incoming traffic across multiple backend servers.</a:t>
            </a:r>
          </a:p>
          <a:p>
            <a:endParaRPr lang="en-GB" sz="1600" dirty="0"/>
          </a:p>
          <a:p>
            <a:r>
              <a:rPr lang="en-GB" sz="1600" b="1" dirty="0"/>
              <a:t>Purpose: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Prevent overload on single machine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Ensure high availability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Improve response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Gracefully handle node failures</a:t>
            </a:r>
          </a:p>
          <a:p>
            <a:endParaRPr lang="en-GB" sz="1600" dirty="0"/>
          </a:p>
          <a:p>
            <a:r>
              <a:rPr lang="en-GB" sz="1600" dirty="0"/>
              <a:t>Balancers are vital in horizontally scalable systems.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847410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DEB14687-5CDE-9D79-1382-22ED66A07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397D6A29-2198-F844-92C2-C709A90012C7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9648AE5-9489-356D-D052-2D24C722D27D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9F0B7BCB-B0BB-B0ED-BEB5-87DB7DD30A9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3600" b="1" dirty="0"/>
                <a:t>Load Balancing Design Principles</a:t>
              </a:r>
              <a:endParaRPr lang="en-GB" sz="36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A16B703A-D62D-C472-258D-4BA41AC9EC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GB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GB"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262092-41C8-C142-2FE1-6E852B07B0BB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15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AD5A2FCE-7E70-F6B0-5A76-3EEDAE8C0054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02502E25-32E1-50C0-613C-86D2963EEB30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4E93DA02-959E-7CD1-58B6-AAFA110E896E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1C122D9-BDC6-4AEB-827D-8FBB83FE1E97}"/>
              </a:ext>
            </a:extLst>
          </p:cNvPr>
          <p:cNvSpPr txBox="1"/>
          <p:nvPr/>
        </p:nvSpPr>
        <p:spPr>
          <a:xfrm>
            <a:off x="815818" y="1323746"/>
            <a:ext cx="794268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Core principles include: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Distribution algorithms (Round-Robin, Least-Connections)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Health checks removing failed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Session persistence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Failover 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r>
              <a:rPr lang="en-GB" sz="1600" dirty="0"/>
              <a:t>Balancers maintain predictability under dynamic workloads.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929635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77003F3B-AC7B-2279-B488-7C216C898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E4212B7-3826-9B25-9781-00FD281464B9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A16F05F-B184-F828-B8F3-5EFBC16B1F1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C3B43AF0-BA0D-7009-CC17-2E46F405C85C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3600" b="1" dirty="0"/>
                <a:t>Elasticity and Auto-Scaling Synergy</a:t>
              </a:r>
              <a:endParaRPr lang="en-GB" sz="3600" b="1" dirty="0"/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8F1A554-BE87-6C3A-8BCA-EC1086CD84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3768" y="1288209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Load balancers integrate with auto-scaling groups to:</a:t>
            </a: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None/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Expand server pools under high traffic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Shrink capacity during idle periods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Maintain SLA compliance</a:t>
            </a:r>
          </a:p>
          <a:p>
            <a:pPr marL="285750" indent="-28575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</a:pPr>
            <a:endParaRPr lang="en-GB" sz="1600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  <a:p>
            <a:pPr marL="0" lvl="0" indent="0" algn="just">
              <a:lnSpc>
                <a:spcPct val="150000"/>
              </a:lnSpc>
              <a:spcBef>
                <a:spcPts val="0"/>
              </a:spcBef>
              <a:buClr>
                <a:schemeClr val="bg2"/>
              </a:buClr>
              <a:buNone/>
            </a:pPr>
            <a:r>
              <a:rPr lang="en-GB" sz="1600" dirty="0">
                <a:solidFill>
                  <a:schemeClr val="bg2"/>
                </a:solidFill>
                <a:latin typeface="+mj-lt"/>
                <a:ea typeface="Times New Roman"/>
                <a:cs typeface="Times New Roman"/>
                <a:sym typeface="Times New Roman"/>
              </a:rPr>
              <a:t>This is foundational for cost-optimized DC/Cloud economics.</a:t>
            </a:r>
            <a:endParaRPr lang="en-GB" sz="1600" b="0" i="0" u="none" dirty="0">
              <a:solidFill>
                <a:schemeClr val="bg2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F8D8D1-AD88-3879-6A28-295E9ECBD8D0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16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A7271B37-7F92-DB62-988B-AFDC2E15F25B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029ED1E6-759E-8AE1-88F2-192DDA1DE27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91B50411-354C-D52E-66F3-3E10F216A7A6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7429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1CF4D93C-86FE-B067-D449-ED35A2840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5C61ECD-7491-191E-06B1-5A9EFC8C6F83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6D2A74FE-488E-0C62-3209-4947C2E6E8A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5BA4E6EE-A5F5-AF69-E0EC-999F0DF8784D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IN" sz="3600" b="1" dirty="0"/>
                <a:t>Types of Load Balancers</a:t>
              </a:r>
              <a:endParaRPr lang="en-GB" sz="3600" b="1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424213C-54F0-C332-6FA2-A663248655D3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17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FDBE6A88-5191-7881-1730-C89E1DDC9595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5DD8AA66-C9C2-5E1A-2A77-266AC85D62D7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A97225F0-DAFB-D2AE-07A6-ED0F93D48966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7A88902-E04D-9570-2EBD-886C26C6B227}"/>
              </a:ext>
            </a:extLst>
          </p:cNvPr>
          <p:cNvSpPr txBox="1"/>
          <p:nvPr/>
        </p:nvSpPr>
        <p:spPr>
          <a:xfrm>
            <a:off x="1193800" y="1457359"/>
            <a:ext cx="7213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/>
              <a:t>Broad categories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Layer 4 (Transport-Level Balancers) </a:t>
            </a:r>
            <a:r>
              <a:rPr lang="en-IN" sz="1600" dirty="0"/>
              <a:t>– TCP/UDP 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Layer 7 (Application-Level Balancers)</a:t>
            </a:r>
            <a:r>
              <a:rPr lang="en-IN" sz="1600" dirty="0"/>
              <a:t> – HTTP/HTTPS routing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Hardware vs Software balancers</a:t>
            </a:r>
          </a:p>
          <a:p>
            <a:endParaRPr lang="en-IN" sz="1600" b="1" dirty="0"/>
          </a:p>
          <a:p>
            <a:r>
              <a:rPr lang="en-IN" sz="1600" dirty="0"/>
              <a:t>Layer 7 provides content-based routing, authentication, and TLS termination.</a:t>
            </a:r>
          </a:p>
        </p:txBody>
      </p:sp>
    </p:spTree>
    <p:extLst>
      <p:ext uri="{BB962C8B-B14F-4D97-AF65-F5344CB8AC3E}">
        <p14:creationId xmlns:p14="http://schemas.microsoft.com/office/powerpoint/2010/main" val="17857984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A98A49C9-0A8A-DDE1-9879-936E5641A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016FE8-EDFC-FAF8-06F9-39B3E0A0AF09}"/>
              </a:ext>
            </a:extLst>
          </p:cNvPr>
          <p:cNvGrpSpPr/>
          <p:nvPr/>
        </p:nvGrpSpPr>
        <p:grpSpPr>
          <a:xfrm>
            <a:off x="783768" y="465789"/>
            <a:ext cx="8241475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37AAA08F-4895-FD11-DE33-EDC1A64355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2646E176-E917-50F7-504D-7D9FADD21513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/>
              <a:r>
                <a:rPr lang="en-GB" sz="3600" b="1" dirty="0"/>
                <a:t>Benefits of Load Balancing in Cloud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12A8522-248E-27A5-E1A0-8E00431BD1EA}"/>
              </a:ext>
            </a:extLst>
          </p:cNvPr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18</a:t>
            </a:r>
          </a:p>
        </p:txBody>
      </p:sp>
      <p:grpSp>
        <p:nvGrpSpPr>
          <p:cNvPr id="17" name="Google Shape;108;p2">
            <a:extLst>
              <a:ext uri="{FF2B5EF4-FFF2-40B4-BE49-F238E27FC236}">
                <a16:creationId xmlns:a16="http://schemas.microsoft.com/office/drawing/2014/main" id="{5B6F4A3A-2459-FEEF-E156-01F2FBC91E7E}"/>
              </a:ext>
            </a:extLst>
          </p:cNvPr>
          <p:cNvGrpSpPr/>
          <p:nvPr/>
        </p:nvGrpSpPr>
        <p:grpSpPr>
          <a:xfrm>
            <a:off x="815820" y="348934"/>
            <a:ext cx="8245053" cy="824088"/>
            <a:chOff x="-2423" y="6299"/>
            <a:chExt cx="5583357" cy="824088"/>
          </a:xfrm>
          <a:noFill/>
        </p:grpSpPr>
        <p:sp>
          <p:nvSpPr>
            <p:cNvPr id="18" name="Google Shape;109;p2">
              <a:extLst>
                <a:ext uri="{FF2B5EF4-FFF2-40B4-BE49-F238E27FC236}">
                  <a16:creationId xmlns:a16="http://schemas.microsoft.com/office/drawing/2014/main" id="{CF483E2F-E55D-AC3A-31A7-193822B8B9A1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9" name="Google Shape;110;p2">
              <a:extLst>
                <a:ext uri="{FF2B5EF4-FFF2-40B4-BE49-F238E27FC236}">
                  <a16:creationId xmlns:a16="http://schemas.microsoft.com/office/drawing/2014/main" id="{D9755EF0-9496-B7FB-C518-D986A1338C4A}"/>
                </a:ext>
              </a:extLst>
            </p:cNvPr>
            <p:cNvSpPr txBox="1"/>
            <p:nvPr/>
          </p:nvSpPr>
          <p:spPr>
            <a:xfrm>
              <a:off x="-2423" y="429195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766E15CC-310B-F9C4-2C34-260D8E3FB1CB}"/>
              </a:ext>
            </a:extLst>
          </p:cNvPr>
          <p:cNvSpPr txBox="1"/>
          <p:nvPr/>
        </p:nvSpPr>
        <p:spPr>
          <a:xfrm>
            <a:off x="1193800" y="1457359"/>
            <a:ext cx="72136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1" dirty="0"/>
              <a:t>Load balancing supports:</a:t>
            </a:r>
          </a:p>
          <a:p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Fault tolerance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Zero-downtime maintenance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Blue-Green and Canary releases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/>
              <a:t>Better user locality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/>
          </a:p>
          <a:p>
            <a:r>
              <a:rPr lang="en-GB" sz="1600" dirty="0"/>
              <a:t>Cloud architectures rely heavily on distributed demand management.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8647264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Quiz/ FAQ’s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2518" y="862360"/>
            <a:ext cx="8280399" cy="3850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6200" indent="0">
              <a:buNone/>
            </a:pPr>
            <a:r>
              <a:rPr lang="en-GB" sz="1200" b="1" dirty="0">
                <a:solidFill>
                  <a:schemeClr val="bg2"/>
                </a:solidFill>
                <a:latin typeface="+mj-lt"/>
              </a:rPr>
              <a:t>1. EC2 represents which cloud model?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A. SaaS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B. IaaS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C. PaaS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D. </a:t>
            </a:r>
            <a:r>
              <a:rPr lang="en-GB" sz="1200" dirty="0" err="1">
                <a:solidFill>
                  <a:schemeClr val="bg2"/>
                </a:solidFill>
                <a:latin typeface="+mj-lt"/>
              </a:rPr>
              <a:t>FaaS</a:t>
            </a:r>
            <a:endParaRPr lang="en-GB" sz="1200" dirty="0">
              <a:solidFill>
                <a:schemeClr val="bg2"/>
              </a:solidFill>
              <a:latin typeface="+mj-lt"/>
            </a:endParaRPr>
          </a:p>
          <a:p>
            <a:pPr marL="76200" indent="0">
              <a:buNone/>
            </a:pPr>
            <a:r>
              <a:rPr lang="en-GB" sz="1200" b="1" dirty="0">
                <a:solidFill>
                  <a:schemeClr val="bg2"/>
                </a:solidFill>
                <a:latin typeface="+mj-lt"/>
              </a:rPr>
              <a:t>Answer: B</a:t>
            </a:r>
          </a:p>
          <a:p>
            <a:pPr marL="76200" indent="0">
              <a:buNone/>
            </a:pPr>
            <a:endParaRPr lang="en-GB" sz="1200" b="1" dirty="0">
              <a:solidFill>
                <a:schemeClr val="bg2"/>
              </a:solidFill>
              <a:latin typeface="+mj-lt"/>
            </a:endParaRPr>
          </a:p>
          <a:p>
            <a:pPr marL="76200" indent="0">
              <a:buNone/>
            </a:pPr>
            <a:r>
              <a:rPr lang="en-GB" sz="1200" b="1" dirty="0">
                <a:solidFill>
                  <a:schemeClr val="bg2"/>
                </a:solidFill>
                <a:latin typeface="+mj-lt"/>
              </a:rPr>
              <a:t>2. Load balancers improve: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A. CSS styling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B. Compute distribution and availability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C. Client-side rendering</a:t>
            </a:r>
          </a:p>
          <a:p>
            <a:pPr marL="76200" indent="0">
              <a:buNone/>
            </a:pPr>
            <a:r>
              <a:rPr lang="en-GB" sz="1200" dirty="0">
                <a:solidFill>
                  <a:schemeClr val="bg2"/>
                </a:solidFill>
                <a:latin typeface="+mj-lt"/>
              </a:rPr>
              <a:t>D. RAM size</a:t>
            </a:r>
          </a:p>
          <a:p>
            <a:pPr marL="76200" indent="0">
              <a:buNone/>
            </a:pPr>
            <a:r>
              <a:rPr lang="en-GB" sz="1200" b="1" dirty="0">
                <a:solidFill>
                  <a:schemeClr val="bg2"/>
                </a:solidFill>
                <a:latin typeface="+mj-lt"/>
              </a:rPr>
              <a:t>Answer: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027036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608525" y="1232942"/>
            <a:ext cx="7606207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IN" dirty="0"/>
              <a:t>• AWS EC2 Architecture</a:t>
            </a:r>
            <a:br>
              <a:rPr lang="en-IN" dirty="0"/>
            </a:br>
            <a:r>
              <a:rPr lang="en-IN" dirty="0">
                <a:hlinkClick r:id="rId3"/>
              </a:rPr>
              <a:t>https://aws.amazon.com/ec2</a:t>
            </a:r>
            <a:endParaRPr lang="en-IN" dirty="0"/>
          </a:p>
          <a:p>
            <a:endParaRPr lang="en-IN" dirty="0"/>
          </a:p>
          <a:p>
            <a:r>
              <a:rPr lang="en-IN" dirty="0"/>
              <a:t>• Firebase Hosting Docs</a:t>
            </a:r>
            <a:br>
              <a:rPr lang="en-IN" dirty="0"/>
            </a:br>
            <a:r>
              <a:rPr lang="en-IN" dirty="0">
                <a:hlinkClick r:id="rId4"/>
              </a:rPr>
              <a:t>https://firebase.google.com</a:t>
            </a:r>
            <a:endParaRPr lang="en-IN" dirty="0"/>
          </a:p>
          <a:p>
            <a:endParaRPr lang="en-IN" dirty="0"/>
          </a:p>
          <a:p>
            <a:r>
              <a:rPr lang="en-IN" dirty="0"/>
              <a:t>• Netlify CDN Hosting</a:t>
            </a:r>
            <a:br>
              <a:rPr lang="en-IN" dirty="0"/>
            </a:br>
            <a:r>
              <a:rPr lang="en-IN" dirty="0">
                <a:hlinkClick r:id="rId5"/>
              </a:rPr>
              <a:t>https://netlify.com</a:t>
            </a:r>
            <a:endParaRPr lang="en-IN" dirty="0"/>
          </a:p>
          <a:p>
            <a:endParaRPr lang="en-IN" dirty="0"/>
          </a:p>
          <a:p>
            <a:r>
              <a:rPr lang="en-IN" dirty="0"/>
              <a:t>• NGINX Load Balancing Concepts</a:t>
            </a:r>
            <a:br>
              <a:rPr lang="en-IN" dirty="0"/>
            </a:br>
            <a:r>
              <a:rPr lang="en-IN" dirty="0">
                <a:hlinkClick r:id="rId6"/>
              </a:rPr>
              <a:t>https://nginx.org</a:t>
            </a:r>
            <a:endParaRPr lang="en-IN" dirty="0"/>
          </a:p>
          <a:p>
            <a:endParaRPr lang="en-IN" dirty="0"/>
          </a:p>
          <a:p>
            <a:r>
              <a:rPr lang="en-IN" dirty="0"/>
              <a:t>• Cloud Design Patterns – CNCF</a:t>
            </a:r>
            <a:br>
              <a:rPr lang="en-IN" dirty="0"/>
            </a:br>
            <a:r>
              <a:rPr lang="en-IN" dirty="0">
                <a:hlinkClick r:id="rId7"/>
              </a:rPr>
              <a:t>https://cncf.io</a:t>
            </a:r>
            <a:endParaRPr lang="en-IN" dirty="0"/>
          </a:p>
          <a:p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tushar.e18319@cumail.in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3389</TotalTime>
  <Words>1030</Words>
  <Application>Microsoft Office PowerPoint</Application>
  <PresentationFormat>On-screen Show (16:9)</PresentationFormat>
  <Paragraphs>277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Times New Roman</vt:lpstr>
      <vt:lpstr>Cambria</vt:lpstr>
      <vt:lpstr>Arial Black</vt:lpstr>
      <vt:lpstr>Calibri</vt:lpstr>
      <vt:lpstr>Arial</vt:lpstr>
      <vt:lpstr>Wingdings</vt:lpstr>
      <vt:lpstr>Vladimir Script</vt:lpstr>
      <vt:lpstr>Lato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Tushar Sood</dc:creator>
  <cp:lastModifiedBy>Pankaj</cp:lastModifiedBy>
  <cp:revision>110</cp:revision>
  <dcterms:modified xsi:type="dcterms:W3CDTF">2025-12-20T09:41:05Z</dcterms:modified>
</cp:coreProperties>
</file>